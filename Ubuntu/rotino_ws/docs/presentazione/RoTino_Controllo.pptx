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377ae0b4-0a52-b753-ff37-a4cf9fb38a1a}">
          <p14:sldIdLst>
            <p14:sldId id="256"/>
            <p14:sldId id="257"/>
          </p14:sldIdLst>
        </p14:section>
        <p14:section name="1 · Modellazione" id="{085ce732-8c8d-51d8-1aa5-e1fd1f7166f5}">
          <p14:sldIdLst>
            <p14:sldId id="258"/>
            <p14:sldId id="259"/>
            <p14:sldId id="260"/>
            <p14:sldId id="261"/>
            <p14:sldId id="262"/>
            <p14:sldId id="263"/>
            <p14:sldId id="264"/>
            <p14:sldId id="265"/>
            <p14:sldId id="266"/>
            <p14:sldId id="267"/>
            <p14:sldId id="268"/>
            <p14:sldId id="269"/>
            <p14:sldId id="270"/>
          </p14:sldIdLst>
        </p14:section>
        <p14:section name="2 · C-space e DoF" id="{6ef9b4d6-5ca1-8b62-3c76-9f9822a1b775}">
          <p14:sldIdLst>
            <p14:sldId id="271"/>
            <p14:sldId id="272"/>
            <p14:sldId id="273"/>
            <p14:sldId id="274"/>
            <p14:sldId id="275"/>
          </p14:sldIdLst>
        </p14:section>
        <p14:section name="3 · Controllo PID con ZMP" id="{fc12ba1d-0f91-016a-360e-bde3c1acc25d}">
          <p14:sldIdLst>
            <p14:sldId id="276"/>
            <p14:sldId id="277"/>
            <p14:sldId id="278"/>
            <p14:sldId id="279"/>
            <p14:sldId id="280"/>
            <p14:sldId id="281"/>
            <p14:sldId id="282"/>
            <p14:sldId id="283"/>
            <p14:sldId id="284"/>
          </p14:sldIdLst>
        </p14:section>
        <p14:section name="4 · MPC + TV-LQR" id="{a888c3c5-eab9-ac14-7dbd-61db932b7970}">
          <p14:sldIdLst>
            <p14:sldId id="285"/>
            <p14:sldId id="286"/>
            <p14:sldId id="287"/>
            <p14:sldId id="288"/>
            <p14:sldId id="289"/>
            <p14:sldId id="290"/>
            <p14:sldId id="291"/>
            <p14:sldId id="292"/>
          </p14:sldIdLst>
        </p14:section>
        <p14:section name="5 · Confronto" id="{69eb7dbd-3d04-2d61-6717-2a55099086bc}">
          <p14:sldIdLst>
            <p14:sldId id="293"/>
            <p14:sldId id="294"/>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Presentazione del progetto RoTino: un robot bipede su ruote da 4,29 kg simulato in Gazebo Fortress con ROS 2 Humble. Il percorso è in cinque parti: il modello dinamico, lo spazio delle configurazioni, le due leggi di controllo progettate (PID con lo ZMP e MPC con TV-LQR) e l'impostazione del confronto fra le 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cinque parti seguono l'ordine logico del progetto: prima il modello e le sue proprietà, poi la struttura dello spazio delle configurazioni, poi le due leggi di controllo e infine il confronto. Entrambe le leggi usano la stessa libreria di modello (rotino_description) e lo stesso URDF, e il confronto cambia solo il nodo del controllore.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modello segue la struttura di Matlab/SMC/init.m (Cui et al., 2022): quattro coordinate planari e Lagrangiana simbolica. I parametri però sono quelli di RoTino, letti dall'URDF: init.m usa quelli del robot del paper (torso da 60 kg). Il calcolo è rifatto in SymPy in docs/presentazione/modello_lagrangiano.py.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Tutti i parametri vengono dall'URDF tramite WBRModel: nessun valore è copiato a mano. Tre aspetti pesano sul controllo. Le ruote sono il 18 % della massa, ma la loro inerzia di rotolamento vale il 41 % del corpo superiore, quindi non si può trascurare. Il baricentro del torso è davanti all'anca, perciò in equilibrio il torso non è orizzontale. L'inerzia reale del corpo superiore è 1,8 volte più piccola di quella che assume il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ipotesi sono quelle di init.m, con due adattamenti. Il robot è ridotto al piano sagittale sommando le due gambe, e il baricentro del torso non è a metà di un'asta sopra l'anca ma nel punto reale dato da base e zavorra. Ciò che si trascura viene recuperato dai controllori: lo smorzamento dei giunti è compensato in feedforward, l'imbardata ha un anello separato.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coordinate sono le stesse di init.m: q1 assoluto dello stinco, che non ha motore proprio; qw rotazione della ruota legata all'avanzamento dal vincolo di rotolamento; q2 ginocchio relativo; q3 beccheggio assoluto del torso. Nella posa nominale di RoTino (giunti URDF a zero) lo stinco sale indietro a 135° e la coscia torna in avanti a 45°, così la ruota sta esattamente sotto l'anca. Il legame con le variabili dell'URDF è scritto in basso.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posizioni dei baricentri si scrivono a catena partendo dal centro ruota, che avanza di r per q_w. La sola differenza da init.m è l'ultima riga: il baricentro del torso è spostato di (a3, b3) nella terna del torso, perché in RoTino è 27,5 mm avanti e 5,5 mm sotto l'anca. L'energia cinetica somma traslazione e rotazione di ogni corpo, la potenziale è solo gravitazionale.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forma standard dei manipolatori: M q̈ + C q̇ + G = B τ. M è la Hessiana dell'energia cinetica rispetto alle velocità; C si costruisce con i simboli di Christoffel di prima specie, il che garantisce la proprietà di passività; G è il gradiente del potenziale. Tutto è calcolato in SymPy e verificato contro la forma diretta d/dt ∂L/∂q̇ − ∂L/∂q.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Raccogliendo i coefficienti la matrice diventa leggibile. k1 = 0,4380 e k2 = 0,3938 kg·m sono i momenti statici della catena sopra la ruota e sopra il ginocchio; ψ proietta il baricentro del torso. La forma compatta è verificata nello script contro quella estesa prodotta da SymPy. La riga e la colonna di q_w legano l'avanzamento alla postura: è questo accoppiamento inerziale che rende il sistema a fase non minima.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vettore C q̇ contiene termini centrifughi e di Coriolis, tutti quadratici nelle velocità. La coordinata q_w non compare né in M né in G: è ciclica, il che riflette l'omogeneità del suolo. Nota tecnica: in init.m la riga che calcola CdQ omette il termine −∂T/∂q dell'equazione di Lagrange. Il file calc_dynamics.m presente nella cartella è però corretto, quindi è stato generato da una versione diversa dello script: va allineato.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posa nominale M ha autovalori fra 0,007 e 0,148 kg·m², con un condizionamento intorno a 21. Il modello planare restituisce lo stesso baricentro del corpo superiore di WBRModel, la libreria usata dai controllori: S_C = 13,3 mm e Z_C = 162,2 mm. Il baricentro sta davanti all'asse: per stare in equilibrio il robot deve ruotare il torso indietro.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motore esercita una coppia uguale e opposta su due corpi, quindi la sua colonna di B è il gradiente dell'angolo relativo fra quei corpi. Un controllo semplice: un moto rigido di tutto il robot non deve produrre lavoro dei motori. La B costruita qui supera il test; quella di wbr_terms.m no, sulle colonne della ruota e dell'anca. È una correzione che conviene riportare nel modello MATLAB.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È lo schema di wbr_terms.m: si separa la coordinata passiva q1 dalle tre attive. Con il complemento di Schur si trova la mappa τ = D⁻¹(M̄ v + h̄) che impone le accelerazioni attive. Il sistema è non collocato perché i motori agiscono anche sulla riga passiva. Valori calcolati con la B corretta della slide precedente.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controllori non usano il modello a quattro coordinate ma il pendolo inverso su ruote a lunghezza variabile del paper (eq. 4-5). Il centroide equivalente si calcola con la stessa cinematica dell'URDF. Rispetto al modello completo si perde la dinamica della lunghezza, accettabile finché le gambe si muovono lentamente rispetto all'equilibrio: non durante la spinta del salto.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Linearizzando attorno a θ = 0 si ottengono le equazioni 13-14 del paper; i coefficienti dipendono dalla lunghezza l, quindi dalla postura. Il polo instabile è a circa 10 rad/s, cioè il robot cade in un decimo di secondo. Lo zero reale positivo dice che per andare avanti le ruote devono prima arretrare: nessun controllore causale lo evita. A regime, tenere il pendolo inclinato di θ produce un'accelerazione g_st θ: è il meccanismo su cui si reggono sia il PID sia l'MPC.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parte riprende docs/Analisi_DoF_Topologia.md e la collega al modello appena visto: il robot libero ha 12 gradi di libertà, il modello planare 4, il pendolo sagittale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conta il robot prima di imporre il contatto con il suolo. Il torso è una base flottante con sei gradi di libertà, a cui si sommano i sei giunti: due anche, due ginocchia, due ruote. Il vettore delle coordinate generalizzate ha dodici componenti.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topologia dice di che forma è lo spazio delle configurazioni. Il torso vive in SE(3); i giunti limitati sono intervalli, quindi equivalgono a ℝ; le ruote, che girano all'infinito, sono circonferenze. Il prodotto è SE(3) per ℝ⁴ per il toro T². Due spazi con dodici dimensioni non sono per forza equivalenti.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le ruote toccano il suolo compaiono due tipi di vincoli. Quelli olonomi fissano la quota e riducono le coordinate; quelli anolonomi, in forma Pfaffiana, vietano lo slittamento laterale ma lasciano raggiungibili tutte le pose. Le reazioni entrano nella dinamica tramite i moltiplicatori di Lagrange λ. Il teorema di Brockett spiega perché la guida planare è fatta come inseguimento di traiettoria.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sottoattuazione è una proprietà del modello che si usa. Il robot libero ha sei motori per dodici coordinate; il modello planare tre motori per quattro coordinate; il pendolo sagittale un solo ingresso per due coordinate. Ne segue che la traslazione si comanda indirettamente, tramite l'inclinazione: il PID la sceglie con lo ZMP, l'MPC con lo spostamento Δs del baricentro.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controllore nasce dal porting di un controllore MuJoCo ed è stato riprogettato attorno allo Zero Moment Point. La legge di controllo è in rotino_pid/zmp_balance.py, pura numpy e testata offline; il nodo ROS è controller.py.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modello carrello-tavolo il baricentro accelera in proporzione alla sua distanza dallo ZMP. Su un robot a due ruote lo ZMP longitudinale non può muoversi dentro un piede: sta sotto l'asse, e sono le ruote a spostarlo. Quindi lo ZMP è l'ingresso naturale. Il Capture Point è la componente divergente del moto: se lo ZMP ci si mette sopra, il robot si ferma.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anelli. A: equilibrio e avanzamento con lo ZMP, sul modo comune delle ruote. B e C: rotta e guida laterale, sul modo differenziale. D: gambe in spazio cartesiano, con il supervisore del salto che cambia i riferimenti. Le coppie comune e differenziale si combinano nelle due ruote con priorità al modo comune.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L'anello esterno impone una dinamica del Capture Point con un PI e ne ricava l'offset desiderato fra CoM e ZMP, saturato a 59 mm. L'anello interno è un PD sull'offset che produce la coppia di modo comune. Il feedforward viene dal modello linearizzato: 21,8 mm di offset per ogni m/s² di accelerazione, più la coppia corrispondente.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pendolo inverso non può seguire un gradino di accelerazione senza prima inclinarsi. L'anteprima LIPM calcola il CoM di riferimento filtrando il percorso pianificato con il nucleo e alla meno omega per modulo di u: il risultato anticipa il moto. Nel grafico lo ZMP desiderato e quello effettivo si spostano dietro il CoM circa 0,2 s prima della partenza.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guadagni non sono tarati a mano in Gazebo ma scelti sul modello linearizzato e discretizzato, con posizionamento robusto dei poli su dieci varianti. L'autorità ridotta ρ è la chiave: con autorità piena la cascata diventa instabile per guadagni interni alti. Il residuo lo recupera l'integrale. I sedici test in test_zmp_balance.py lo verificano sul modello lineare.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rotta usa un PID con feedforward d'attrito sul riferimento, quindi senza chattering. La guida laterale corregge la rotta in base all'errore laterale, ma solo in movimento, perché un veicolo differenziale non annulla l'errore laterale da fermo. Le gambe usano un PD sulla posizione della ruota rispetto all'anca, convertito in coppie con la trasposta del Jacobiano: in spazio giunti equivale a circa 50 N·m/rad e ha eliminato il ciclo limite.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salto è una macchina a sette stati. I riferimenti di giunto vengono dal controllore MuJoCo originale e sono convertiti in posizioni cartesiane della ruota. Il decollo richiede quattro condizioni insieme per non scambiare un rimbalzo per un volo. Durante le fasi di salto l'anello del Capture Point ha autorità ridotta e l'integrale è fermo.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Valutazione personale. Il PID funziona bene dove il riferimento è noto in anticipo, grazie all'anteprima. I limiti sono due di metodo e due di implementazione. Di metodo: lo stato viene dalla ground truth e ρ è fisso. Di implementazione: l'anti-windup non tiene conto della riduzione del limite di coppia in curva, e la telemetria pubblica z_ref uguale a z. La compensazione laterale richiederebbe una ruota bombata nell'URDF.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controllore implementa l'architettura del paper: si disaccoppia il robot in due modelli semplici e si dà a ciascuno il controllore più adatto. Codice in rotino_mpc/controller.py e solvers.py.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paper si colloca fra il pendolo inverso puro, semplice ma che ignora il torso, e il whole-body control, completo ma costoso. Disaccoppia l'equilibrio, veloce e instabile, dal posizionamento del corpo superiore, più lento ma vincolato. Il primo va all'LQR a 500 Hz, il secondo all'MPC a 100 Hz, e il VMC traduce in coppie di giunto.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funzionale quadratico si minimizza risolvendo l'equazione algebrica di Riccati. La lettura alla Bryson dei pesi: uno su radice di q è lo scostamento che costa un'unità. L'inclinazione pesa molto più della posizione. R è scritta su modo comune e differenziale: il differenziale costa cinquanta volte di più per non eccitare una risonanza torsionale delle gambe scoperta in simulazione.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guadagno su s coincide con la radice del rapporto fra i pesi, come in un doppio integratore. La tabella mostra che lungo l'altezza i poli lenti e quello di inclinazione cambiano poco: è lo scopo dello scheduling. Il polo veloce a −180 rad/s sta oltre la banda del filtro su θ̇, quindi nel sistema reale è il filtro a determinarlo.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L'MPC predice il baricentro con due doppi integratori indipendenti, ottenuti congelando il coefficiente (g + z̈)/h sull'orizzonte. Ingressi: lo spostamento Δs del CoM rispetto al contatto e la forza verticale F_z. La QP condensata ha solo vincoli di box, quindi basta un gradiente proiettato accelerato. Rispetto al paper la discretizzazione è esatta invece che di Eulero e le QP sono due, disaccoppiate.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vincolo d'attrito del paper, μ per h, vale 36 cm: con μ = 2,2 permetterebbe 65° di inclinazione. Il vincolo che conta è il tetto fisso di 3 cm, aggiunto nell'implementazione, che limita θ_ref a circa 10°. L'LQR non insegue il riferimento grezzo ma il piano dell'MPC, quindi il suo riferimento è già compatibile con i limiti fisici.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VMC tratta ogni gamba come una molla-smorzatore virtuale fra anca e ruota, più metà della forza verticale pianificata. In verticale non c'è molla perché la quota la decide l'MPC. Lo stato arriva da IMU ed encoder, fusi da tre filtri di Kalman scalari: l'IMU domina sulle alte frequenze, l'odometria sulle basse.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Valutazione personale. Il punto di forza è la gestione esplicita dei vincoli e del futuro. Il limite principale è l'assenza di azione integrale sul piano sagittale: un disturbo persistente lascia un errore. Il modello di predizione, un punto materiale, non contiene il beccheggio, che resta tutto all'LQR. Gli spunti indicano come chiudere questi limiti senza cambiare l'architettura.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Metodo: robot.launch.py avvia simulazione, robot e scenario, e riceve dal pacchetto di controllo solo il nome dell'eseguibile. Il confronto si rigenera con ros2 run rotino_benchmark suite. In questa sezione ci sono la sintesi delle architetture e la struttura delle slide con i grafici, da completare.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Sintesi della sezione 5 di Tecniche_di_controllo.md. Le differenze principali: il PID lavora sullo ZMP con un'azione integrale e lo stato ideale, l'MPC lavora con vincoli espliciti e uno stato stimato. Nel leggere i grafici va ricordato che le condizioni di stima non sono le stesse.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di struttura: inserire i grafici indicati da benchmark_runs/suite_pid_mpc e scrivere il messaggio chiave. Nei grafici del benchmark il PID è disegnato in rosso e l'MPC in blu; la legenda della slide segue la palette della presentazione (PID rosso, MPC ottanio).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di struttura: inserire i grafici indicati da benchmark_runs/suite_pid_mpc e scrivere il messaggio chiave. Nei grafici del benchmark il PID è disegnato in rosso e l'MPC in blu; la legenda della slide segue la palette della presentazione (PID rosso, MPC ottanio).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di struttura: inserire i grafici indicati da benchmark_runs/suite_pid_mpc e scrivere il messaggio chiave. Nei grafici del benchmark il PID è disegnato in rosso e l'MPC in blu; la legenda della slide segue la palette della presentazione (PID rosso, MPC ottanio).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di struttura: inserire i grafici indicati da benchmark_runs/suite_pid_mpc e scrivere il messaggio chiave. Nei grafici del benchmark il PID è disegnato in rosso e l'MPC in blu; la legenda della slide segue la palette della presentazione (PID rosso, MPC ottanio).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7665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49040"/>
            <a:ext cx="676656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834640" y="2057400"/>
            <a:ext cx="859536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2834640" y="3291840"/>
            <a:ext cx="8229600" cy="16459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RoTino · modellazione e controllo</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4.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766560" cy="1737360"/>
          </a:xfrm>
          <a:prstGeom prst="rect">
            <a:avLst/>
          </a:prstGeom>
          <a:noFill/>
          <a:ln/>
        </p:spPr>
        <p:txBody>
          <a:bodyPr wrap="square" lIns="0" tIns="0" rIns="0" bIns="0" rtlCol="0" anchor="b"/>
          <a:lstStyle/>
          <a:p>
            <a:pPr algn="l" indent="0" marL="0">
              <a:buNone/>
            </a:pPr>
            <a:r>
              <a:rPr lang="en-US" sz="4000" b="1" dirty="0">
                <a:solidFill>
                  <a:schemeClr val="bg1"/>
                </a:solidFill>
              </a:rPr>
              <a:t>RoTino: modellazione e controllo di un robot bipede su ruote</a:t>
            </a:r>
            <a:endParaRPr lang="en-US" sz="4000" dirty="0"/>
          </a:p>
        </p:txBody>
      </p:sp>
      <p:sp>
        <p:nvSpPr>
          <p:cNvPr id="3" name="Text 0"/>
          <p:cNvSpPr/>
          <p:nvPr>
            <p:ph idx="101" type="body" hasCustomPrompt="1"/>
          </p:nvPr>
        </p:nvSpPr>
        <p:spPr>
          <a:xfrm>
            <a:off x="731520" y="3749040"/>
            <a:ext cx="6766560" cy="1097280"/>
          </a:xfrm>
          <a:prstGeom prst="rect">
            <a:avLst/>
          </a:prstGeom>
          <a:noFill/>
          <a:ln/>
        </p:spPr>
        <p:txBody>
          <a:bodyPr wrap="square" lIns="0" tIns="0" rIns="0" bIns="0" rtlCol="0" anchor="t"/>
          <a:lstStyle/>
          <a:p>
            <a:pPr algn="l" indent="0" marL="0">
              <a:buNone/>
            </a:pPr>
            <a:r>
              <a:rPr lang="en-US" sz="1800" dirty="0">
                <a:solidFill>
                  <a:schemeClr val="bg2"/>
                </a:solidFill>
              </a:rPr>
              <a:t>Dinamica di Eulero-Lagrange, spazio delle configurazioni, PID con lo ZMP e MPC + TV-LQR</a:t>
            </a:r>
            <a:endParaRPr lang="en-US" sz="1800" dirty="0"/>
          </a:p>
        </p:txBody>
      </p:sp>
      <p:sp>
        <p:nvSpPr>
          <p:cNvPr id="4" name="Text 2"/>
          <p:cNvSpPr txBox="1"/>
          <p:nvPr/>
        </p:nvSpPr>
        <p:spPr>
          <a:xfrm>
            <a:off x="731520" y="5852160"/>
            <a:ext cx="6766560" cy="365760"/>
          </a:xfrm>
          <a:prstGeom prst="rect">
            <a:avLst/>
          </a:prstGeom>
          <a:noFill/>
          <a:ln/>
        </p:spPr>
        <p:txBody>
          <a:bodyPr wrap="square" lIns="0" tIns="0" rIns="0" bIns="0" rtlCol="0" anchor="t"/>
          <a:lstStyle/>
          <a:p>
            <a:pPr algn="l" indent="0" marL="0">
              <a:buNone/>
            </a:pPr>
            <a:r>
              <a:rPr lang="en-US" sz="1400" dirty="0">
                <a:solidFill>
                  <a:schemeClr val="bg2"/>
                </a:solidFill>
              </a:rPr>
              <a:t>Alessando Prisco · Progetto FSR · ottobre 2026</a:t>
            </a:r>
            <a:endParaRPr lang="en-US" sz="1400" dirty="0"/>
          </a:p>
        </p:txBody>
      </p:sp>
      <p:sp>
        <p:nvSpPr>
          <p:cNvPr id="5" name="Shape 3"/>
          <p:cNvSpPr/>
          <p:nvPr/>
        </p:nvSpPr>
        <p:spPr>
          <a:xfrm>
            <a:off x="7245706" y="5788152"/>
            <a:ext cx="4740250" cy="91"/>
          </a:xfrm>
          <a:prstGeom prst="line">
            <a:avLst/>
          </a:prstGeom>
          <a:noFill/>
          <a:ln w="19050">
            <a:solidFill>
              <a:schemeClr val="bg2"/>
            </a:solidFill>
            <a:prstDash val="solid"/>
          </a:ln>
        </p:spPr>
      </p:sp>
      <p:sp>
        <p:nvSpPr>
          <p:cNvPr id="6" name="Shape 4"/>
          <p:cNvSpPr/>
          <p:nvPr/>
        </p:nvSpPr>
        <p:spPr>
          <a:xfrm>
            <a:off x="8595360" y="870143"/>
            <a:ext cx="2468880" cy="1810512"/>
          </a:xfrm>
          <a:prstGeom prst="roundRect">
            <a:avLst>
              <a:gd name="adj" fmla="val 3030"/>
            </a:avLst>
          </a:prstGeom>
          <a:solidFill>
            <a:schemeClr val="accent5"/>
          </a:solidFill>
          <a:ln w="12700">
            <a:solidFill>
              <a:schemeClr val="accent5"/>
            </a:solidFill>
            <a:prstDash val="solid"/>
          </a:ln>
        </p:spPr>
      </p:sp>
      <p:sp>
        <p:nvSpPr>
          <p:cNvPr id="7" name="Shape 5"/>
          <p:cNvSpPr/>
          <p:nvPr/>
        </p:nvSpPr>
        <p:spPr>
          <a:xfrm>
            <a:off x="9582912" y="2219797"/>
            <a:ext cx="1152144" cy="592531"/>
          </a:xfrm>
          <a:prstGeom prst="rect">
            <a:avLst/>
          </a:prstGeom>
          <a:solidFill>
            <a:schemeClr val="bg2"/>
          </a:solidFill>
          <a:ln w="12700">
            <a:solidFill>
              <a:schemeClr val="bg2"/>
            </a:solidFill>
            <a:prstDash val="solid"/>
          </a:ln>
        </p:spPr>
      </p:sp>
      <p:sp>
        <p:nvSpPr>
          <p:cNvPr id="8" name="Shape 6"/>
          <p:cNvSpPr/>
          <p:nvPr/>
        </p:nvSpPr>
        <p:spPr>
          <a:xfrm>
            <a:off x="7905720" y="3288000"/>
            <a:ext cx="1512600" cy="1512600"/>
          </a:xfrm>
          <a:prstGeom prst="line">
            <a:avLst/>
          </a:prstGeom>
          <a:noFill/>
          <a:ln w="114300">
            <a:solidFill>
              <a:schemeClr val="accent1"/>
            </a:solidFill>
            <a:prstDash val="solid"/>
          </a:ln>
        </p:spPr>
      </p:sp>
      <p:sp>
        <p:nvSpPr>
          <p:cNvPr id="9" name="Shape 7"/>
          <p:cNvSpPr/>
          <p:nvPr/>
        </p:nvSpPr>
        <p:spPr>
          <a:xfrm flipV="1">
            <a:off x="7905720" y="1775399"/>
            <a:ext cx="1512600" cy="1512600"/>
          </a:xfrm>
          <a:prstGeom prst="line">
            <a:avLst/>
          </a:prstGeom>
          <a:noFill/>
          <a:ln w="114300">
            <a:solidFill>
              <a:schemeClr val="accent1"/>
            </a:solidFill>
            <a:prstDash val="solid"/>
          </a:ln>
        </p:spPr>
      </p:sp>
      <p:sp>
        <p:nvSpPr>
          <p:cNvPr id="10" name="Shape 8"/>
          <p:cNvSpPr/>
          <p:nvPr/>
        </p:nvSpPr>
        <p:spPr>
          <a:xfrm>
            <a:off x="8430768" y="3813048"/>
            <a:ext cx="1975104" cy="1975104"/>
          </a:xfrm>
          <a:prstGeom prst="ellipse">
            <a:avLst/>
          </a:prstGeom>
          <a:solidFill>
            <a:schemeClr val="tx1"/>
          </a:solidFill>
          <a:ln w="12700">
            <a:solidFill>
              <a:schemeClr val="tx1"/>
            </a:solidFill>
            <a:prstDash val="solid"/>
          </a:ln>
        </p:spPr>
      </p:sp>
      <p:sp>
        <p:nvSpPr>
          <p:cNvPr id="11" name="Shape 9"/>
          <p:cNvSpPr/>
          <p:nvPr/>
        </p:nvSpPr>
        <p:spPr>
          <a:xfrm>
            <a:off x="9006840" y="4389120"/>
            <a:ext cx="822960" cy="822960"/>
          </a:xfrm>
          <a:prstGeom prst="ellipse">
            <a:avLst/>
          </a:prstGeom>
          <a:solidFill>
            <a:schemeClr val="accent2"/>
          </a:solidFill>
          <a:ln w="12700">
            <a:solidFill>
              <a:schemeClr val="accent2"/>
            </a:solidFill>
            <a:prstDash val="solid"/>
          </a:ln>
        </p:spPr>
      </p:sp>
      <p:sp>
        <p:nvSpPr>
          <p:cNvPr id="12" name="Shape 10"/>
          <p:cNvSpPr/>
          <p:nvPr/>
        </p:nvSpPr>
        <p:spPr>
          <a:xfrm>
            <a:off x="7708209" y="3090489"/>
            <a:ext cx="395021" cy="395021"/>
          </a:xfrm>
          <a:prstGeom prst="ellipse">
            <a:avLst/>
          </a:prstGeom>
          <a:solidFill>
            <a:schemeClr val="bg1"/>
          </a:solidFill>
          <a:ln w="15875">
            <a:solidFill>
              <a:schemeClr val="bg2"/>
            </a:solidFill>
            <a:prstDash val="solid"/>
          </a:ln>
        </p:spPr>
      </p:sp>
      <p:sp>
        <p:nvSpPr>
          <p:cNvPr id="13" name="Shape 11"/>
          <p:cNvSpPr/>
          <p:nvPr/>
        </p:nvSpPr>
        <p:spPr>
          <a:xfrm>
            <a:off x="9220810" y="1577889"/>
            <a:ext cx="395021" cy="395021"/>
          </a:xfrm>
          <a:prstGeom prst="ellipse">
            <a:avLst/>
          </a:prstGeom>
          <a:solidFill>
            <a:schemeClr val="bg1"/>
          </a:solidFill>
          <a:ln w="15875">
            <a:solidFill>
              <a:schemeClr val="bg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Il percorso</a:t>
            </a:r>
            <a:endParaRPr lang="en-US" sz="3000" dirty="0"/>
          </a:p>
        </p:txBody>
      </p:sp>
      <p:sp>
        <p:nvSpPr>
          <p:cNvPr id="3" name="Shape 1"/>
          <p:cNvSpPr/>
          <p:nvPr/>
        </p:nvSpPr>
        <p:spPr>
          <a:xfrm>
            <a:off x="1234440" y="2514600"/>
            <a:ext cx="8851392" cy="91"/>
          </a:xfrm>
          <a:prstGeom prst="line">
            <a:avLst/>
          </a:prstGeom>
          <a:noFill/>
          <a:ln w="25400">
            <a:solidFill>
              <a:schemeClr val="accent5"/>
            </a:solidFill>
            <a:prstDash val="solid"/>
          </a:ln>
        </p:spPr>
      </p:sp>
      <p:sp>
        <p:nvSpPr>
          <p:cNvPr id="4" name="Shape 2"/>
          <p:cNvSpPr/>
          <p:nvPr/>
        </p:nvSpPr>
        <p:spPr>
          <a:xfrm>
            <a:off x="822960" y="2103120"/>
            <a:ext cx="822960" cy="822960"/>
          </a:xfrm>
          <a:prstGeom prst="ellipse">
            <a:avLst/>
          </a:prstGeom>
          <a:solidFill>
            <a:schemeClr val="accent4"/>
          </a:solidFill>
          <a:ln w="12700">
            <a:solidFill>
              <a:schemeClr val="accent4"/>
            </a:solidFill>
            <a:prstDash val="solid"/>
          </a:ln>
        </p:spPr>
      </p:sp>
      <p:sp>
        <p:nvSpPr>
          <p:cNvPr id="5" name="Text 3"/>
          <p:cNvSpPr txBox="1"/>
          <p:nvPr/>
        </p:nvSpPr>
        <p:spPr>
          <a:xfrm>
            <a:off x="822960" y="21031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6" name="Text 4"/>
          <p:cNvSpPr txBox="1"/>
          <p:nvPr/>
        </p:nvSpPr>
        <p:spPr>
          <a:xfrm>
            <a:off x="731520" y="3154680"/>
            <a:ext cx="2011680" cy="411480"/>
          </a:xfrm>
          <a:prstGeom prst="rect">
            <a:avLst/>
          </a:prstGeom>
          <a:noFill/>
          <a:ln/>
        </p:spPr>
        <p:txBody>
          <a:bodyPr wrap="square" lIns="0" tIns="0" rIns="0" bIns="0" rtlCol="0" anchor="t"/>
          <a:lstStyle/>
          <a:p>
            <a:pPr algn="l" indent="0" marL="0">
              <a:buNone/>
            </a:pPr>
            <a:r>
              <a:rPr lang="en-US" sz="1700" b="1" dirty="0">
                <a:solidFill>
                  <a:schemeClr val="tx2"/>
                </a:solidFill>
              </a:rPr>
              <a:t>Modellazione</a:t>
            </a:r>
            <a:endParaRPr lang="en-US" sz="1700" dirty="0"/>
          </a:p>
        </p:txBody>
      </p:sp>
      <p:sp>
        <p:nvSpPr>
          <p:cNvPr id="7" name="Text 5"/>
          <p:cNvSpPr txBox="1"/>
          <p:nvPr/>
        </p:nvSpPr>
        <p:spPr>
          <a:xfrm>
            <a:off x="731520" y="3611880"/>
            <a:ext cx="1965960" cy="1463040"/>
          </a:xfrm>
          <a:prstGeom prst="rect">
            <a:avLst/>
          </a:prstGeom>
          <a:noFill/>
          <a:ln/>
        </p:spPr>
        <p:txBody>
          <a:bodyPr wrap="square" lIns="0" tIns="0" rIns="0" bIns="0" rtlCol="0" anchor="t"/>
          <a:lstStyle/>
          <a:p>
            <a:pPr algn="l" indent="0" marL="0">
              <a:buNone/>
            </a:pPr>
            <a:r>
              <a:rPr lang="en-US" sz="1300" dirty="0">
                <a:solidFill>
                  <a:schemeClr val="accent4"/>
                </a:solidFill>
              </a:rPr>
              <a:t>Ipotesi, coordinate, Eulero-Lagrange, matrici M, C, G, B e riduzione al VL-WIP</a:t>
            </a:r>
            <a:endParaRPr lang="en-US" sz="1300" dirty="0"/>
          </a:p>
        </p:txBody>
      </p:sp>
      <p:sp>
        <p:nvSpPr>
          <p:cNvPr id="8" name="Shape 6"/>
          <p:cNvSpPr/>
          <p:nvPr/>
        </p:nvSpPr>
        <p:spPr>
          <a:xfrm>
            <a:off x="3035808" y="2103120"/>
            <a:ext cx="822960" cy="822960"/>
          </a:xfrm>
          <a:prstGeom prst="ellipse">
            <a:avLst/>
          </a:prstGeom>
          <a:solidFill>
            <a:schemeClr val="accent3"/>
          </a:solidFill>
          <a:ln w="12700">
            <a:solidFill>
              <a:schemeClr val="accent3"/>
            </a:solidFill>
            <a:prstDash val="solid"/>
          </a:ln>
        </p:spPr>
      </p:sp>
      <p:sp>
        <p:nvSpPr>
          <p:cNvPr id="9" name="Text 7"/>
          <p:cNvSpPr txBox="1"/>
          <p:nvPr/>
        </p:nvSpPr>
        <p:spPr>
          <a:xfrm>
            <a:off x="3035808" y="21031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0" name="Text 8"/>
          <p:cNvSpPr txBox="1"/>
          <p:nvPr/>
        </p:nvSpPr>
        <p:spPr>
          <a:xfrm>
            <a:off x="2944368" y="3154680"/>
            <a:ext cx="2011680" cy="411480"/>
          </a:xfrm>
          <a:prstGeom prst="rect">
            <a:avLst/>
          </a:prstGeom>
          <a:noFill/>
          <a:ln/>
        </p:spPr>
        <p:txBody>
          <a:bodyPr wrap="square" lIns="0" tIns="0" rIns="0" bIns="0" rtlCol="0" anchor="t"/>
          <a:lstStyle/>
          <a:p>
            <a:pPr algn="l" indent="0" marL="0">
              <a:buNone/>
            </a:pPr>
            <a:r>
              <a:rPr lang="en-US" sz="1700" b="1" dirty="0">
                <a:solidFill>
                  <a:schemeClr val="tx2"/>
                </a:solidFill>
              </a:rPr>
              <a:t>C-space e DoF</a:t>
            </a:r>
            <a:endParaRPr lang="en-US" sz="1700" dirty="0"/>
          </a:p>
        </p:txBody>
      </p:sp>
      <p:sp>
        <p:nvSpPr>
          <p:cNvPr id="11" name="Text 9"/>
          <p:cNvSpPr txBox="1"/>
          <p:nvPr/>
        </p:nvSpPr>
        <p:spPr>
          <a:xfrm>
            <a:off x="2944368" y="3611880"/>
            <a:ext cx="1965960" cy="1463040"/>
          </a:xfrm>
          <a:prstGeom prst="rect">
            <a:avLst/>
          </a:prstGeom>
          <a:noFill/>
          <a:ln/>
        </p:spPr>
        <p:txBody>
          <a:bodyPr wrap="square" lIns="0" tIns="0" rIns="0" bIns="0" rtlCol="0" anchor="t"/>
          <a:lstStyle/>
          <a:p>
            <a:pPr algn="l" indent="0" marL="0">
              <a:buNone/>
            </a:pPr>
            <a:r>
              <a:rPr lang="en-US" sz="1300" dirty="0">
                <a:solidFill>
                  <a:schemeClr val="accent4"/>
                </a:solidFill>
              </a:rPr>
              <a:t>Gradi di libertà, topologia, vincoli olonomi e anolonomi, sottoattuazione</a:t>
            </a:r>
            <a:endParaRPr lang="en-US" sz="1300" dirty="0"/>
          </a:p>
        </p:txBody>
      </p:sp>
      <p:sp>
        <p:nvSpPr>
          <p:cNvPr id="12" name="Shape 10"/>
          <p:cNvSpPr/>
          <p:nvPr/>
        </p:nvSpPr>
        <p:spPr>
          <a:xfrm>
            <a:off x="5248656" y="2103120"/>
            <a:ext cx="822960" cy="822960"/>
          </a:xfrm>
          <a:prstGeom prst="ellipse">
            <a:avLst/>
          </a:prstGeom>
          <a:solidFill>
            <a:schemeClr val="accent1"/>
          </a:solidFill>
          <a:ln w="12700">
            <a:solidFill>
              <a:schemeClr val="accent1"/>
            </a:solidFill>
            <a:prstDash val="solid"/>
          </a:ln>
        </p:spPr>
      </p:sp>
      <p:sp>
        <p:nvSpPr>
          <p:cNvPr id="13" name="Text 11"/>
          <p:cNvSpPr txBox="1"/>
          <p:nvPr/>
        </p:nvSpPr>
        <p:spPr>
          <a:xfrm>
            <a:off x="5248656" y="21031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4" name="Text 12"/>
          <p:cNvSpPr txBox="1"/>
          <p:nvPr/>
        </p:nvSpPr>
        <p:spPr>
          <a:xfrm>
            <a:off x="5157216" y="3154680"/>
            <a:ext cx="2011680" cy="411480"/>
          </a:xfrm>
          <a:prstGeom prst="rect">
            <a:avLst/>
          </a:prstGeom>
          <a:noFill/>
          <a:ln/>
        </p:spPr>
        <p:txBody>
          <a:bodyPr wrap="square" lIns="0" tIns="0" rIns="0" bIns="0" rtlCol="0" anchor="t"/>
          <a:lstStyle/>
          <a:p>
            <a:pPr algn="l" indent="0" marL="0">
              <a:buNone/>
            </a:pPr>
            <a:r>
              <a:rPr lang="en-US" sz="1700" b="1" dirty="0">
                <a:solidFill>
                  <a:schemeClr val="tx2"/>
                </a:solidFill>
              </a:rPr>
              <a:t>PID con lo ZMP</a:t>
            </a:r>
            <a:endParaRPr lang="en-US" sz="1700" dirty="0"/>
          </a:p>
        </p:txBody>
      </p:sp>
      <p:sp>
        <p:nvSpPr>
          <p:cNvPr id="15" name="Text 13"/>
          <p:cNvSpPr txBox="1"/>
          <p:nvPr/>
        </p:nvSpPr>
        <p:spPr>
          <a:xfrm>
            <a:off x="5157216" y="3611880"/>
            <a:ext cx="1965960" cy="1463040"/>
          </a:xfrm>
          <a:prstGeom prst="rect">
            <a:avLst/>
          </a:prstGeom>
          <a:noFill/>
          <a:ln/>
        </p:spPr>
        <p:txBody>
          <a:bodyPr wrap="square" lIns="0" tIns="0" rIns="0" bIns="0" rtlCol="0" anchor="t"/>
          <a:lstStyle/>
          <a:p>
            <a:pPr algn="l" indent="0" marL="0">
              <a:buNone/>
            </a:pPr>
            <a:r>
              <a:rPr lang="en-US" sz="1300" dirty="0">
                <a:solidFill>
                  <a:schemeClr val="accent4"/>
                </a:solidFill>
              </a:rPr>
              <a:t>Capture Point, ZMP come ingresso, anteprima LIPM, gambe e salto</a:t>
            </a:r>
            <a:endParaRPr lang="en-US" sz="1300" dirty="0"/>
          </a:p>
        </p:txBody>
      </p:sp>
      <p:sp>
        <p:nvSpPr>
          <p:cNvPr id="16" name="Shape 14"/>
          <p:cNvSpPr/>
          <p:nvPr/>
        </p:nvSpPr>
        <p:spPr>
          <a:xfrm>
            <a:off x="7461504" y="2103120"/>
            <a:ext cx="822960" cy="822960"/>
          </a:xfrm>
          <a:prstGeom prst="ellipse">
            <a:avLst/>
          </a:prstGeom>
          <a:solidFill>
            <a:schemeClr val="accent2"/>
          </a:solidFill>
          <a:ln w="12700">
            <a:solidFill>
              <a:schemeClr val="accent2"/>
            </a:solidFill>
            <a:prstDash val="solid"/>
          </a:ln>
        </p:spPr>
      </p:sp>
      <p:sp>
        <p:nvSpPr>
          <p:cNvPr id="17" name="Text 15"/>
          <p:cNvSpPr txBox="1"/>
          <p:nvPr/>
        </p:nvSpPr>
        <p:spPr>
          <a:xfrm>
            <a:off x="7461504" y="21031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18" name="Text 16"/>
          <p:cNvSpPr txBox="1"/>
          <p:nvPr/>
        </p:nvSpPr>
        <p:spPr>
          <a:xfrm>
            <a:off x="7370064" y="3154680"/>
            <a:ext cx="2011680" cy="411480"/>
          </a:xfrm>
          <a:prstGeom prst="rect">
            <a:avLst/>
          </a:prstGeom>
          <a:noFill/>
          <a:ln/>
        </p:spPr>
        <p:txBody>
          <a:bodyPr wrap="square" lIns="0" tIns="0" rIns="0" bIns="0" rtlCol="0" anchor="t"/>
          <a:lstStyle/>
          <a:p>
            <a:pPr algn="l" indent="0" marL="0">
              <a:buNone/>
            </a:pPr>
            <a:r>
              <a:rPr lang="en-US" sz="1700" b="1" dirty="0">
                <a:solidFill>
                  <a:schemeClr val="tx2"/>
                </a:solidFill>
              </a:rPr>
              <a:t>MPC + TV-LQR</a:t>
            </a:r>
            <a:endParaRPr lang="en-US" sz="1700" dirty="0"/>
          </a:p>
        </p:txBody>
      </p:sp>
      <p:sp>
        <p:nvSpPr>
          <p:cNvPr id="19" name="Text 17"/>
          <p:cNvSpPr txBox="1"/>
          <p:nvPr/>
        </p:nvSpPr>
        <p:spPr>
          <a:xfrm>
            <a:off x="7370064" y="3611880"/>
            <a:ext cx="1965960" cy="1463040"/>
          </a:xfrm>
          <a:prstGeom prst="rect">
            <a:avLst/>
          </a:prstGeom>
          <a:noFill/>
          <a:ln/>
        </p:spPr>
        <p:txBody>
          <a:bodyPr wrap="square" lIns="0" tIns="0" rIns="0" bIns="0" rtlCol="0" anchor="t"/>
          <a:lstStyle/>
          <a:p>
            <a:pPr algn="l" indent="0" marL="0">
              <a:buNone/>
            </a:pPr>
            <a:r>
              <a:rPr lang="en-US" sz="1300" dirty="0">
                <a:solidFill>
                  <a:schemeClr val="accent4"/>
                </a:solidFill>
              </a:rPr>
              <a:t>LQR schedulato, MPC del corpo superiore, VMC e stima dello stato</a:t>
            </a:r>
            <a:endParaRPr lang="en-US" sz="1300" dirty="0"/>
          </a:p>
        </p:txBody>
      </p:sp>
      <p:sp>
        <p:nvSpPr>
          <p:cNvPr id="20" name="Shape 18"/>
          <p:cNvSpPr/>
          <p:nvPr/>
        </p:nvSpPr>
        <p:spPr>
          <a:xfrm>
            <a:off x="9674352" y="2103120"/>
            <a:ext cx="822960" cy="822960"/>
          </a:xfrm>
          <a:prstGeom prst="ellipse">
            <a:avLst/>
          </a:prstGeom>
          <a:solidFill>
            <a:schemeClr val="tx2"/>
          </a:solidFill>
          <a:ln w="12700">
            <a:solidFill>
              <a:schemeClr val="tx2"/>
            </a:solidFill>
            <a:prstDash val="solid"/>
          </a:ln>
        </p:spPr>
      </p:sp>
      <p:sp>
        <p:nvSpPr>
          <p:cNvPr id="21" name="Text 19"/>
          <p:cNvSpPr txBox="1"/>
          <p:nvPr/>
        </p:nvSpPr>
        <p:spPr>
          <a:xfrm>
            <a:off x="9674352" y="21031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5</a:t>
            </a:r>
            <a:endParaRPr lang="en-US" sz="2800" dirty="0"/>
          </a:p>
        </p:txBody>
      </p:sp>
      <p:sp>
        <p:nvSpPr>
          <p:cNvPr id="22" name="Text 20"/>
          <p:cNvSpPr txBox="1"/>
          <p:nvPr/>
        </p:nvSpPr>
        <p:spPr>
          <a:xfrm>
            <a:off x="9582912" y="3154680"/>
            <a:ext cx="2011680" cy="411480"/>
          </a:xfrm>
          <a:prstGeom prst="rect">
            <a:avLst/>
          </a:prstGeom>
          <a:noFill/>
          <a:ln/>
        </p:spPr>
        <p:txBody>
          <a:bodyPr wrap="square" lIns="0" tIns="0" rIns="0" bIns="0" rtlCol="0" anchor="t"/>
          <a:lstStyle/>
          <a:p>
            <a:pPr algn="l" indent="0" marL="0">
              <a:buNone/>
            </a:pPr>
            <a:r>
              <a:rPr lang="en-US" sz="1700" b="1" dirty="0">
                <a:solidFill>
                  <a:schemeClr val="tx2"/>
                </a:solidFill>
              </a:rPr>
              <a:t>Confronto</a:t>
            </a:r>
            <a:endParaRPr lang="en-US" sz="1700" dirty="0"/>
          </a:p>
        </p:txBody>
      </p:sp>
      <p:sp>
        <p:nvSpPr>
          <p:cNvPr id="23" name="Text 21"/>
          <p:cNvSpPr txBox="1"/>
          <p:nvPr/>
        </p:nvSpPr>
        <p:spPr>
          <a:xfrm>
            <a:off x="9582912" y="3611880"/>
            <a:ext cx="1965960" cy="1463040"/>
          </a:xfrm>
          <a:prstGeom prst="rect">
            <a:avLst/>
          </a:prstGeom>
          <a:noFill/>
          <a:ln/>
        </p:spPr>
        <p:txBody>
          <a:bodyPr wrap="square" lIns="0" tIns="0" rIns="0" bIns="0" rtlCol="0" anchor="t"/>
          <a:lstStyle/>
          <a:p>
            <a:pPr algn="l" indent="0" marL="0">
              <a:buNone/>
            </a:pPr>
            <a:r>
              <a:rPr lang="en-US" sz="1300" dirty="0">
                <a:solidFill>
                  <a:schemeClr val="accent4"/>
                </a:solidFill>
              </a:rPr>
              <a:t>Metodo e struttura dei grafici PID contro MPC</a:t>
            </a:r>
            <a:endParaRPr lang="en-US" sz="1300" dirty="0"/>
          </a:p>
        </p:txBody>
      </p:sp>
      <p:sp>
        <p:nvSpPr>
          <p:cNvPr id="24" name="Text 22"/>
          <p:cNvSpPr txBox="1"/>
          <p:nvPr/>
        </p:nvSpPr>
        <p:spPr>
          <a:xfrm>
            <a:off x="731520" y="5669280"/>
            <a:ext cx="10515600" cy="365760"/>
          </a:xfrm>
          <a:prstGeom prst="rect">
            <a:avLst/>
          </a:prstGeom>
          <a:noFill/>
          <a:ln/>
        </p:spPr>
        <p:txBody>
          <a:bodyPr wrap="square" lIns="0" tIns="0" rIns="0" bIns="0" rtlCol="0" anchor="t"/>
          <a:lstStyle/>
          <a:p>
            <a:pPr algn="l" indent="0" marL="0">
              <a:buNone/>
            </a:pPr>
            <a:r>
              <a:rPr lang="en-US" sz="1200" i="1" dirty="0">
                <a:solidFill>
                  <a:schemeClr val="accent4"/>
                </a:solidFill>
              </a:rPr>
              <a:t>Codice: workspace ROS 2 rotino_ws (rotino_description, rotino_pid, rotino_mpc, rotino_benchmark)</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2834640" y="2057400"/>
            <a:ext cx="8595360" cy="1097280"/>
          </a:xfrm>
          <a:prstGeom prst="rect">
            <a:avLst/>
          </a:prstGeom>
          <a:noFill/>
          <a:ln/>
        </p:spPr>
        <p:txBody>
          <a:bodyPr wrap="square" lIns="0" tIns="0" rIns="0" bIns="0" rtlCol="0" anchor="b"/>
          <a:lstStyle/>
          <a:p>
            <a:pPr algn="l" indent="0" marL="0">
              <a:buNone/>
            </a:pPr>
            <a:r>
              <a:rPr lang="en-US" sz="4000" b="1" dirty="0">
                <a:solidFill>
                  <a:schemeClr val="bg1"/>
                </a:solidFill>
              </a:rPr>
              <a:t>Modellazione del robot</a:t>
            </a:r>
            <a:endParaRPr lang="en-US" sz="4000" dirty="0"/>
          </a:p>
        </p:txBody>
      </p:sp>
      <p:sp>
        <p:nvSpPr>
          <p:cNvPr id="3" name="Text 0"/>
          <p:cNvSpPr/>
          <p:nvPr>
            <p:ph idx="101" type="body" hasCustomPrompt="1"/>
          </p:nvPr>
        </p:nvSpPr>
        <p:spPr>
          <a:xfrm>
            <a:off x="2834640" y="3291840"/>
            <a:ext cx="8229600" cy="1645920"/>
          </a:xfrm>
          <a:prstGeom prst="rect">
            <a:avLst/>
          </a:prstGeom>
          <a:noFill/>
          <a:ln/>
        </p:spPr>
        <p:txBody>
          <a:bodyPr wrap="square" lIns="0" tIns="0" rIns="0" bIns="0" rtlCol="0" anchor="t"/>
          <a:lstStyle/>
          <a:p>
            <a:pPr algn="l" indent="0" marL="0">
              <a:buNone/>
            </a:pPr>
            <a:r>
              <a:rPr lang="en-US" sz="1800" dirty="0">
                <a:solidFill>
                  <a:schemeClr val="bg2"/>
                </a:solidFill>
              </a:rPr>
              <a:t>Ipotesi, coordinate generalizzate, equazioni di Eulero-Lagrange, matrici M, C, G e B, riduzione al pendolo inverso a lunghezza variabile (VL-WIP)</a:t>
            </a:r>
            <a:endParaRPr lang="en-US" sz="1800" dirty="0"/>
          </a:p>
        </p:txBody>
      </p:sp>
      <p:sp>
        <p:nvSpPr>
          <p:cNvPr id="4" name="Shape 2"/>
          <p:cNvSpPr/>
          <p:nvPr/>
        </p:nvSpPr>
        <p:spPr>
          <a:xfrm>
            <a:off x="868680" y="2148840"/>
            <a:ext cx="1554480" cy="1554480"/>
          </a:xfrm>
          <a:prstGeom prst="ellipse">
            <a:avLst/>
          </a:prstGeom>
          <a:solidFill>
            <a:schemeClr val="accent4"/>
          </a:solidFill>
          <a:ln w="12700">
            <a:solidFill>
              <a:schemeClr val="accent4"/>
            </a:solidFill>
            <a:prstDash val="solid"/>
          </a:ln>
        </p:spPr>
      </p:sp>
      <p:sp>
        <p:nvSpPr>
          <p:cNvPr id="5" name="Text 3"/>
          <p:cNvSpPr txBox="1"/>
          <p:nvPr/>
        </p:nvSpPr>
        <p:spPr>
          <a:xfrm>
            <a:off x="868680" y="2148840"/>
            <a:ext cx="1554480" cy="1554480"/>
          </a:xfrm>
          <a:prstGeom prst="rect">
            <a:avLst/>
          </a:prstGeom>
          <a:noFill/>
          <a:ln/>
        </p:spPr>
        <p:txBody>
          <a:bodyPr wrap="square" lIns="0" tIns="0" rIns="0" bIns="0" rtlCol="0" anchor="ctr"/>
          <a:lstStyle/>
          <a:p>
            <a:pPr algn="ctr" indent="0" marL="0">
              <a:buNone/>
            </a:pPr>
            <a:r>
              <a:rPr lang="en-US" sz="6000" b="1" dirty="0">
                <a:solidFill>
                  <a:schemeClr val="bg1"/>
                </a:solidFill>
              </a:rPr>
              <a:t>1</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RoTino in numeri</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760720" cy="914400"/>
        </p:xfrm>
        <a:graphic>
          <a:graphicData uri="http://schemas.openxmlformats.org/drawingml/2006/table">
            <a:tbl>
              <a:tblPr/>
              <a:tblGrid>
                <a:gridCol w="1554480"/>
                <a:gridCol w="1828800"/>
                <a:gridCol w="2377440"/>
              </a:tblGrid>
              <a:tr h="384048">
                <a:tc>
                  <a:txBody>
                    <a:bodyPr/>
                    <a:lstStyle/>
                    <a:p>
                      <a:pPr algn="l" indent="0" marL="0">
                        <a:buNone/>
                      </a:pPr>
                      <a:r>
                        <a:rPr lang="en-US" sz="1300" b="1" dirty="0">
                          <a:solidFill>
                            <a:schemeClr val="bg1"/>
                          </a:solidFill>
                        </a:rPr>
                        <a:t>Simbolo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c>
                  <a:txBody>
                    <a:bodyPr/>
                    <a:lstStyle/>
                    <a:p>
                      <a:pPr algn="l" indent="0" marL="0">
                        <a:buNone/>
                      </a:pPr>
                      <a:r>
                        <a:rPr lang="en-US" sz="1300" b="1" dirty="0">
                          <a:solidFill>
                            <a:schemeClr val="bg1"/>
                          </a:solidFill>
                        </a:rPr>
                        <a:t>Valore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c>
                  <a:txBody>
                    <a:bodyPr/>
                    <a:lstStyle/>
                    <a:p>
                      <a:pPr algn="l" indent="0" marL="0">
                        <a:buNone/>
                      </a:pPr>
                      <a:r>
                        <a:rPr lang="en-US" sz="1300" b="1" dirty="0">
                          <a:solidFill>
                            <a:schemeClr val="bg1"/>
                          </a:solidFill>
                        </a:rPr>
                        <a:t>Origine (URDF)</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r>
              <a:tr h="384048">
                <a:tc>
                  <a:txBody>
                    <a:bodyPr/>
                    <a:lstStyle/>
                    <a:p>
                      <a:pPr algn="l" indent="0" marL="0">
                        <a:buNone/>
                      </a:pPr>
                      <a:r>
                        <a:rPr lang="en-US" sz="1300" dirty="0">
                          <a:solidFill>
                            <a:schemeClr val="tx1"/>
                          </a:solidFill>
                        </a:rPr>
                        <a:t>m</a:t>
                      </a:r>
                      <a:r>
                        <a:rPr lang="en-US" sz="1300" baseline="-40000" dirty="0">
                          <a:solidFill>
                            <a:schemeClr val="tx1"/>
                          </a:solidFill>
                        </a:rPr>
                        <a:t>w</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0,38 kg</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ruota 0,32 + mozzo 0,06</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384048">
                <a:tc>
                  <a:txBody>
                    <a:bodyPr/>
                    <a:lstStyle/>
                    <a:p>
                      <a:pPr algn="l" indent="0" marL="0">
                        <a:buNone/>
                      </a:pPr>
                      <a:r>
                        <a:rPr lang="en-US" sz="1300" dirty="0">
                          <a:solidFill>
                            <a:schemeClr val="tx1"/>
                          </a:solidFill>
                        </a:rPr>
                        <a:t>I</a:t>
                      </a:r>
                      <a:r>
                        <a:rPr lang="en-US" sz="1300" baseline="-40000" dirty="0">
                          <a:solidFill>
                            <a:schemeClr val="tx1"/>
                          </a:solidFill>
                        </a:rPr>
                        <a:t>w</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2,595·10</a:t>
                      </a:r>
                      <a:r>
                        <a:rPr lang="en-US" sz="1300" baseline="30000" dirty="0">
                          <a:solidFill>
                            <a:schemeClr val="tx1"/>
                          </a:solidFill>
                        </a:rPr>
                        <a:t>-3</a:t>
                      </a:r>
                      <a:r>
                        <a:rPr lang="en-US" sz="1300" dirty="0">
                          <a:solidFill>
                            <a:schemeClr val="tx1"/>
                          </a:solidFill>
                        </a:rPr>
                        <a:t> kg·m²</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i</a:t>
                      </a:r>
                      <a:r>
                        <a:rPr lang="en-US" sz="1300" baseline="-40000" dirty="0">
                          <a:solidFill>
                            <a:schemeClr val="tx1"/>
                          </a:solidFill>
                        </a:rPr>
                        <a:t>yy</a:t>
                      </a:r>
                      <a:r>
                        <a:rPr lang="en-US" sz="1300" dirty="0">
                          <a:solidFill>
                            <a:schemeClr val="tx1"/>
                          </a:solidFill>
                        </a:rPr>
                        <a:t> ruota, con armatura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384048">
                <a:tc>
                  <a:txBody>
                    <a:bodyPr/>
                    <a:lstStyle/>
                    <a:p>
                      <a:pPr algn="l" indent="0" marL="0">
                        <a:buNone/>
                      </a:pPr>
                      <a:r>
                        <a:rPr lang="en-US" sz="1300" dirty="0">
                          <a:solidFill>
                            <a:schemeClr val="tx1"/>
                          </a:solidFill>
                        </a:rPr>
                        <a:t>r · d</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0,06 m · 0,294 m</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raggio, carreggiata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384048">
                <a:tc>
                  <a:txBody>
                    <a:bodyPr/>
                    <a:lstStyle/>
                    <a:p>
                      <a:pPr algn="l" indent="0" marL="0">
                        <a:buNone/>
                      </a:pPr>
                      <a:r>
                        <a:rPr lang="en-US" sz="1300" dirty="0">
                          <a:solidFill>
                            <a:schemeClr val="tx1"/>
                          </a:solidFill>
                        </a:rPr>
                        <a:t>m</a:t>
                      </a:r>
                      <a:r>
                        <a:rPr lang="en-US" sz="1300" baseline="-40000" dirty="0">
                          <a:solidFill>
                            <a:schemeClr val="tx1"/>
                          </a:solidFill>
                        </a:rPr>
                        <a:t>b</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3,53 kg</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totale 4,29 kg meno le ruote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384048">
                <a:tc>
                  <a:txBody>
                    <a:bodyPr/>
                    <a:lstStyle/>
                    <a:p>
                      <a:pPr algn="l" indent="0" marL="0">
                        <a:buNone/>
                      </a:pPr>
                      <a:r>
                        <a:rPr lang="en-US" sz="1300" dirty="0">
                          <a:solidFill>
                            <a:schemeClr val="tx1"/>
                          </a:solidFill>
                        </a:rPr>
                        <a:t>m</a:t>
                      </a:r>
                      <a:r>
                        <a:rPr lang="en-US" sz="1300" baseline="-40000" dirty="0">
                          <a:solidFill>
                            <a:schemeClr val="tx1"/>
                          </a:solidFill>
                        </a:rPr>
                        <a:t>3</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2,85 kg</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torso 2,50 + zavorra 0,35</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384048">
                <a:tc>
                  <a:txBody>
                    <a:bodyPr/>
                    <a:lstStyle/>
                    <a:p>
                      <a:pPr algn="l" indent="0" marL="0">
                        <a:buNone/>
                      </a:pPr>
                      <a:r>
                        <a:rPr lang="en-US" sz="1300" dirty="0">
                          <a:solidFill>
                            <a:schemeClr val="tx1"/>
                          </a:solidFill>
                        </a:rPr>
                        <a:t>m</a:t>
                      </a:r>
                      <a:r>
                        <a:rPr lang="en-US" sz="1300" baseline="-40000" dirty="0">
                          <a:solidFill>
                            <a:schemeClr val="tx1"/>
                          </a:solidFill>
                        </a:rPr>
                        <a:t>2</a:t>
                      </a:r>
                      <a:r>
                        <a:rPr lang="en-US" sz="1300" dirty="0">
                          <a:solidFill>
                            <a:schemeClr val="tx1"/>
                          </a:solidFill>
                        </a:rPr>
                        <a:t> · m</a:t>
                      </a:r>
                      <a:r>
                        <a:rPr lang="en-US" sz="1300" baseline="-40000" dirty="0">
                          <a:solidFill>
                            <a:schemeClr val="tx1"/>
                          </a:solidFill>
                        </a:rPr>
                        <a:t>1</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0,18 · 0,16 kg</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coscia · stinco, per gamba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384048">
                <a:tc>
                  <a:txBody>
                    <a:bodyPr/>
                    <a:lstStyle/>
                    <a:p>
                      <a:pPr algn="l" indent="0" marL="0">
                        <a:buNone/>
                      </a:pPr>
                      <a:r>
                        <a:rPr lang="en-US" sz="1300" dirty="0">
                          <a:solidFill>
                            <a:schemeClr val="tx1"/>
                          </a:solidFill>
                        </a:rPr>
                        <a:t>l</a:t>
                      </a:r>
                      <a:r>
                        <a:rPr lang="en-US" sz="1300" baseline="-40000" dirty="0">
                          <a:solidFill>
                            <a:schemeClr val="tx1"/>
                          </a:solidFill>
                        </a:rPr>
                        <a:t>1</a:t>
                      </a:r>
                      <a:r>
                        <a:rPr lang="en-US" sz="1300" dirty="0">
                          <a:solidFill>
                            <a:schemeClr val="tx1"/>
                          </a:solidFill>
                        </a:rPr>
                        <a:t> = l</a:t>
                      </a:r>
                      <a:r>
                        <a:rPr lang="en-US" sz="1300" baseline="-40000" dirty="0">
                          <a:solidFill>
                            <a:schemeClr val="tx1"/>
                          </a:solidFill>
                        </a:rPr>
                        <a:t>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0,130 m</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√2 · 0,0919, segmenti a 45°</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384048">
                <a:tc>
                  <a:txBody>
                    <a:bodyPr/>
                    <a:lstStyle/>
                    <a:p>
                      <a:pPr algn="l" indent="0" marL="0">
                        <a:buNone/>
                      </a:pPr>
                      <a:r>
                        <a:rPr lang="en-US" sz="1300" dirty="0">
                          <a:solidFill>
                            <a:schemeClr val="tx1"/>
                          </a:solidFill>
                        </a:rPr>
                        <a:t>μ</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2,2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attrito ruota-suolo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384048">
                <a:tc>
                  <a:txBody>
                    <a:bodyPr/>
                    <a:lstStyle/>
                    <a:p>
                      <a:pPr algn="l" indent="0" marL="0">
                        <a:buNone/>
                      </a:pPr>
                      <a:r>
                        <a:rPr lang="en-US" sz="1300" dirty="0">
                          <a:solidFill>
                            <a:schemeClr val="tx1"/>
                          </a:solidFill>
                        </a:rPr>
                        <a:t>τ</a:t>
                      </a:r>
                      <a:r>
                        <a:rPr lang="en-US" sz="1300" baseline="-40000" dirty="0">
                          <a:solidFill>
                            <a:schemeClr val="tx1"/>
                          </a:solidFill>
                        </a:rPr>
                        <a:t>w,max</a:t>
                      </a:r>
                      <a:r>
                        <a:rPr lang="en-US" sz="1300" dirty="0">
                          <a:solidFill>
                            <a:schemeClr val="tx1"/>
                          </a:solidFill>
                        </a:rPr>
                        <a:t> · τ</a:t>
                      </a:r>
                      <a:r>
                        <a:rPr lang="en-US" sz="1300" baseline="-40000" dirty="0">
                          <a:solidFill>
                            <a:schemeClr val="tx1"/>
                          </a:solidFill>
                        </a:rPr>
                        <a:t>leg,max</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18 · 60 N·m</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limiti URDF (controllo: 10 N·m)</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bl>
          </a:graphicData>
        </a:graphic>
      </p:graphicFrame>
      <p:sp>
        <p:nvSpPr>
          <p:cNvPr id="6" name="Shape 3"/>
          <p:cNvSpPr/>
          <p:nvPr/>
        </p:nvSpPr>
        <p:spPr>
          <a:xfrm>
            <a:off x="6675120" y="1417320"/>
            <a:ext cx="4965192" cy="1417320"/>
          </a:xfrm>
          <a:prstGeom prst="roundRect">
            <a:avLst>
              <a:gd name="adj" fmla="val 5161"/>
            </a:avLst>
          </a:prstGeom>
          <a:solidFill>
            <a:schemeClr val="bg2"/>
          </a:solidFill>
          <a:ln w="12700">
            <a:solidFill>
              <a:schemeClr val="bg2"/>
            </a:solidFill>
            <a:prstDash val="solid"/>
          </a:ln>
        </p:spPr>
      </p:sp>
      <p:sp>
        <p:nvSpPr>
          <p:cNvPr id="7" name="Shape 4"/>
          <p:cNvSpPr/>
          <p:nvPr/>
        </p:nvSpPr>
        <p:spPr>
          <a:xfrm>
            <a:off x="6858000" y="1600200"/>
            <a:ext cx="420624" cy="420624"/>
          </a:xfrm>
          <a:prstGeom prst="ellipse">
            <a:avLst/>
          </a:prstGeom>
          <a:solidFill>
            <a:schemeClr val="accent4"/>
          </a:solidFill>
          <a:ln w="12700">
            <a:solidFill>
              <a:schemeClr val="accent4"/>
            </a:solidFill>
            <a:prstDash val="solid"/>
          </a:ln>
        </p:spPr>
      </p:sp>
      <p:sp>
        <p:nvSpPr>
          <p:cNvPr id="8" name="Text 5"/>
          <p:cNvSpPr txBox="1"/>
          <p:nvPr/>
        </p:nvSpPr>
        <p:spPr>
          <a:xfrm>
            <a:off x="6858000" y="160020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7406640" y="1600200"/>
            <a:ext cx="4050792" cy="420624"/>
          </a:xfrm>
          <a:prstGeom prst="rect">
            <a:avLst/>
          </a:prstGeom>
          <a:noFill/>
          <a:ln/>
        </p:spPr>
        <p:txBody>
          <a:bodyPr wrap="square" lIns="0" tIns="0" rIns="0" bIns="0" rtlCol="0" anchor="ctr"/>
          <a:lstStyle/>
          <a:p>
            <a:pPr algn="l" indent="0" marL="0">
              <a:buNone/>
            </a:pPr>
            <a:r>
              <a:rPr lang="en-US" sz="1500" b="1" dirty="0">
                <a:solidFill>
                  <a:schemeClr val="tx2"/>
                </a:solidFill>
              </a:rPr>
              <a:t>Ruote pesanti in rotazione</a:t>
            </a:r>
            <a:endParaRPr lang="en-US" sz="1500" dirty="0"/>
          </a:p>
        </p:txBody>
      </p:sp>
      <p:sp>
        <p:nvSpPr>
          <p:cNvPr id="10" name="Text 7"/>
          <p:cNvSpPr txBox="1"/>
          <p:nvPr/>
        </p:nvSpPr>
        <p:spPr>
          <a:xfrm>
            <a:off x="6903720" y="2148840"/>
            <a:ext cx="4553712" cy="548640"/>
          </a:xfrm>
          <a:prstGeom prst="rect">
            <a:avLst/>
          </a:prstGeom>
          <a:noFill/>
          <a:ln/>
        </p:spPr>
        <p:txBody>
          <a:bodyPr wrap="square" lIns="0" tIns="0" rIns="0" bIns="0" rtlCol="0" anchor="t"/>
          <a:lstStyle/>
          <a:p>
            <a:pPr algn="l" indent="0" marL="0">
              <a:buNone/>
            </a:pPr>
            <a:r>
              <a:rPr lang="en-US" sz="1300" dirty="0">
                <a:solidFill>
                  <a:schemeClr val="tx1"/>
                </a:solidFill>
              </a:rPr>
              <a:t>2I</a:t>
            </a:r>
            <a:r>
              <a:rPr lang="en-US" sz="1300" baseline="-40000" dirty="0">
                <a:solidFill>
                  <a:schemeClr val="tx1"/>
                </a:solidFill>
              </a:rPr>
              <a:t>w</a:t>
            </a:r>
            <a:r>
              <a:rPr lang="en-US" sz="1300" dirty="0">
                <a:solidFill>
                  <a:schemeClr val="tx1"/>
                </a:solidFill>
              </a:rPr>
              <a:t>/r² = 1,44 kg: l'inerzia delle ruote riportata alla traslazione vale il 41 % di m</a:t>
            </a:r>
            <a:r>
              <a:rPr lang="en-US" sz="1300" baseline="-40000" dirty="0">
                <a:solidFill>
                  <a:schemeClr val="tx1"/>
                </a:solidFill>
              </a:rPr>
              <a:t>b</a:t>
            </a:r>
            <a:r>
              <a:rPr lang="en-US" sz="1300" dirty="0">
                <a:solidFill>
                  <a:schemeClr val="tx1"/>
                </a:solidFill>
              </a:rPr>
              <a:t>.</a:t>
            </a:r>
            <a:endParaRPr lang="en-US" sz="1300" dirty="0"/>
          </a:p>
        </p:txBody>
      </p:sp>
      <p:sp>
        <p:nvSpPr>
          <p:cNvPr id="11" name="Shape 8"/>
          <p:cNvSpPr/>
          <p:nvPr/>
        </p:nvSpPr>
        <p:spPr>
          <a:xfrm>
            <a:off x="6675120" y="2971800"/>
            <a:ext cx="4965192" cy="1417320"/>
          </a:xfrm>
          <a:prstGeom prst="roundRect">
            <a:avLst>
              <a:gd name="adj" fmla="val 5161"/>
            </a:avLst>
          </a:prstGeom>
          <a:solidFill>
            <a:schemeClr val="bg2"/>
          </a:solidFill>
          <a:ln w="12700">
            <a:solidFill>
              <a:schemeClr val="bg2"/>
            </a:solidFill>
            <a:prstDash val="solid"/>
          </a:ln>
        </p:spPr>
      </p:sp>
      <p:sp>
        <p:nvSpPr>
          <p:cNvPr id="12" name="Shape 9"/>
          <p:cNvSpPr/>
          <p:nvPr/>
        </p:nvSpPr>
        <p:spPr>
          <a:xfrm>
            <a:off x="6858000" y="3154680"/>
            <a:ext cx="420624" cy="420624"/>
          </a:xfrm>
          <a:prstGeom prst="ellipse">
            <a:avLst/>
          </a:prstGeom>
          <a:solidFill>
            <a:schemeClr val="accent4"/>
          </a:solidFill>
          <a:ln w="12700">
            <a:solidFill>
              <a:schemeClr val="accent4"/>
            </a:solidFill>
            <a:prstDash val="solid"/>
          </a:ln>
        </p:spPr>
      </p:sp>
      <p:sp>
        <p:nvSpPr>
          <p:cNvPr id="13" name="Text 10"/>
          <p:cNvSpPr txBox="1"/>
          <p:nvPr/>
        </p:nvSpPr>
        <p:spPr>
          <a:xfrm>
            <a:off x="6858000" y="31546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1"/>
          <p:cNvSpPr txBox="1"/>
          <p:nvPr/>
        </p:nvSpPr>
        <p:spPr>
          <a:xfrm>
            <a:off x="7406640" y="3154680"/>
            <a:ext cx="4050792" cy="420624"/>
          </a:xfrm>
          <a:prstGeom prst="rect">
            <a:avLst/>
          </a:prstGeom>
          <a:noFill/>
          <a:ln/>
        </p:spPr>
        <p:txBody>
          <a:bodyPr wrap="square" lIns="0" tIns="0" rIns="0" bIns="0" rtlCol="0" anchor="ctr"/>
          <a:lstStyle/>
          <a:p>
            <a:pPr algn="l" indent="0" marL="0">
              <a:buNone/>
            </a:pPr>
            <a:r>
              <a:rPr lang="en-US" sz="1500" b="1" dirty="0">
                <a:solidFill>
                  <a:schemeClr val="tx2"/>
                </a:solidFill>
              </a:rPr>
              <a:t>Baricentro del torso avanzato</a:t>
            </a:r>
            <a:endParaRPr lang="en-US" sz="1500" dirty="0"/>
          </a:p>
        </p:txBody>
      </p:sp>
      <p:sp>
        <p:nvSpPr>
          <p:cNvPr id="15" name="Text 12"/>
          <p:cNvSpPr txBox="1"/>
          <p:nvPr/>
        </p:nvSpPr>
        <p:spPr>
          <a:xfrm>
            <a:off x="6903720" y="3703320"/>
            <a:ext cx="4553712" cy="548640"/>
          </a:xfrm>
          <a:prstGeom prst="rect">
            <a:avLst/>
          </a:prstGeom>
          <a:noFill/>
          <a:ln/>
        </p:spPr>
        <p:txBody>
          <a:bodyPr wrap="square" lIns="0" tIns="0" rIns="0" bIns="0" rtlCol="0" anchor="t"/>
          <a:lstStyle/>
          <a:p>
            <a:pPr algn="l" indent="0" marL="0">
              <a:buNone/>
            </a:pPr>
            <a:r>
              <a:rPr lang="en-US" sz="1300" dirty="0">
                <a:solidFill>
                  <a:schemeClr val="tx1"/>
                </a:solidFill>
              </a:rPr>
              <a:t>(+27,5; −5,5) mm dall'anca: in equilibrio il torso è ruotato all'indietro di circa 4,7°.</a:t>
            </a:r>
            <a:endParaRPr lang="en-US" sz="1300" dirty="0"/>
          </a:p>
        </p:txBody>
      </p:sp>
      <p:sp>
        <p:nvSpPr>
          <p:cNvPr id="16" name="Shape 13"/>
          <p:cNvSpPr/>
          <p:nvPr/>
        </p:nvSpPr>
        <p:spPr>
          <a:xfrm>
            <a:off x="6675120" y="4526280"/>
            <a:ext cx="4965192" cy="1417320"/>
          </a:xfrm>
          <a:prstGeom prst="roundRect">
            <a:avLst>
              <a:gd name="adj" fmla="val 5161"/>
            </a:avLst>
          </a:prstGeom>
          <a:solidFill>
            <a:schemeClr val="bg2"/>
          </a:solidFill>
          <a:ln w="12700">
            <a:solidFill>
              <a:schemeClr val="bg2"/>
            </a:solidFill>
            <a:prstDash val="solid"/>
          </a:ln>
        </p:spPr>
      </p:sp>
      <p:sp>
        <p:nvSpPr>
          <p:cNvPr id="17" name="Shape 14"/>
          <p:cNvSpPr/>
          <p:nvPr/>
        </p:nvSpPr>
        <p:spPr>
          <a:xfrm>
            <a:off x="6858000" y="4709160"/>
            <a:ext cx="420624" cy="420624"/>
          </a:xfrm>
          <a:prstGeom prst="ellipse">
            <a:avLst/>
          </a:prstGeom>
          <a:solidFill>
            <a:schemeClr val="accent4"/>
          </a:solidFill>
          <a:ln w="12700">
            <a:solidFill>
              <a:schemeClr val="accent4"/>
            </a:solidFill>
            <a:prstDash val="solid"/>
          </a:ln>
        </p:spPr>
      </p:sp>
      <p:sp>
        <p:nvSpPr>
          <p:cNvPr id="18" name="Text 15"/>
          <p:cNvSpPr txBox="1"/>
          <p:nvPr/>
        </p:nvSpPr>
        <p:spPr>
          <a:xfrm>
            <a:off x="6858000" y="470916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 16"/>
          <p:cNvSpPr txBox="1"/>
          <p:nvPr/>
        </p:nvSpPr>
        <p:spPr>
          <a:xfrm>
            <a:off x="7406640" y="4709160"/>
            <a:ext cx="4050792" cy="420624"/>
          </a:xfrm>
          <a:prstGeom prst="rect">
            <a:avLst/>
          </a:prstGeom>
          <a:noFill/>
          <a:ln/>
        </p:spPr>
        <p:txBody>
          <a:bodyPr wrap="square" lIns="0" tIns="0" rIns="0" bIns="0" rtlCol="0" anchor="ctr"/>
          <a:lstStyle/>
          <a:p>
            <a:pPr algn="l" indent="0" marL="0">
              <a:buNone/>
            </a:pPr>
            <a:r>
              <a:rPr lang="en-US" sz="1500" b="1" dirty="0">
                <a:solidFill>
                  <a:schemeClr val="tx2"/>
                </a:solidFill>
              </a:rPr>
              <a:t>Inerzia reale più piccola</a:t>
            </a:r>
            <a:endParaRPr lang="en-US" sz="1500" dirty="0"/>
          </a:p>
        </p:txBody>
      </p:sp>
      <p:sp>
        <p:nvSpPr>
          <p:cNvPr id="20" name="Text 17"/>
          <p:cNvSpPr txBox="1"/>
          <p:nvPr/>
        </p:nvSpPr>
        <p:spPr>
          <a:xfrm>
            <a:off x="6903720" y="5257800"/>
            <a:ext cx="4553712" cy="548640"/>
          </a:xfrm>
          <a:prstGeom prst="rect">
            <a:avLst/>
          </a:prstGeom>
          <a:noFill/>
          <a:ln/>
        </p:spPr>
        <p:txBody>
          <a:bodyPr wrap="square" lIns="0" tIns="0" rIns="0" bIns="0" rtlCol="0" anchor="t"/>
          <a:lstStyle/>
          <a:p>
            <a:pPr algn="l" indent="0" marL="0">
              <a:buNone/>
            </a:pPr>
            <a:r>
              <a:rPr lang="en-US" sz="1300" dirty="0">
                <a:solidFill>
                  <a:schemeClr val="tx1"/>
                </a:solidFill>
              </a:rPr>
              <a:t>I</a:t>
            </a:r>
            <a:r>
              <a:rPr lang="en-US" sz="1300" baseline="-40000" dirty="0">
                <a:solidFill>
                  <a:schemeClr val="tx1"/>
                </a:solidFill>
              </a:rPr>
              <a:t>y</a:t>
            </a:r>
            <a:r>
              <a:rPr lang="en-US" sz="1300" dirty="0">
                <a:solidFill>
                  <a:schemeClr val="tx1"/>
                </a:solidFill>
              </a:rPr>
              <a:t> = 0,0174 kg·m² dai tensori URDF contro m</a:t>
            </a:r>
            <a:r>
              <a:rPr lang="en-US" sz="1300" baseline="-40000" dirty="0">
                <a:solidFill>
                  <a:schemeClr val="tx1"/>
                </a:solidFill>
              </a:rPr>
              <a:t>b</a:t>
            </a:r>
            <a:r>
              <a:rPr lang="en-US" sz="1300" dirty="0">
                <a:solidFill>
                  <a:schemeClr val="tx1"/>
                </a:solidFill>
              </a:rPr>
              <a:t>l²/3 = 0,0311 della Tabella 1 del paper (×1,8).</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Ipotesi del modello</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sp>
        <p:nvSpPr>
          <p:cNvPr id="5" name="Shape 3"/>
          <p:cNvSpPr/>
          <p:nvPr/>
        </p:nvSpPr>
        <p:spPr>
          <a:xfrm>
            <a:off x="548640" y="1463040"/>
            <a:ext cx="548640" cy="548640"/>
          </a:xfrm>
          <a:prstGeom prst="ellipse">
            <a:avLst/>
          </a:prstGeom>
          <a:solidFill>
            <a:schemeClr val="accent4"/>
          </a:solidFill>
          <a:ln w="12700">
            <a:solidFill>
              <a:schemeClr val="accent4"/>
            </a:solidFill>
            <a:prstDash val="solid"/>
          </a:ln>
        </p:spPr>
      </p:sp>
      <p:sp>
        <p:nvSpPr>
          <p:cNvPr id="6" name="Text 4"/>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325880" y="1417320"/>
            <a:ext cx="5120640" cy="365760"/>
          </a:xfrm>
          <a:prstGeom prst="rect">
            <a:avLst/>
          </a:prstGeom>
          <a:noFill/>
          <a:ln/>
        </p:spPr>
        <p:txBody>
          <a:bodyPr wrap="square" lIns="0" tIns="0" rIns="0" bIns="0" rtlCol="0" anchor="t"/>
          <a:lstStyle/>
          <a:p>
            <a:pPr algn="l" indent="0" marL="0">
              <a:buNone/>
            </a:pPr>
            <a:r>
              <a:rPr lang="en-US" sz="1700" b="1" dirty="0">
                <a:solidFill>
                  <a:schemeClr val="tx2"/>
                </a:solidFill>
              </a:rPr>
              <a:t>Piano sagittale</a:t>
            </a:r>
            <a:endParaRPr lang="en-US" sz="1700" dirty="0"/>
          </a:p>
        </p:txBody>
      </p:sp>
      <p:sp>
        <p:nvSpPr>
          <p:cNvPr id="8" name="Text 6"/>
          <p:cNvSpPr txBox="1"/>
          <p:nvPr/>
        </p:nvSpPr>
        <p:spPr>
          <a:xfrm>
            <a:off x="1325880" y="1801368"/>
            <a:ext cx="5212080" cy="640080"/>
          </a:xfrm>
          <a:prstGeom prst="rect">
            <a:avLst/>
          </a:prstGeom>
          <a:noFill/>
          <a:ln/>
        </p:spPr>
        <p:txBody>
          <a:bodyPr wrap="square" lIns="0" tIns="0" rIns="0" bIns="0" rtlCol="0" anchor="t"/>
          <a:lstStyle/>
          <a:p>
            <a:pPr algn="l" indent="0" marL="0">
              <a:buNone/>
            </a:pPr>
            <a:r>
              <a:rPr lang="en-US" sz="1400" dirty="0">
                <a:solidFill>
                  <a:schemeClr val="tx1"/>
                </a:solidFill>
              </a:rPr>
              <a:t>Le due gambe si muovono insieme: masse e inerzie di gamba e ruota contano due volte.</a:t>
            </a:r>
            <a:endParaRPr lang="en-US" sz="1400" dirty="0"/>
          </a:p>
        </p:txBody>
      </p:sp>
      <p:sp>
        <p:nvSpPr>
          <p:cNvPr id="9" name="Shape 7"/>
          <p:cNvSpPr/>
          <p:nvPr/>
        </p:nvSpPr>
        <p:spPr>
          <a:xfrm>
            <a:off x="548640" y="2560320"/>
            <a:ext cx="548640" cy="548640"/>
          </a:xfrm>
          <a:prstGeom prst="ellipse">
            <a:avLst/>
          </a:prstGeom>
          <a:solidFill>
            <a:schemeClr val="accent4"/>
          </a:solidFill>
          <a:ln w="12700">
            <a:solidFill>
              <a:schemeClr val="accent4"/>
            </a:solidFill>
            <a:prstDash val="solid"/>
          </a:ln>
        </p:spPr>
      </p:sp>
      <p:sp>
        <p:nvSpPr>
          <p:cNvPr id="10" name="Text 8"/>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1325880" y="2514600"/>
            <a:ext cx="5120640" cy="365760"/>
          </a:xfrm>
          <a:prstGeom prst="rect">
            <a:avLst/>
          </a:prstGeom>
          <a:noFill/>
          <a:ln/>
        </p:spPr>
        <p:txBody>
          <a:bodyPr wrap="square" lIns="0" tIns="0" rIns="0" bIns="0" rtlCol="0" anchor="t"/>
          <a:lstStyle/>
          <a:p>
            <a:pPr algn="l" indent="0" marL="0">
              <a:buNone/>
            </a:pPr>
            <a:r>
              <a:rPr lang="en-US" sz="1700" b="1" dirty="0">
                <a:solidFill>
                  <a:schemeClr val="tx2"/>
                </a:solidFill>
              </a:rPr>
              <a:t>Corpi rigidi, giunti ideali</a:t>
            </a:r>
            <a:endParaRPr lang="en-US" sz="1700" dirty="0"/>
          </a:p>
        </p:txBody>
      </p:sp>
      <p:sp>
        <p:nvSpPr>
          <p:cNvPr id="12" name="Text 10"/>
          <p:cNvSpPr txBox="1"/>
          <p:nvPr/>
        </p:nvSpPr>
        <p:spPr>
          <a:xfrm>
            <a:off x="1325880" y="2898648"/>
            <a:ext cx="5212080" cy="640080"/>
          </a:xfrm>
          <a:prstGeom prst="rect">
            <a:avLst/>
          </a:prstGeom>
          <a:noFill/>
          <a:ln/>
        </p:spPr>
        <p:txBody>
          <a:bodyPr wrap="square" lIns="0" tIns="0" rIns="0" bIns="0" rtlCol="0" anchor="t"/>
          <a:lstStyle/>
          <a:p>
            <a:pPr algn="l" indent="0" marL="0">
              <a:buNone/>
            </a:pPr>
            <a:r>
              <a:rPr lang="en-US" sz="1400" dirty="0">
                <a:solidFill>
                  <a:schemeClr val="tx1"/>
                </a:solidFill>
              </a:rPr>
              <a:t>Stinco e coscia come aste con baricentro a metà, torso con baricentro (a</a:t>
            </a:r>
            <a:r>
              <a:rPr lang="en-US" sz="1400" baseline="-40000" dirty="0">
                <a:solidFill>
                  <a:schemeClr val="tx1"/>
                </a:solidFill>
              </a:rPr>
              <a:t>3</a:t>
            </a:r>
            <a:r>
              <a:rPr lang="en-US" sz="1400" dirty="0">
                <a:solidFill>
                  <a:schemeClr val="tx1"/>
                </a:solidFill>
              </a:rPr>
              <a:t>, b</a:t>
            </a:r>
            <a:r>
              <a:rPr lang="en-US" sz="1400" baseline="-40000" dirty="0">
                <a:solidFill>
                  <a:schemeClr val="tx1"/>
                </a:solidFill>
              </a:rPr>
              <a:t>3</a:t>
            </a:r>
            <a:r>
              <a:rPr lang="en-US" sz="1400" dirty="0">
                <a:solidFill>
                  <a:schemeClr val="tx1"/>
                </a:solidFill>
              </a:rPr>
              <a:t>).</a:t>
            </a:r>
            <a:endParaRPr lang="en-US" sz="1400" dirty="0"/>
          </a:p>
        </p:txBody>
      </p:sp>
      <p:sp>
        <p:nvSpPr>
          <p:cNvPr id="13" name="Shape 11"/>
          <p:cNvSpPr/>
          <p:nvPr/>
        </p:nvSpPr>
        <p:spPr>
          <a:xfrm>
            <a:off x="548640" y="3657600"/>
            <a:ext cx="548640" cy="548640"/>
          </a:xfrm>
          <a:prstGeom prst="ellipse">
            <a:avLst/>
          </a:prstGeom>
          <a:solidFill>
            <a:schemeClr val="accent4"/>
          </a:solidFill>
          <a:ln w="12700">
            <a:solidFill>
              <a:schemeClr val="accent4"/>
            </a:solidFill>
            <a:prstDash val="solid"/>
          </a:ln>
        </p:spPr>
      </p:sp>
      <p:sp>
        <p:nvSpPr>
          <p:cNvPr id="14" name="Text 12"/>
          <p:cNvSpPr txBox="1"/>
          <p:nvPr/>
        </p:nvSpPr>
        <p:spPr>
          <a:xfrm>
            <a:off x="548640" y="3657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3"/>
          <p:cNvSpPr txBox="1"/>
          <p:nvPr/>
        </p:nvSpPr>
        <p:spPr>
          <a:xfrm>
            <a:off x="1325880" y="3611880"/>
            <a:ext cx="5120640" cy="365760"/>
          </a:xfrm>
          <a:prstGeom prst="rect">
            <a:avLst/>
          </a:prstGeom>
          <a:noFill/>
          <a:ln/>
        </p:spPr>
        <p:txBody>
          <a:bodyPr wrap="square" lIns="0" tIns="0" rIns="0" bIns="0" rtlCol="0" anchor="t"/>
          <a:lstStyle/>
          <a:p>
            <a:pPr algn="l" indent="0" marL="0">
              <a:buNone/>
            </a:pPr>
            <a:r>
              <a:rPr lang="en-US" sz="1700" b="1" dirty="0">
                <a:solidFill>
                  <a:schemeClr val="tx2"/>
                </a:solidFill>
              </a:rPr>
              <a:t>Puro rotolamento</a:t>
            </a:r>
            <a:endParaRPr lang="en-US" sz="1700" dirty="0"/>
          </a:p>
        </p:txBody>
      </p:sp>
      <p:sp>
        <p:nvSpPr>
          <p:cNvPr id="16" name="Text 14"/>
          <p:cNvSpPr txBox="1"/>
          <p:nvPr/>
        </p:nvSpPr>
        <p:spPr>
          <a:xfrm>
            <a:off x="1325880" y="3995928"/>
            <a:ext cx="5212080" cy="640080"/>
          </a:xfrm>
          <a:prstGeom prst="rect">
            <a:avLst/>
          </a:prstGeom>
          <a:noFill/>
          <a:ln/>
        </p:spPr>
        <p:txBody>
          <a:bodyPr wrap="square" lIns="0" tIns="0" rIns="0" bIns="0" rtlCol="0" anchor="t"/>
          <a:lstStyle/>
          <a:p>
            <a:pPr algn="l" indent="0" marL="0">
              <a:buNone/>
            </a:pPr>
            <a:r>
              <a:rPr lang="en-US" sz="1400" dirty="0">
                <a:solidFill>
                  <a:schemeClr val="tx1"/>
                </a:solidFill>
              </a:rPr>
              <a:t>Suolo piano, nessun distacco: s</a:t>
            </a:r>
            <a:r>
              <a:rPr lang="en-US" sz="1400" baseline="-40000" dirty="0">
                <a:solidFill>
                  <a:schemeClr val="tx1"/>
                </a:solidFill>
              </a:rPr>
              <a:t>w</a:t>
            </a:r>
            <a:r>
              <a:rPr lang="en-US" sz="1400" dirty="0">
                <a:solidFill>
                  <a:schemeClr val="tx1"/>
                </a:solidFill>
              </a:rPr>
              <a:t> = r q</a:t>
            </a:r>
            <a:r>
              <a:rPr lang="en-US" sz="1400" baseline="-40000" dirty="0">
                <a:solidFill>
                  <a:schemeClr val="tx1"/>
                </a:solidFill>
              </a:rPr>
              <a:t>w</a:t>
            </a:r>
            <a:r>
              <a:rPr lang="en-US" sz="1400" dirty="0">
                <a:solidFill>
                  <a:schemeClr val="tx1"/>
                </a:solidFill>
              </a:rPr>
              <a:t>, la ruota resta a quota r.</a:t>
            </a:r>
            <a:endParaRPr lang="en-US" sz="1400" dirty="0"/>
          </a:p>
        </p:txBody>
      </p:sp>
      <p:sp>
        <p:nvSpPr>
          <p:cNvPr id="17" name="Shape 15"/>
          <p:cNvSpPr/>
          <p:nvPr/>
        </p:nvSpPr>
        <p:spPr>
          <a:xfrm>
            <a:off x="548640" y="4754880"/>
            <a:ext cx="548640" cy="548640"/>
          </a:xfrm>
          <a:prstGeom prst="ellipse">
            <a:avLst/>
          </a:prstGeom>
          <a:solidFill>
            <a:schemeClr val="accent4"/>
          </a:solidFill>
          <a:ln w="12700">
            <a:solidFill>
              <a:schemeClr val="accent4"/>
            </a:solidFill>
            <a:prstDash val="solid"/>
          </a:ln>
        </p:spPr>
      </p:sp>
      <p:sp>
        <p:nvSpPr>
          <p:cNvPr id="18" name="Text 16"/>
          <p:cNvSpPr txBox="1"/>
          <p:nvPr/>
        </p:nvSpPr>
        <p:spPr>
          <a:xfrm>
            <a:off x="548640" y="4754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7"/>
          <p:cNvSpPr txBox="1"/>
          <p:nvPr/>
        </p:nvSpPr>
        <p:spPr>
          <a:xfrm>
            <a:off x="1325880" y="4709160"/>
            <a:ext cx="5120640" cy="365760"/>
          </a:xfrm>
          <a:prstGeom prst="rect">
            <a:avLst/>
          </a:prstGeom>
          <a:noFill/>
          <a:ln/>
        </p:spPr>
        <p:txBody>
          <a:bodyPr wrap="square" lIns="0" tIns="0" rIns="0" bIns="0" rtlCol="0" anchor="t"/>
          <a:lstStyle/>
          <a:p>
            <a:pPr algn="l" indent="0" marL="0">
              <a:buNone/>
            </a:pPr>
            <a:r>
              <a:rPr lang="en-US" sz="1700" b="1" dirty="0">
                <a:solidFill>
                  <a:schemeClr val="tx2"/>
                </a:solidFill>
              </a:rPr>
              <a:t>Attuazione in coppia</a:t>
            </a:r>
            <a:endParaRPr lang="en-US" sz="1700" dirty="0"/>
          </a:p>
        </p:txBody>
      </p:sp>
      <p:sp>
        <p:nvSpPr>
          <p:cNvPr id="20" name="Text 18"/>
          <p:cNvSpPr txBox="1"/>
          <p:nvPr/>
        </p:nvSpPr>
        <p:spPr>
          <a:xfrm>
            <a:off x="1325880" y="5093208"/>
            <a:ext cx="5212080" cy="640080"/>
          </a:xfrm>
          <a:prstGeom prst="rect">
            <a:avLst/>
          </a:prstGeom>
          <a:noFill/>
          <a:ln/>
        </p:spPr>
        <p:txBody>
          <a:bodyPr wrap="square" lIns="0" tIns="0" rIns="0" bIns="0" rtlCol="0" anchor="t"/>
          <a:lstStyle/>
          <a:p>
            <a:pPr algn="l" indent="0" marL="0">
              <a:buNone/>
            </a:pPr>
            <a:r>
              <a:rPr lang="en-US" sz="1400" dirty="0">
                <a:solidFill>
                  <a:schemeClr val="tx1"/>
                </a:solidFill>
              </a:rPr>
              <a:t>Ruote, ginocchia e anche ricevono coppie dirette (ros2_control, interfaccia effort).</a:t>
            </a:r>
            <a:endParaRPr lang="en-US" sz="1400" dirty="0"/>
          </a:p>
        </p:txBody>
      </p:sp>
      <p:sp>
        <p:nvSpPr>
          <p:cNvPr id="21" name="Shape 19"/>
          <p:cNvSpPr/>
          <p:nvPr/>
        </p:nvSpPr>
        <p:spPr>
          <a:xfrm>
            <a:off x="6949440" y="1417320"/>
            <a:ext cx="4690872" cy="4206240"/>
          </a:xfrm>
          <a:prstGeom prst="roundRect">
            <a:avLst>
              <a:gd name="adj" fmla="val 1739"/>
            </a:avLst>
          </a:prstGeom>
          <a:solidFill>
            <a:schemeClr val="bg2"/>
          </a:solidFill>
          <a:ln w="12700">
            <a:solidFill>
              <a:schemeClr val="bg2"/>
            </a:solidFill>
            <a:prstDash val="solid"/>
          </a:ln>
        </p:spPr>
      </p:sp>
      <p:sp>
        <p:nvSpPr>
          <p:cNvPr id="22" name="Text 20"/>
          <p:cNvSpPr txBox="1"/>
          <p:nvPr/>
        </p:nvSpPr>
        <p:spPr>
          <a:xfrm>
            <a:off x="7223760" y="1600200"/>
            <a:ext cx="4206240" cy="411480"/>
          </a:xfrm>
          <a:prstGeom prst="rect">
            <a:avLst/>
          </a:prstGeom>
          <a:noFill/>
          <a:ln/>
        </p:spPr>
        <p:txBody>
          <a:bodyPr wrap="square" lIns="0" tIns="0" rIns="0" bIns="0" rtlCol="0" anchor="t"/>
          <a:lstStyle/>
          <a:p>
            <a:pPr algn="l" indent="0" marL="0">
              <a:buNone/>
            </a:pPr>
            <a:r>
              <a:rPr lang="en-US" sz="1800" b="1" dirty="0">
                <a:solidFill>
                  <a:schemeClr val="tx2"/>
                </a:solidFill>
              </a:rPr>
              <a:t>Cosa si trascura</a:t>
            </a:r>
            <a:endParaRPr lang="en-US" sz="1800" dirty="0"/>
          </a:p>
        </p:txBody>
      </p:sp>
      <p:sp>
        <p:nvSpPr>
          <p:cNvPr id="23" name="Text 21"/>
          <p:cNvSpPr txBox="1"/>
          <p:nvPr/>
        </p:nvSpPr>
        <p:spPr>
          <a:xfrm>
            <a:off x="7223760" y="2148840"/>
            <a:ext cx="4206240" cy="32918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Imbardata e rollio: trattati a parte (modello di imbardata disaccoppiato)</a:t>
            </a:r>
            <a:endParaRPr lang="en-US" sz="1400" dirty="0"/>
          </a:p>
          <a:p>
            <a:pPr marL="203200" indent="-203200">
              <a:spcAft>
                <a:spcPts val="800"/>
              </a:spcAft>
              <a:buSzPct val="100000"/>
              <a:buChar char="•"/>
            </a:pPr>
            <a:r>
              <a:rPr lang="en-US" sz="1400" dirty="0">
                <a:solidFill>
                  <a:schemeClr val="tx1"/>
                </a:solidFill>
              </a:rPr>
              <a:t>Slittamento e perdita di contatto delle ruote</a:t>
            </a:r>
            <a:endParaRPr lang="en-US" sz="1400" dirty="0"/>
          </a:p>
          <a:p>
            <a:pPr marL="203200" indent="-203200">
              <a:spcAft>
                <a:spcPts val="800"/>
              </a:spcAft>
              <a:buSzPct val="100000"/>
              <a:buChar char="•"/>
            </a:pPr>
            <a:r>
              <a:rPr lang="en-US" sz="1400" dirty="0">
                <a:solidFill>
                  <a:schemeClr val="tx1"/>
                </a:solidFill>
              </a:rPr>
              <a:t>Smorzamento dei giunti (0,8 N·m·s/rad): i controllori lo compensano</a:t>
            </a:r>
            <a:endParaRPr lang="en-US" sz="1400" dirty="0"/>
          </a:p>
          <a:p>
            <a:pPr marL="203200" indent="-203200">
              <a:spcAft>
                <a:spcPts val="800"/>
              </a:spcAft>
              <a:buSzPct val="100000"/>
              <a:buChar char="•"/>
            </a:pPr>
            <a:r>
              <a:rPr lang="en-US" sz="1400" dirty="0">
                <a:solidFill>
                  <a:schemeClr val="tx1"/>
                </a:solidFill>
              </a:rPr>
              <a:t>Dinamica dei motori, ritardi, campionamento a 500 Hz</a:t>
            </a:r>
            <a:endParaRPr lang="en-US" sz="1400" dirty="0"/>
          </a:p>
          <a:p>
            <a:pPr marL="203200" indent="-203200">
              <a:spcAft>
                <a:spcPts val="800"/>
              </a:spcAft>
              <a:buSzPct val="100000"/>
              <a:buChar char="•"/>
            </a:pPr>
            <a:r>
              <a:rPr lang="en-US" sz="1400" dirty="0">
                <a:solidFill>
                  <a:schemeClr val="tx1"/>
                </a:solidFill>
              </a:rPr>
              <a:t>Camber e larghezza della ruota cilindrica (56 mm)</a:t>
            </a:r>
            <a:endParaRPr lang="en-US" sz="1400" dirty="0"/>
          </a:p>
        </p:txBody>
      </p:sp>
      <p:sp>
        <p:nvSpPr>
          <p:cNvPr id="24" name="Text 22"/>
          <p:cNvSpPr txBox="1"/>
          <p:nvPr/>
        </p:nvSpPr>
        <p:spPr>
          <a:xfrm>
            <a:off x="548640" y="5897880"/>
            <a:ext cx="10972800" cy="320040"/>
          </a:xfrm>
          <a:prstGeom prst="rect">
            <a:avLst/>
          </a:prstGeom>
          <a:noFill/>
          <a:ln/>
        </p:spPr>
        <p:txBody>
          <a:bodyPr wrap="square" lIns="0" tIns="0" rIns="0" bIns="0" rtlCol="0" anchor="t"/>
          <a:lstStyle/>
          <a:p>
            <a:pPr algn="l" indent="0" marL="0">
              <a:buNone/>
            </a:pPr>
            <a:r>
              <a:rPr lang="en-US" sz="1200" i="1" dirty="0">
                <a:solidFill>
                  <a:schemeClr val="accent4"/>
                </a:solidFill>
              </a:rPr>
              <a:t>Struttura: Matlab/SMC/init.m (Cui et al., 2022) · Parametri: URDF di RoTino</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Coordinate generalizzate</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sp>
        <p:nvSpPr>
          <p:cNvPr id="5" name="Shape 3"/>
          <p:cNvSpPr/>
          <p:nvPr/>
        </p:nvSpPr>
        <p:spPr>
          <a:xfrm>
            <a:off x="641909" y="5888736"/>
            <a:ext cx="3686861" cy="91"/>
          </a:xfrm>
          <a:prstGeom prst="line">
            <a:avLst/>
          </a:prstGeom>
          <a:noFill/>
          <a:ln w="19050">
            <a:solidFill>
              <a:schemeClr val="tx2"/>
            </a:solidFill>
            <a:prstDash val="solid"/>
          </a:ln>
        </p:spPr>
      </p:sp>
      <p:sp>
        <p:nvSpPr>
          <p:cNvPr id="6" name="Shape 4"/>
          <p:cNvSpPr/>
          <p:nvPr/>
        </p:nvSpPr>
        <p:spPr>
          <a:xfrm>
            <a:off x="1691640" y="2063618"/>
            <a:ext cx="1920240" cy="1408176"/>
          </a:xfrm>
          <a:prstGeom prst="roundRect">
            <a:avLst>
              <a:gd name="adj" fmla="val 3896"/>
            </a:avLst>
          </a:prstGeom>
          <a:solidFill>
            <a:schemeClr val="accent5"/>
          </a:solidFill>
          <a:ln w="12700">
            <a:solidFill>
              <a:schemeClr val="accent5"/>
            </a:solidFill>
            <a:prstDash val="solid"/>
          </a:ln>
        </p:spPr>
      </p:sp>
      <p:sp>
        <p:nvSpPr>
          <p:cNvPr id="7" name="Shape 5"/>
          <p:cNvSpPr/>
          <p:nvPr/>
        </p:nvSpPr>
        <p:spPr>
          <a:xfrm>
            <a:off x="2459736" y="3113349"/>
            <a:ext cx="896112" cy="460858"/>
          </a:xfrm>
          <a:prstGeom prst="rect">
            <a:avLst/>
          </a:prstGeom>
          <a:solidFill>
            <a:schemeClr val="tx2"/>
          </a:solidFill>
          <a:ln w="12700">
            <a:solidFill>
              <a:schemeClr val="tx2"/>
            </a:solidFill>
            <a:prstDash val="solid"/>
          </a:ln>
        </p:spPr>
      </p:sp>
      <p:sp>
        <p:nvSpPr>
          <p:cNvPr id="8" name="Shape 6"/>
          <p:cNvSpPr/>
          <p:nvPr/>
        </p:nvSpPr>
        <p:spPr>
          <a:xfrm>
            <a:off x="1155253" y="3944173"/>
            <a:ext cx="1176467" cy="1176467"/>
          </a:xfrm>
          <a:prstGeom prst="line">
            <a:avLst/>
          </a:prstGeom>
          <a:noFill/>
          <a:ln w="88900">
            <a:solidFill>
              <a:schemeClr val="accent1"/>
            </a:solidFill>
            <a:prstDash val="solid"/>
          </a:ln>
        </p:spPr>
      </p:sp>
      <p:sp>
        <p:nvSpPr>
          <p:cNvPr id="9" name="Shape 7"/>
          <p:cNvSpPr/>
          <p:nvPr/>
        </p:nvSpPr>
        <p:spPr>
          <a:xfrm flipV="1">
            <a:off x="1155253" y="2767706"/>
            <a:ext cx="1176467" cy="1176467"/>
          </a:xfrm>
          <a:prstGeom prst="line">
            <a:avLst/>
          </a:prstGeom>
          <a:noFill/>
          <a:ln w="88900">
            <a:solidFill>
              <a:schemeClr val="accent1"/>
            </a:solidFill>
            <a:prstDash val="solid"/>
          </a:ln>
        </p:spPr>
      </p:sp>
      <p:sp>
        <p:nvSpPr>
          <p:cNvPr id="10" name="Shape 8"/>
          <p:cNvSpPr/>
          <p:nvPr/>
        </p:nvSpPr>
        <p:spPr>
          <a:xfrm>
            <a:off x="1563624" y="4352544"/>
            <a:ext cx="1536192" cy="1536192"/>
          </a:xfrm>
          <a:prstGeom prst="ellipse">
            <a:avLst/>
          </a:prstGeom>
          <a:solidFill>
            <a:schemeClr val="tx1"/>
          </a:solidFill>
          <a:ln w="12700">
            <a:solidFill>
              <a:schemeClr val="tx1"/>
            </a:solidFill>
            <a:prstDash val="solid"/>
          </a:ln>
        </p:spPr>
      </p:sp>
      <p:sp>
        <p:nvSpPr>
          <p:cNvPr id="11" name="Shape 9"/>
          <p:cNvSpPr/>
          <p:nvPr/>
        </p:nvSpPr>
        <p:spPr>
          <a:xfrm>
            <a:off x="2011680" y="4800600"/>
            <a:ext cx="640080" cy="640080"/>
          </a:xfrm>
          <a:prstGeom prst="ellipse">
            <a:avLst/>
          </a:prstGeom>
          <a:solidFill>
            <a:schemeClr val="accent2"/>
          </a:solidFill>
          <a:ln w="12700">
            <a:solidFill>
              <a:schemeClr val="accent2"/>
            </a:solidFill>
            <a:prstDash val="solid"/>
          </a:ln>
        </p:spPr>
      </p:sp>
      <p:sp>
        <p:nvSpPr>
          <p:cNvPr id="12" name="Shape 10"/>
          <p:cNvSpPr/>
          <p:nvPr/>
        </p:nvSpPr>
        <p:spPr>
          <a:xfrm>
            <a:off x="1001634" y="3790554"/>
            <a:ext cx="307238" cy="307238"/>
          </a:xfrm>
          <a:prstGeom prst="ellipse">
            <a:avLst/>
          </a:prstGeom>
          <a:solidFill>
            <a:schemeClr val="bg1"/>
          </a:solidFill>
          <a:ln w="15875">
            <a:solidFill>
              <a:schemeClr val="tx2"/>
            </a:solidFill>
            <a:prstDash val="solid"/>
          </a:ln>
        </p:spPr>
      </p:sp>
      <p:sp>
        <p:nvSpPr>
          <p:cNvPr id="13" name="Shape 11"/>
          <p:cNvSpPr/>
          <p:nvPr/>
        </p:nvSpPr>
        <p:spPr>
          <a:xfrm>
            <a:off x="2178101" y="2614087"/>
            <a:ext cx="307238" cy="307238"/>
          </a:xfrm>
          <a:prstGeom prst="ellipse">
            <a:avLst/>
          </a:prstGeom>
          <a:solidFill>
            <a:schemeClr val="bg1"/>
          </a:solidFill>
          <a:ln w="15875">
            <a:solidFill>
              <a:schemeClr val="tx2"/>
            </a:solidFill>
            <a:prstDash val="solid"/>
          </a:ln>
        </p:spPr>
      </p:sp>
      <p:sp>
        <p:nvSpPr>
          <p:cNvPr id="14" name="Shape 12"/>
          <p:cNvSpPr/>
          <p:nvPr/>
        </p:nvSpPr>
        <p:spPr>
          <a:xfrm>
            <a:off x="2331720" y="5120640"/>
            <a:ext cx="1234440" cy="91"/>
          </a:xfrm>
          <a:prstGeom prst="line">
            <a:avLst/>
          </a:prstGeom>
          <a:noFill/>
          <a:ln w="12700">
            <a:solidFill>
              <a:schemeClr val="accent4"/>
            </a:solidFill>
            <a:prstDash val="dash"/>
          </a:ln>
        </p:spPr>
      </p:sp>
      <p:sp>
        <p:nvSpPr>
          <p:cNvPr id="15" name="Shape 13"/>
          <p:cNvSpPr/>
          <p:nvPr/>
        </p:nvSpPr>
        <p:spPr>
          <a:xfrm>
            <a:off x="2331720" y="1350386"/>
            <a:ext cx="91" cy="1417320"/>
          </a:xfrm>
          <a:prstGeom prst="line">
            <a:avLst/>
          </a:prstGeom>
          <a:noFill/>
          <a:ln w="12700">
            <a:solidFill>
              <a:schemeClr val="accent4"/>
            </a:solidFill>
            <a:prstDash val="dash"/>
          </a:ln>
        </p:spPr>
      </p:sp>
      <p:sp>
        <p:nvSpPr>
          <p:cNvPr id="16" name="Text 14"/>
          <p:cNvSpPr txBox="1"/>
          <p:nvPr/>
        </p:nvSpPr>
        <p:spPr>
          <a:xfrm>
            <a:off x="1371600" y="4251960"/>
            <a:ext cx="457200" cy="320040"/>
          </a:xfrm>
          <a:prstGeom prst="rect">
            <a:avLst/>
          </a:prstGeom>
          <a:noFill/>
          <a:ln/>
        </p:spPr>
        <p:txBody>
          <a:bodyPr wrap="square" lIns="0" tIns="0" rIns="0" bIns="0" rtlCol="0" anchor="t"/>
          <a:lstStyle/>
          <a:p>
            <a:pPr algn="l" indent="0" marL="0">
              <a:buNone/>
            </a:pPr>
            <a:r>
              <a:rPr lang="en-US" sz="1600" b="1" dirty="0">
                <a:solidFill>
                  <a:schemeClr val="accent1"/>
                </a:solidFill>
              </a:rPr>
              <a:t>q</a:t>
            </a:r>
            <a:r>
              <a:rPr lang="en-US" sz="1600" b="1" baseline="-40000" dirty="0">
                <a:solidFill>
                  <a:schemeClr val="accent1"/>
                </a:solidFill>
              </a:rPr>
              <a:t>1</a:t>
            </a:r>
            <a:endParaRPr lang="en-US" sz="1600" dirty="0"/>
          </a:p>
        </p:txBody>
      </p:sp>
      <p:sp>
        <p:nvSpPr>
          <p:cNvPr id="17" name="Text 15"/>
          <p:cNvSpPr txBox="1"/>
          <p:nvPr/>
        </p:nvSpPr>
        <p:spPr>
          <a:xfrm>
            <a:off x="588325" y="3761293"/>
            <a:ext cx="457200" cy="320040"/>
          </a:xfrm>
          <a:prstGeom prst="rect">
            <a:avLst/>
          </a:prstGeom>
          <a:noFill/>
          <a:ln/>
        </p:spPr>
        <p:txBody>
          <a:bodyPr wrap="square" lIns="0" tIns="0" rIns="0" bIns="0" rtlCol="0" anchor="t"/>
          <a:lstStyle/>
          <a:p>
            <a:pPr algn="l" indent="0" marL="0">
              <a:buNone/>
            </a:pPr>
            <a:r>
              <a:rPr lang="en-US" sz="1600" b="1" dirty="0">
                <a:solidFill>
                  <a:schemeClr val="accent1"/>
                </a:solidFill>
              </a:rPr>
              <a:t>q</a:t>
            </a:r>
            <a:r>
              <a:rPr lang="en-US" sz="1600" b="1" baseline="-40000" dirty="0">
                <a:solidFill>
                  <a:schemeClr val="accent1"/>
                </a:solidFill>
              </a:rPr>
              <a:t>2</a:t>
            </a:r>
            <a:endParaRPr lang="en-US" sz="1600" dirty="0"/>
          </a:p>
        </p:txBody>
      </p:sp>
      <p:sp>
        <p:nvSpPr>
          <p:cNvPr id="18" name="Text 16"/>
          <p:cNvSpPr txBox="1"/>
          <p:nvPr/>
        </p:nvSpPr>
        <p:spPr>
          <a:xfrm>
            <a:off x="2441448" y="1396106"/>
            <a:ext cx="457200" cy="320040"/>
          </a:xfrm>
          <a:prstGeom prst="rect">
            <a:avLst/>
          </a:prstGeom>
          <a:noFill/>
          <a:ln/>
        </p:spPr>
        <p:txBody>
          <a:bodyPr wrap="square" lIns="0" tIns="0" rIns="0" bIns="0" rtlCol="0" anchor="t"/>
          <a:lstStyle/>
          <a:p>
            <a:pPr algn="l" indent="0" marL="0">
              <a:buNone/>
            </a:pPr>
            <a:r>
              <a:rPr lang="en-US" sz="1600" b="1" dirty="0">
                <a:solidFill>
                  <a:schemeClr val="accent1"/>
                </a:solidFill>
              </a:rPr>
              <a:t>q</a:t>
            </a:r>
            <a:r>
              <a:rPr lang="en-US" sz="1600" b="1" baseline="-40000" dirty="0">
                <a:solidFill>
                  <a:schemeClr val="accent1"/>
                </a:solidFill>
              </a:rPr>
              <a:t>3</a:t>
            </a:r>
            <a:endParaRPr lang="en-US" sz="1600" dirty="0"/>
          </a:p>
        </p:txBody>
      </p:sp>
      <p:sp>
        <p:nvSpPr>
          <p:cNvPr id="19" name="Text 17"/>
          <p:cNvSpPr txBox="1"/>
          <p:nvPr/>
        </p:nvSpPr>
        <p:spPr>
          <a:xfrm>
            <a:off x="3200400" y="5394960"/>
            <a:ext cx="457200" cy="320040"/>
          </a:xfrm>
          <a:prstGeom prst="rect">
            <a:avLst/>
          </a:prstGeom>
          <a:noFill/>
          <a:ln/>
        </p:spPr>
        <p:txBody>
          <a:bodyPr wrap="square" lIns="0" tIns="0" rIns="0" bIns="0" rtlCol="0" anchor="t"/>
          <a:lstStyle/>
          <a:p>
            <a:pPr algn="l" indent="0" marL="0">
              <a:buNone/>
            </a:pPr>
            <a:r>
              <a:rPr lang="en-US" sz="1600" b="1" dirty="0">
                <a:solidFill>
                  <a:schemeClr val="accent2"/>
                </a:solidFill>
              </a:rPr>
              <a:t>q</a:t>
            </a:r>
            <a:r>
              <a:rPr lang="en-US" sz="1600" b="1" baseline="-40000" dirty="0">
                <a:solidFill>
                  <a:schemeClr val="accent2"/>
                </a:solidFill>
              </a:rPr>
              <a:t>w</a:t>
            </a:r>
            <a:endParaRPr lang="en-US" sz="1600" dirty="0"/>
          </a:p>
        </p:txBody>
      </p:sp>
      <p:sp>
        <p:nvSpPr>
          <p:cNvPr id="20" name="Text 18"/>
          <p:cNvSpPr txBox="1"/>
          <p:nvPr/>
        </p:nvSpPr>
        <p:spPr>
          <a:xfrm>
            <a:off x="3611880" y="4956048"/>
            <a:ext cx="274320" cy="274320"/>
          </a:xfrm>
          <a:prstGeom prst="rect">
            <a:avLst/>
          </a:prstGeom>
          <a:noFill/>
          <a:ln/>
        </p:spPr>
        <p:txBody>
          <a:bodyPr wrap="square" lIns="0" tIns="0" rIns="0" bIns="0" rtlCol="0" anchor="t"/>
          <a:lstStyle/>
          <a:p>
            <a:pPr algn="l" indent="0" marL="0">
              <a:buNone/>
            </a:pPr>
            <a:r>
              <a:rPr lang="en-US" sz="1200" dirty="0">
                <a:solidFill>
                  <a:schemeClr val="accent4"/>
                </a:solidFill>
              </a:rPr>
              <a:t>x</a:t>
            </a:r>
            <a:endParaRPr lang="en-US" sz="1200" dirty="0"/>
          </a:p>
        </p:txBody>
      </p:sp>
      <p:sp>
        <p:nvSpPr>
          <p:cNvPr id="21" name="Text 19"/>
          <p:cNvSpPr txBox="1"/>
          <p:nvPr/>
        </p:nvSpPr>
        <p:spPr>
          <a:xfrm>
            <a:off x="378013" y="4264213"/>
            <a:ext cx="731520" cy="274320"/>
          </a:xfrm>
          <a:prstGeom prst="rect">
            <a:avLst/>
          </a:prstGeom>
          <a:noFill/>
          <a:ln/>
        </p:spPr>
        <p:txBody>
          <a:bodyPr wrap="square" lIns="0" tIns="0" rIns="0" bIns="0" rtlCol="0" anchor="t"/>
          <a:lstStyle/>
          <a:p>
            <a:pPr algn="l" indent="0" marL="0">
              <a:buNone/>
            </a:pPr>
            <a:r>
              <a:rPr lang="en-US" sz="1100" dirty="0">
                <a:solidFill>
                  <a:schemeClr val="accent4"/>
                </a:solidFill>
              </a:rPr>
              <a:t>stinco</a:t>
            </a:r>
            <a:endParaRPr lang="en-US" sz="1100" dirty="0"/>
          </a:p>
        </p:txBody>
      </p:sp>
      <p:sp>
        <p:nvSpPr>
          <p:cNvPr id="22" name="Text 20"/>
          <p:cNvSpPr txBox="1"/>
          <p:nvPr/>
        </p:nvSpPr>
        <p:spPr>
          <a:xfrm>
            <a:off x="1703893" y="3807013"/>
            <a:ext cx="731520" cy="274320"/>
          </a:xfrm>
          <a:prstGeom prst="rect">
            <a:avLst/>
          </a:prstGeom>
          <a:noFill/>
          <a:ln/>
        </p:spPr>
        <p:txBody>
          <a:bodyPr wrap="square" lIns="0" tIns="0" rIns="0" bIns="0" rtlCol="0" anchor="t"/>
          <a:lstStyle/>
          <a:p>
            <a:pPr algn="l" indent="0" marL="0">
              <a:buNone/>
            </a:pPr>
            <a:r>
              <a:rPr lang="en-US" sz="1100" dirty="0">
                <a:solidFill>
                  <a:schemeClr val="accent4"/>
                </a:solidFill>
              </a:rPr>
              <a:t>coscia</a:t>
            </a:r>
            <a:endParaRPr lang="en-US" sz="1100" dirty="0"/>
          </a:p>
        </p:txBody>
      </p:sp>
      <p:sp>
        <p:nvSpPr>
          <p:cNvPr id="23" name="Text 21"/>
          <p:cNvSpPr txBox="1"/>
          <p:nvPr/>
        </p:nvSpPr>
        <p:spPr>
          <a:xfrm>
            <a:off x="1691640" y="1670426"/>
            <a:ext cx="731520" cy="274320"/>
          </a:xfrm>
          <a:prstGeom prst="rect">
            <a:avLst/>
          </a:prstGeom>
          <a:noFill/>
          <a:ln/>
        </p:spPr>
        <p:txBody>
          <a:bodyPr wrap="square" lIns="0" tIns="0" rIns="0" bIns="0" rtlCol="0" anchor="t"/>
          <a:lstStyle/>
          <a:p>
            <a:pPr algn="l" indent="0" marL="0">
              <a:buNone/>
            </a:pPr>
            <a:r>
              <a:rPr lang="en-US" sz="1100" dirty="0">
                <a:solidFill>
                  <a:schemeClr val="accent4"/>
                </a:solidFill>
              </a:rPr>
              <a:t>torso</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0" y="1417320"/>
          <a:ext cx="7068312" cy="914400"/>
        </p:xfrm>
        <a:graphic>
          <a:graphicData uri="http://schemas.openxmlformats.org/drawingml/2006/table">
            <a:tbl>
              <a:tblPr/>
              <a:tblGrid>
                <a:gridCol w="640080"/>
                <a:gridCol w="3410712"/>
                <a:gridCol w="1645920"/>
                <a:gridCol w="1371600"/>
              </a:tblGrid>
              <a:tr h="457200">
                <a:tc>
                  <a:txBody>
                    <a:bodyPr/>
                    <a:lstStyle/>
                    <a:p>
                      <a:pPr algn="ctr" indent="0" marL="0">
                        <a:buNone/>
                      </a:pPr>
                      <a:r>
                        <a:rPr lang="en-US" sz="1300" b="1" dirty="0">
                          <a:solidFill>
                            <a:schemeClr val="bg1"/>
                          </a:solidFill>
                        </a:rPr>
                        <a:t>q</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c>
                  <a:txBody>
                    <a:bodyPr/>
                    <a:lstStyle/>
                    <a:p>
                      <a:pPr algn="l" indent="0" marL="0">
                        <a:buNone/>
                      </a:pPr>
                      <a:r>
                        <a:rPr lang="en-US" sz="1300" b="1" dirty="0">
                          <a:solidFill>
                            <a:schemeClr val="bg1"/>
                          </a:solidFill>
                        </a:rPr>
                        <a:t>Significato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c>
                  <a:txBody>
                    <a:bodyPr/>
                    <a:lstStyle/>
                    <a:p>
                      <a:pPr algn="l" indent="0" marL="0">
                        <a:buNone/>
                      </a:pPr>
                      <a:r>
                        <a:rPr lang="en-US" sz="1300" b="1" dirty="0">
                          <a:solidFill>
                            <a:schemeClr val="bg1"/>
                          </a:solidFill>
                        </a:rPr>
                        <a:t>Attuazione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c>
                  <a:txBody>
                    <a:bodyPr/>
                    <a:lstStyle/>
                    <a:p>
                      <a:pPr algn="ctr" indent="0" marL="0">
                        <a:buNone/>
                      </a:pPr>
                      <a:r>
                        <a:rPr lang="en-US" sz="1300" b="1" dirty="0">
                          <a:solidFill>
                            <a:schemeClr val="bg1"/>
                          </a:solidFill>
                        </a:rPr>
                        <a:t>Posa nominale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r>
              <a:tr h="457200">
                <a:tc>
                  <a:txBody>
                    <a:bodyPr/>
                    <a:lstStyle/>
                    <a:p>
                      <a:pPr algn="ctr" indent="0" marL="0">
                        <a:buNone/>
                      </a:pPr>
                      <a:r>
                        <a:rPr lang="en-US" sz="1300" dirty="0">
                          <a:solidFill>
                            <a:schemeClr val="tx1"/>
                          </a:solidFill>
                        </a:rPr>
                        <a:t>q</a:t>
                      </a:r>
                      <a:r>
                        <a:rPr lang="en-US" sz="1300" baseline="-40000" dirty="0">
                          <a:solidFill>
                            <a:schemeClr val="tx1"/>
                          </a:solidFill>
                        </a:rPr>
                        <a:t>1</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angolo assoluto dello stinco dall'orizzontale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b="1" dirty="0">
                          <a:solidFill>
                            <a:schemeClr val="tx1"/>
                          </a:solidFill>
                        </a:rPr>
                        <a:t>passivo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135°</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457200">
                <a:tc>
                  <a:txBody>
                    <a:bodyPr/>
                    <a:lstStyle/>
                    <a:p>
                      <a:pPr algn="ctr" indent="0" marL="0">
                        <a:buNone/>
                      </a:pPr>
                      <a:r>
                        <a:rPr lang="en-US" sz="1300" dirty="0">
                          <a:solidFill>
                            <a:schemeClr val="tx1"/>
                          </a:solidFill>
                        </a:rPr>
                        <a:t>q</a:t>
                      </a:r>
                      <a:r>
                        <a:rPr lang="en-US" sz="1300" baseline="-40000" dirty="0">
                          <a:solidFill>
                            <a:schemeClr val="tx1"/>
                          </a:solidFill>
                        </a:rPr>
                        <a:t>w</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rotazione assoluta della ruota, s</a:t>
                      </a:r>
                      <a:r>
                        <a:rPr lang="en-US" sz="1300" baseline="-40000" dirty="0">
                          <a:solidFill>
                            <a:schemeClr val="tx1"/>
                          </a:solidFill>
                        </a:rPr>
                        <a:t>w</a:t>
                      </a:r>
                      <a:r>
                        <a:rPr lang="en-US" sz="1300" dirty="0">
                          <a:solidFill>
                            <a:schemeClr val="tx1"/>
                          </a:solidFill>
                        </a:rPr>
                        <a:t> = r q</a:t>
                      </a:r>
                      <a:r>
                        <a:rPr lang="en-US" sz="1300" baseline="-40000" dirty="0">
                          <a:solidFill>
                            <a:schemeClr val="tx1"/>
                          </a:solidFill>
                        </a:rPr>
                        <a:t>w</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τ</a:t>
                      </a:r>
                      <a:r>
                        <a:rPr lang="en-US" sz="1300" baseline="-40000" dirty="0">
                          <a:solidFill>
                            <a:schemeClr val="tx1"/>
                          </a:solidFill>
                        </a:rPr>
                        <a:t>w</a:t>
                      </a:r>
                      <a:r>
                        <a:rPr lang="en-US" sz="1300" dirty="0">
                          <a:solidFill>
                            <a:schemeClr val="tx1"/>
                          </a:solidFill>
                        </a:rPr>
                        <a:t> ruota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457200">
                <a:tc>
                  <a:txBody>
                    <a:bodyPr/>
                    <a:lstStyle/>
                    <a:p>
                      <a:pPr algn="ctr" indent="0" marL="0">
                        <a:buNone/>
                      </a:pPr>
                      <a:r>
                        <a:rPr lang="en-US" sz="1300" dirty="0">
                          <a:solidFill>
                            <a:schemeClr val="tx1"/>
                          </a:solidFill>
                        </a:rPr>
                        <a:t>q</a:t>
                      </a:r>
                      <a:r>
                        <a:rPr lang="en-US" sz="1300" baseline="-40000" dirty="0">
                          <a:solidFill>
                            <a:schemeClr val="tx1"/>
                          </a:solidFill>
                        </a:rPr>
                        <a:t>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ginocchio relativo (coscia = q</a:t>
                      </a:r>
                      <a:r>
                        <a:rPr lang="en-US" sz="1300" baseline="-40000" dirty="0">
                          <a:solidFill>
                            <a:schemeClr val="tx1"/>
                          </a:solidFill>
                        </a:rPr>
                        <a:t>1</a:t>
                      </a:r>
                      <a:r>
                        <a:rPr lang="en-US" sz="1300" dirty="0">
                          <a:solidFill>
                            <a:schemeClr val="tx1"/>
                          </a:solidFill>
                        </a:rPr>
                        <a:t> + q</a:t>
                      </a:r>
                      <a:r>
                        <a:rPr lang="en-US" sz="1300" baseline="-40000" dirty="0">
                          <a:solidFill>
                            <a:schemeClr val="tx1"/>
                          </a:solidFill>
                        </a:rPr>
                        <a:t>2</a:t>
                      </a:r>
                      <a:r>
                        <a:rPr lang="en-US" sz="1300" dirty="0">
                          <a:solidFill>
                            <a:schemeClr val="tx1"/>
                          </a:solidFill>
                        </a:rPr>
                        <a:t>)</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τ</a:t>
                      </a:r>
                      <a:r>
                        <a:rPr lang="en-US" sz="1300" baseline="-40000" dirty="0">
                          <a:solidFill>
                            <a:schemeClr val="tx1"/>
                          </a:solidFill>
                        </a:rPr>
                        <a:t>k</a:t>
                      </a:r>
                      <a:r>
                        <a:rPr lang="en-US" sz="1300" dirty="0">
                          <a:solidFill>
                            <a:schemeClr val="tx1"/>
                          </a:solidFill>
                        </a:rPr>
                        <a:t> ginocchio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−90°</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457200">
                <a:tc>
                  <a:txBody>
                    <a:bodyPr/>
                    <a:lstStyle/>
                    <a:p>
                      <a:pPr algn="ctr" indent="0" marL="0">
                        <a:buNone/>
                      </a:pPr>
                      <a:r>
                        <a:rPr lang="en-US" sz="1300" dirty="0">
                          <a:solidFill>
                            <a:schemeClr val="tx1"/>
                          </a:solidFill>
                        </a:rPr>
                        <a:t>q</a:t>
                      </a:r>
                      <a:r>
                        <a:rPr lang="en-US" sz="1300" baseline="-40000" dirty="0">
                          <a:solidFill>
                            <a:schemeClr val="tx1"/>
                          </a:solidFill>
                        </a:rPr>
                        <a:t>3</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beccheggio del torso dalla verticale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τ</a:t>
                      </a:r>
                      <a:r>
                        <a:rPr lang="en-US" sz="1300" baseline="-40000" dirty="0">
                          <a:solidFill>
                            <a:schemeClr val="tx1"/>
                          </a:solidFill>
                        </a:rPr>
                        <a:t>h</a:t>
                      </a:r>
                      <a:r>
                        <a:rPr lang="en-US" sz="1300" dirty="0">
                          <a:solidFill>
                            <a:schemeClr val="tx1"/>
                          </a:solidFill>
                        </a:rPr>
                        <a:t> anca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bl>
          </a:graphicData>
        </a:graphic>
      </p:graphicFrame>
      <p:sp>
        <p:nvSpPr>
          <p:cNvPr id="25" name="Shape 22"/>
          <p:cNvSpPr/>
          <p:nvPr/>
        </p:nvSpPr>
        <p:spPr>
          <a:xfrm>
            <a:off x="4572000" y="4023360"/>
            <a:ext cx="7068312" cy="1737360"/>
          </a:xfrm>
          <a:prstGeom prst="roundRect">
            <a:avLst>
              <a:gd name="adj" fmla="val 4211"/>
            </a:avLst>
          </a:prstGeom>
          <a:solidFill>
            <a:schemeClr val="bg2"/>
          </a:solidFill>
          <a:ln w="12700">
            <a:solidFill>
              <a:schemeClr val="bg2"/>
            </a:solidFill>
            <a:prstDash val="solid"/>
          </a:ln>
        </p:spPr>
      </p:sp>
      <p:sp>
        <p:nvSpPr>
          <p:cNvPr id="26" name="Shape 23"/>
          <p:cNvSpPr/>
          <p:nvPr/>
        </p:nvSpPr>
        <p:spPr>
          <a:xfrm>
            <a:off x="4754880" y="4206240"/>
            <a:ext cx="420624" cy="420624"/>
          </a:xfrm>
          <a:prstGeom prst="ellipse">
            <a:avLst/>
          </a:prstGeom>
          <a:solidFill>
            <a:schemeClr val="accent4"/>
          </a:solidFill>
          <a:ln w="12700">
            <a:solidFill>
              <a:schemeClr val="accent4"/>
            </a:solidFill>
            <a:prstDash val="solid"/>
          </a:ln>
        </p:spPr>
      </p:sp>
      <p:sp>
        <p:nvSpPr>
          <p:cNvPr id="27" name="Text 24"/>
          <p:cNvSpPr txBox="1"/>
          <p:nvPr/>
        </p:nvSpPr>
        <p:spPr>
          <a:xfrm>
            <a:off x="4754880" y="4206240"/>
            <a:ext cx="420624" cy="420624"/>
          </a:xfrm>
          <a:prstGeom prst="rect">
            <a:avLst/>
          </a:prstGeom>
          <a:noFill/>
          <a:ln/>
        </p:spPr>
        <p:txBody>
          <a:bodyPr wrap="square" lIns="0" tIns="0" rIns="0" bIns="0" rtlCol="0" anchor="ctr"/>
          <a:lstStyle/>
          <a:p>
            <a:pPr algn="ctr" indent="0" marL="0">
              <a:buNone/>
            </a:pPr>
            <a:r>
              <a:rPr lang="en-US" sz="1100" b="1" dirty="0">
                <a:solidFill>
                  <a:schemeClr val="bg1"/>
                </a:solidFill>
              </a:rPr>
              <a:t>4−3</a:t>
            </a:r>
            <a:endParaRPr lang="en-US" sz="1100" dirty="0"/>
          </a:p>
        </p:txBody>
      </p:sp>
      <p:sp>
        <p:nvSpPr>
          <p:cNvPr id="28" name="Text 25"/>
          <p:cNvSpPr txBox="1"/>
          <p:nvPr/>
        </p:nvSpPr>
        <p:spPr>
          <a:xfrm>
            <a:off x="5303520" y="4206240"/>
            <a:ext cx="6153912" cy="420624"/>
          </a:xfrm>
          <a:prstGeom prst="rect">
            <a:avLst/>
          </a:prstGeom>
          <a:noFill/>
          <a:ln/>
        </p:spPr>
        <p:txBody>
          <a:bodyPr wrap="square" lIns="0" tIns="0" rIns="0" bIns="0" rtlCol="0" anchor="ctr"/>
          <a:lstStyle/>
          <a:p>
            <a:pPr algn="l" indent="0" marL="0">
              <a:buNone/>
            </a:pPr>
            <a:r>
              <a:rPr lang="en-US" sz="1500" b="1" dirty="0">
                <a:solidFill>
                  <a:schemeClr val="tx2"/>
                </a:solidFill>
              </a:rPr>
              <a:t>Quattro coordinate, tre motori</a:t>
            </a:r>
            <a:endParaRPr lang="en-US" sz="1500" dirty="0"/>
          </a:p>
        </p:txBody>
      </p:sp>
      <p:sp>
        <p:nvSpPr>
          <p:cNvPr id="29" name="Text 26"/>
          <p:cNvSpPr txBox="1"/>
          <p:nvPr/>
        </p:nvSpPr>
        <p:spPr>
          <a:xfrm>
            <a:off x="4800600" y="4754880"/>
            <a:ext cx="6656832" cy="868680"/>
          </a:xfrm>
          <a:prstGeom prst="rect">
            <a:avLst/>
          </a:prstGeom>
          <a:noFill/>
          <a:ln/>
        </p:spPr>
        <p:txBody>
          <a:bodyPr wrap="square" lIns="0" tIns="0" rIns="0" bIns="0" rtlCol="0" anchor="t"/>
          <a:lstStyle/>
          <a:p>
            <a:pPr algn="l" indent="0" marL="0">
              <a:buNone/>
            </a:pPr>
            <a:r>
              <a:rPr lang="en-US" sz="1300" dirty="0">
                <a:solidFill>
                  <a:schemeClr val="tx1"/>
                </a:solidFill>
              </a:rPr>
              <a:t>Il torso si comanda con l'anca, ma l'equilibrio dell'insieme passa solo dalle ruote. Dall'URDF: q</a:t>
            </a:r>
            <a:r>
              <a:rPr lang="en-US" sz="1300" baseline="-40000" dirty="0">
                <a:solidFill>
                  <a:schemeClr val="tx1"/>
                </a:solidFill>
              </a:rPr>
              <a:t>1</a:t>
            </a:r>
            <a:r>
              <a:rPr lang="en-US" sz="1300" dirty="0">
                <a:solidFill>
                  <a:schemeClr val="tx1"/>
                </a:solidFill>
              </a:rPr>
              <a:t> = 135° − (θ</a:t>
            </a:r>
            <a:r>
              <a:rPr lang="en-US" sz="1300" baseline="-40000" dirty="0">
                <a:solidFill>
                  <a:schemeClr val="tx1"/>
                </a:solidFill>
              </a:rPr>
              <a:t>pitch</a:t>
            </a:r>
            <a:r>
              <a:rPr lang="en-US" sz="1300" dirty="0">
                <a:solidFill>
                  <a:schemeClr val="tx1"/>
                </a:solidFill>
              </a:rPr>
              <a:t> + q</a:t>
            </a:r>
            <a:r>
              <a:rPr lang="en-US" sz="1300" baseline="-40000" dirty="0">
                <a:solidFill>
                  <a:schemeClr val="tx1"/>
                </a:solidFill>
              </a:rPr>
              <a:t>hip</a:t>
            </a:r>
            <a:r>
              <a:rPr lang="en-US" sz="1300" dirty="0">
                <a:solidFill>
                  <a:schemeClr val="tx1"/>
                </a:solidFill>
              </a:rPr>
              <a:t> + q</a:t>
            </a:r>
            <a:r>
              <a:rPr lang="en-US" sz="1300" baseline="-40000" dirty="0">
                <a:solidFill>
                  <a:schemeClr val="tx1"/>
                </a:solidFill>
              </a:rPr>
              <a:t>knee</a:t>
            </a:r>
            <a:r>
              <a:rPr lang="en-US" sz="1300" dirty="0">
                <a:solidFill>
                  <a:schemeClr val="tx1"/>
                </a:solidFill>
              </a:rPr>
              <a:t>), q</a:t>
            </a:r>
            <a:r>
              <a:rPr lang="en-US" sz="1300" baseline="-40000" dirty="0">
                <a:solidFill>
                  <a:schemeClr val="tx1"/>
                </a:solidFill>
              </a:rPr>
              <a:t>2</a:t>
            </a:r>
            <a:r>
              <a:rPr lang="en-US" sz="1300" dirty="0">
                <a:solidFill>
                  <a:schemeClr val="tx1"/>
                </a:solidFill>
              </a:rPr>
              <a:t> = q</a:t>
            </a:r>
            <a:r>
              <a:rPr lang="en-US" sz="1300" baseline="-40000" dirty="0">
                <a:solidFill>
                  <a:schemeClr val="tx1"/>
                </a:solidFill>
              </a:rPr>
              <a:t>knee</a:t>
            </a:r>
            <a:r>
              <a:rPr lang="en-US" sz="1300" dirty="0">
                <a:solidFill>
                  <a:schemeClr val="tx1"/>
                </a:solidFill>
              </a:rPr>
              <a:t> − 90°, q</a:t>
            </a:r>
            <a:r>
              <a:rPr lang="en-US" sz="1300" baseline="-40000" dirty="0">
                <a:solidFill>
                  <a:schemeClr val="tx1"/>
                </a:solidFill>
              </a:rPr>
              <a:t>3</a:t>
            </a:r>
            <a:r>
              <a:rPr lang="en-US" sz="1300" dirty="0">
                <a:solidFill>
                  <a:schemeClr val="tx1"/>
                </a:solidFill>
              </a:rPr>
              <a:t> = θ</a:t>
            </a:r>
            <a:r>
              <a:rPr lang="en-US" sz="1300" baseline="-40000" dirty="0">
                <a:solidFill>
                  <a:schemeClr val="tx1"/>
                </a:solidFill>
              </a:rPr>
              <a:t>pitch</a:t>
            </a:r>
            <a:r>
              <a:rPr lang="en-US" sz="1300" dirty="0">
                <a:solidFill>
                  <a:schemeClr val="tx1"/>
                </a:solidFill>
              </a:rPr>
              <a:t>.</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Cinematica dei baricentri ed energie</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pic>
        <p:nvPicPr>
          <p:cNvPr id="5" name="Image 0" descr="Formula: cinematica">    </p:cNvPr>
          <p:cNvPicPr>
            <a:picLocks noChangeAspect="1"/>
          </p:cNvPicPr>
          <p:nvPr/>
        </p:nvPicPr>
        <p:blipFill>
          <a:blip r:embed="rId1"/>
          <a:stretch>
            <a:fillRect/>
          </a:stretch>
        </p:blipFill>
        <p:spPr>
          <a:xfrm>
            <a:off x="548640" y="1371600"/>
            <a:ext cx="6035040" cy="2399068"/>
          </a:xfrm>
          <a:prstGeom prst="rect">
            <a:avLst/>
          </a:prstGeom>
        </p:spPr>
      </p:pic>
      <p:sp>
        <p:nvSpPr>
          <p:cNvPr id="6" name="Shape 3"/>
          <p:cNvSpPr/>
          <p:nvPr/>
        </p:nvSpPr>
        <p:spPr>
          <a:xfrm>
            <a:off x="6949440" y="1371600"/>
            <a:ext cx="4690872" cy="2514600"/>
          </a:xfrm>
          <a:prstGeom prst="roundRect">
            <a:avLst>
              <a:gd name="adj" fmla="val 2909"/>
            </a:avLst>
          </a:prstGeom>
          <a:solidFill>
            <a:schemeClr val="bg2"/>
          </a:solidFill>
          <a:ln w="12700">
            <a:solidFill>
              <a:schemeClr val="bg2"/>
            </a:solidFill>
            <a:prstDash val="solid"/>
          </a:ln>
        </p:spPr>
      </p:sp>
      <p:sp>
        <p:nvSpPr>
          <p:cNvPr id="7" name="Text 4"/>
          <p:cNvSpPr txBox="1"/>
          <p:nvPr/>
        </p:nvSpPr>
        <p:spPr>
          <a:xfrm>
            <a:off x="7178040" y="1508760"/>
            <a:ext cx="4297680" cy="365760"/>
          </a:xfrm>
          <a:prstGeom prst="rect">
            <a:avLst/>
          </a:prstGeom>
          <a:noFill/>
          <a:ln/>
        </p:spPr>
        <p:txBody>
          <a:bodyPr wrap="square" lIns="0" tIns="0" rIns="0" bIns="0" rtlCol="0" anchor="t"/>
          <a:lstStyle/>
          <a:p>
            <a:pPr algn="l" indent="0" marL="0">
              <a:buNone/>
            </a:pPr>
            <a:r>
              <a:rPr lang="en-US" sz="1500" b="1" dirty="0">
                <a:solidFill>
                  <a:schemeClr val="tx2"/>
                </a:solidFill>
              </a:rPr>
              <a:t>Parametri (gambe sommate)</a:t>
            </a:r>
            <a:endParaRPr lang="en-US" sz="1500" dirty="0"/>
          </a:p>
        </p:txBody>
      </p:sp>
      <p:sp>
        <p:nvSpPr>
          <p:cNvPr id="8" name="Text 5"/>
          <p:cNvSpPr txBox="1"/>
          <p:nvPr/>
        </p:nvSpPr>
        <p:spPr>
          <a:xfrm>
            <a:off x="7178040" y="1965960"/>
            <a:ext cx="4343400" cy="182880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rPr>
              <a:t>m</a:t>
            </a:r>
            <a:r>
              <a:rPr lang="en-US" sz="1300" baseline="-40000" dirty="0">
                <a:solidFill>
                  <a:schemeClr val="tx1"/>
                </a:solidFill>
              </a:rPr>
              <a:t>1</a:t>
            </a:r>
            <a:r>
              <a:rPr lang="en-US" sz="1300" dirty="0">
                <a:solidFill>
                  <a:schemeClr val="tx1"/>
                </a:solidFill>
              </a:rPr>
              <a:t>, m</a:t>
            </a:r>
            <a:r>
              <a:rPr lang="en-US" sz="1300" baseline="-40000" dirty="0">
                <a:solidFill>
                  <a:schemeClr val="tx1"/>
                </a:solidFill>
              </a:rPr>
              <a:t>2</a:t>
            </a:r>
            <a:r>
              <a:rPr lang="en-US" sz="1300" dirty="0">
                <a:solidFill>
                  <a:schemeClr val="tx1"/>
                </a:solidFill>
              </a:rPr>
              <a:t>, m</a:t>
            </a:r>
            <a:r>
              <a:rPr lang="en-US" sz="1300" baseline="-40000" dirty="0">
                <a:solidFill>
                  <a:schemeClr val="tx1"/>
                </a:solidFill>
              </a:rPr>
              <a:t>3</a:t>
            </a:r>
            <a:r>
              <a:rPr lang="en-US" sz="1300" dirty="0">
                <a:solidFill>
                  <a:schemeClr val="tx1"/>
                </a:solidFill>
              </a:rPr>
              <a:t>, m</a:t>
            </a:r>
            <a:r>
              <a:rPr lang="en-US" sz="1300" baseline="-40000" dirty="0">
                <a:solidFill>
                  <a:schemeClr val="tx1"/>
                </a:solidFill>
              </a:rPr>
              <a:t>w</a:t>
            </a:r>
            <a:r>
              <a:rPr lang="en-US" sz="1300" dirty="0">
                <a:solidFill>
                  <a:schemeClr val="tx1"/>
                </a:solidFill>
              </a:rPr>
              <a:t> = 0,32; 0,36; 2,85; 0,76 kg</a:t>
            </a:r>
            <a:endParaRPr lang="en-US" sz="1300" dirty="0"/>
          </a:p>
          <a:p>
            <a:pPr marL="203200" indent="-203200">
              <a:spcAft>
                <a:spcPts val="500"/>
              </a:spcAft>
              <a:buSzPct val="100000"/>
              <a:buChar char="•"/>
            </a:pPr>
            <a:r>
              <a:rPr lang="en-US" sz="1300" dirty="0">
                <a:solidFill>
                  <a:schemeClr val="tx1"/>
                </a:solidFill>
              </a:rPr>
              <a:t>I</a:t>
            </a:r>
            <a:r>
              <a:rPr lang="en-US" sz="1300" baseline="-40000" dirty="0">
                <a:solidFill>
                  <a:schemeClr val="tx1"/>
                </a:solidFill>
              </a:rPr>
              <a:t>1</a:t>
            </a:r>
            <a:r>
              <a:rPr lang="en-US" sz="1300" dirty="0">
                <a:solidFill>
                  <a:schemeClr val="tx1"/>
                </a:solidFill>
              </a:rPr>
              <a:t>, I</a:t>
            </a:r>
            <a:r>
              <a:rPr lang="en-US" sz="1300" baseline="-40000" dirty="0">
                <a:solidFill>
                  <a:schemeClr val="tx1"/>
                </a:solidFill>
              </a:rPr>
              <a:t>2</a:t>
            </a:r>
            <a:r>
              <a:rPr lang="en-US" sz="1300" dirty="0">
                <a:solidFill>
                  <a:schemeClr val="tx1"/>
                </a:solidFill>
              </a:rPr>
              <a:t> = 4,62; 5,25 ·10</a:t>
            </a:r>
            <a:r>
              <a:rPr lang="en-US" sz="1300" baseline="30000" dirty="0">
                <a:solidFill>
                  <a:schemeClr val="tx1"/>
                </a:solidFill>
              </a:rPr>
              <a:t>-4</a:t>
            </a:r>
            <a:r>
              <a:rPr lang="en-US" sz="1300" dirty="0">
                <a:solidFill>
                  <a:schemeClr val="tx1"/>
                </a:solidFill>
              </a:rPr>
              <a:t> kg·m²</a:t>
            </a:r>
            <a:endParaRPr lang="en-US" sz="1300" dirty="0"/>
          </a:p>
          <a:p>
            <a:pPr marL="203200" indent="-203200">
              <a:spcAft>
                <a:spcPts val="500"/>
              </a:spcAft>
              <a:buSzPct val="100000"/>
              <a:buChar char="•"/>
            </a:pPr>
            <a:r>
              <a:rPr lang="en-US" sz="1300" dirty="0">
                <a:solidFill>
                  <a:schemeClr val="tx1"/>
                </a:solidFill>
              </a:rPr>
              <a:t>I</a:t>
            </a:r>
            <a:r>
              <a:rPr lang="en-US" sz="1300" baseline="-40000" dirty="0">
                <a:solidFill>
                  <a:schemeClr val="tx1"/>
                </a:solidFill>
              </a:rPr>
              <a:t>3</a:t>
            </a:r>
            <a:r>
              <a:rPr lang="en-US" sz="1300" dirty="0">
                <a:solidFill>
                  <a:schemeClr val="tx1"/>
                </a:solidFill>
              </a:rPr>
              <a:t> = 8,13·10</a:t>
            </a:r>
            <a:r>
              <a:rPr lang="en-US" sz="1300" baseline="30000" dirty="0">
                <a:solidFill>
                  <a:schemeClr val="tx1"/>
                </a:solidFill>
              </a:rPr>
              <a:t>-3</a:t>
            </a:r>
            <a:r>
              <a:rPr lang="en-US" sz="1300" dirty="0">
                <a:solidFill>
                  <a:schemeClr val="tx1"/>
                </a:solidFill>
              </a:rPr>
              <a:t>, I</a:t>
            </a:r>
            <a:r>
              <a:rPr lang="en-US" sz="1300" baseline="-40000" dirty="0">
                <a:solidFill>
                  <a:schemeClr val="tx1"/>
                </a:solidFill>
              </a:rPr>
              <a:t>w</a:t>
            </a:r>
            <a:r>
              <a:rPr lang="en-US" sz="1300" dirty="0">
                <a:solidFill>
                  <a:schemeClr val="tx1"/>
                </a:solidFill>
              </a:rPr>
              <a:t> = 5,19·10</a:t>
            </a:r>
            <a:r>
              <a:rPr lang="en-US" sz="1300" baseline="30000" dirty="0">
                <a:solidFill>
                  <a:schemeClr val="tx1"/>
                </a:solidFill>
              </a:rPr>
              <a:t>-3</a:t>
            </a:r>
            <a:r>
              <a:rPr lang="en-US" sz="1300" dirty="0">
                <a:solidFill>
                  <a:schemeClr val="tx1"/>
                </a:solidFill>
              </a:rPr>
              <a:t> kg·m²</a:t>
            </a:r>
            <a:endParaRPr lang="en-US" sz="1300" dirty="0"/>
          </a:p>
          <a:p>
            <a:pPr marL="203200" indent="-203200">
              <a:spcAft>
                <a:spcPts val="500"/>
              </a:spcAft>
              <a:buSzPct val="100000"/>
              <a:buChar char="•"/>
            </a:pPr>
            <a:r>
              <a:rPr lang="en-US" sz="1300" dirty="0">
                <a:solidFill>
                  <a:schemeClr val="tx1"/>
                </a:solidFill>
              </a:rPr>
              <a:t>(a</a:t>
            </a:r>
            <a:r>
              <a:rPr lang="en-US" sz="1300" baseline="-40000" dirty="0">
                <a:solidFill>
                  <a:schemeClr val="tx1"/>
                </a:solidFill>
              </a:rPr>
              <a:t>3</a:t>
            </a:r>
            <a:r>
              <a:rPr lang="en-US" sz="1300" dirty="0">
                <a:solidFill>
                  <a:schemeClr val="tx1"/>
                </a:solidFill>
              </a:rPr>
              <a:t>, b</a:t>
            </a:r>
            <a:r>
              <a:rPr lang="en-US" sz="1300" baseline="-40000" dirty="0">
                <a:solidFill>
                  <a:schemeClr val="tx1"/>
                </a:solidFill>
              </a:rPr>
              <a:t>3</a:t>
            </a:r>
            <a:r>
              <a:rPr lang="en-US" sz="1300" dirty="0">
                <a:solidFill>
                  <a:schemeClr val="tx1"/>
                </a:solidFill>
              </a:rPr>
              <a:t>) = (+27,5; -5,5) mm; in init.m (0; l</a:t>
            </a:r>
            <a:r>
              <a:rPr lang="en-US" sz="1300" baseline="-40000" dirty="0">
                <a:solidFill>
                  <a:schemeClr val="tx1"/>
                </a:solidFill>
              </a:rPr>
              <a:t>3</a:t>
            </a:r>
            <a:r>
              <a:rPr lang="en-US" sz="1300" dirty="0">
                <a:solidFill>
                  <a:schemeClr val="tx1"/>
                </a:solidFill>
              </a:rPr>
              <a:t>/2)</a:t>
            </a:r>
            <a:endParaRPr lang="en-US" sz="1300" dirty="0"/>
          </a:p>
        </p:txBody>
      </p:sp>
      <p:pic>
        <p:nvPicPr>
          <p:cNvPr id="9" name="Image 1" descr="Formula: energie">    </p:cNvPr>
          <p:cNvPicPr>
            <a:picLocks noChangeAspect="1"/>
          </p:cNvPicPr>
          <p:nvPr/>
        </p:nvPicPr>
        <p:blipFill>
          <a:blip r:embed="rId2"/>
          <a:stretch>
            <a:fillRect/>
          </a:stretch>
        </p:blipFill>
        <p:spPr>
          <a:xfrm>
            <a:off x="548640" y="4160520"/>
            <a:ext cx="6133291" cy="1463040"/>
          </a:xfrm>
          <a:prstGeom prst="rect">
            <a:avLst/>
          </a:prstGeom>
        </p:spPr>
      </p:pic>
      <p:sp>
        <p:nvSpPr>
          <p:cNvPr id="10" name="Text 6"/>
          <p:cNvSpPr txBox="1"/>
          <p:nvPr/>
        </p:nvSpPr>
        <p:spPr>
          <a:xfrm>
            <a:off x="548640" y="5806440"/>
            <a:ext cx="10972800" cy="365760"/>
          </a:xfrm>
          <a:prstGeom prst="rect">
            <a:avLst/>
          </a:prstGeom>
          <a:noFill/>
          <a:ln/>
        </p:spPr>
        <p:txBody>
          <a:bodyPr wrap="square" lIns="0" tIns="0" rIns="0" bIns="0" rtlCol="0" anchor="t"/>
          <a:lstStyle/>
          <a:p>
            <a:pPr algn="l" indent="0" marL="0">
              <a:buNone/>
            </a:pPr>
            <a:r>
              <a:rPr lang="en-US" sz="1300" i="1" dirty="0">
                <a:solidFill>
                  <a:schemeClr val="accent4"/>
                </a:solidFill>
              </a:rPr>
              <a:t>Velocità dei baricentri: ṗ</a:t>
            </a:r>
            <a:r>
              <a:rPr lang="en-US" sz="1300" i="1" baseline="-40000" dirty="0">
                <a:solidFill>
                  <a:schemeClr val="accent4"/>
                </a:solidFill>
              </a:rPr>
              <a:t>i</a:t>
            </a:r>
            <a:r>
              <a:rPr lang="en-US" sz="1300" i="1" dirty="0">
                <a:solidFill>
                  <a:schemeClr val="accent4"/>
                </a:solidFill>
              </a:rPr>
              <a:t> = (∂p</a:t>
            </a:r>
            <a:r>
              <a:rPr lang="en-US" sz="1300" i="1" baseline="-40000" dirty="0">
                <a:solidFill>
                  <a:schemeClr val="accent4"/>
                </a:solidFill>
              </a:rPr>
              <a:t>i</a:t>
            </a:r>
            <a:r>
              <a:rPr lang="en-US" sz="1300" i="1" dirty="0">
                <a:solidFill>
                  <a:schemeClr val="accent4"/>
                </a:solidFill>
              </a:rPr>
              <a:t>/∂q) q̇, calcolate in modo simbolico come in init.m.</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Equazioni di Eulero-Lagrange</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pic>
        <p:nvPicPr>
          <p:cNvPr id="5" name="Image 0" descr="Formula: eulero_lagrange">    </p:cNvPr>
          <p:cNvPicPr>
            <a:picLocks noChangeAspect="1"/>
          </p:cNvPicPr>
          <p:nvPr/>
        </p:nvPicPr>
        <p:blipFill>
          <a:blip r:embed="rId1"/>
          <a:stretch>
            <a:fillRect/>
          </a:stretch>
        </p:blipFill>
        <p:spPr>
          <a:xfrm>
            <a:off x="2637430" y="1371600"/>
            <a:ext cx="6886661" cy="686753"/>
          </a:xfrm>
          <a:prstGeom prst="rect">
            <a:avLst/>
          </a:prstGeom>
        </p:spPr>
      </p:pic>
      <p:pic>
        <p:nvPicPr>
          <p:cNvPr id="6" name="Image 1" descr="Formula: definizioni_MCG">    </p:cNvPr>
          <p:cNvPicPr>
            <a:picLocks noChangeAspect="1"/>
          </p:cNvPicPr>
          <p:nvPr/>
        </p:nvPicPr>
        <p:blipFill>
          <a:blip r:embed="rId2"/>
          <a:stretch>
            <a:fillRect/>
          </a:stretch>
        </p:blipFill>
        <p:spPr>
          <a:xfrm>
            <a:off x="3172282" y="2423160"/>
            <a:ext cx="5816957" cy="1350371"/>
          </a:xfrm>
          <a:prstGeom prst="rect">
            <a:avLst/>
          </a:prstGeom>
        </p:spPr>
      </p:pic>
      <p:sp>
        <p:nvSpPr>
          <p:cNvPr id="7" name="Shape 3"/>
          <p:cNvSpPr/>
          <p:nvPr/>
        </p:nvSpPr>
        <p:spPr>
          <a:xfrm>
            <a:off x="548640" y="4160520"/>
            <a:ext cx="3520440" cy="1691640"/>
          </a:xfrm>
          <a:prstGeom prst="roundRect">
            <a:avLst>
              <a:gd name="adj" fmla="val 4324"/>
            </a:avLst>
          </a:prstGeom>
          <a:solidFill>
            <a:schemeClr val="bg2"/>
          </a:solidFill>
          <a:ln w="12700">
            <a:solidFill>
              <a:schemeClr val="bg2"/>
            </a:solidFill>
            <a:prstDash val="solid"/>
          </a:ln>
        </p:spPr>
      </p:sp>
      <p:sp>
        <p:nvSpPr>
          <p:cNvPr id="8" name="Shape 4"/>
          <p:cNvSpPr/>
          <p:nvPr/>
        </p:nvSpPr>
        <p:spPr>
          <a:xfrm>
            <a:off x="731520" y="4343400"/>
            <a:ext cx="420624" cy="420624"/>
          </a:xfrm>
          <a:prstGeom prst="ellipse">
            <a:avLst/>
          </a:prstGeom>
          <a:solidFill>
            <a:schemeClr val="accent4"/>
          </a:solidFill>
          <a:ln w="12700">
            <a:solidFill>
              <a:schemeClr val="accent4"/>
            </a:solidFill>
            <a:prstDash val="solid"/>
          </a:ln>
        </p:spPr>
      </p:sp>
      <p:sp>
        <p:nvSpPr>
          <p:cNvPr id="9" name="Text 5"/>
          <p:cNvSpPr txBox="1"/>
          <p:nvPr/>
        </p:nvSpPr>
        <p:spPr>
          <a:xfrm>
            <a:off x="731520" y="434340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M</a:t>
            </a:r>
            <a:endParaRPr lang="en-US" sz="1300" dirty="0"/>
          </a:p>
        </p:txBody>
      </p:sp>
      <p:sp>
        <p:nvSpPr>
          <p:cNvPr id="10" name="Text 6"/>
          <p:cNvSpPr txBox="1"/>
          <p:nvPr/>
        </p:nvSpPr>
        <p:spPr>
          <a:xfrm>
            <a:off x="1280160" y="434340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Inerzia M(q)</a:t>
            </a:r>
            <a:endParaRPr lang="en-US" sz="1500" dirty="0"/>
          </a:p>
        </p:txBody>
      </p:sp>
      <p:sp>
        <p:nvSpPr>
          <p:cNvPr id="11" name="Text 7"/>
          <p:cNvSpPr txBox="1"/>
          <p:nvPr/>
        </p:nvSpPr>
        <p:spPr>
          <a:xfrm>
            <a:off x="777240" y="4892040"/>
            <a:ext cx="3108960" cy="822960"/>
          </a:xfrm>
          <a:prstGeom prst="rect">
            <a:avLst/>
          </a:prstGeom>
          <a:noFill/>
          <a:ln/>
        </p:spPr>
        <p:txBody>
          <a:bodyPr wrap="square" lIns="0" tIns="0" rIns="0" bIns="0" rtlCol="0" anchor="t"/>
          <a:lstStyle/>
          <a:p>
            <a:pPr algn="l" indent="0" marL="0">
              <a:buNone/>
            </a:pPr>
            <a:r>
              <a:rPr lang="en-US" sz="1300" dirty="0">
                <a:solidFill>
                  <a:schemeClr val="tx1"/>
                </a:solidFill>
              </a:rPr>
              <a:t>Simmetrica e definita positiva; dipende da q</a:t>
            </a:r>
            <a:r>
              <a:rPr lang="en-US" sz="1300" baseline="-40000" dirty="0">
                <a:solidFill>
                  <a:schemeClr val="tx1"/>
                </a:solidFill>
              </a:rPr>
              <a:t>1</a:t>
            </a:r>
            <a:r>
              <a:rPr lang="en-US" sz="1300" dirty="0">
                <a:solidFill>
                  <a:schemeClr val="tx1"/>
                </a:solidFill>
              </a:rPr>
              <a:t>, q</a:t>
            </a:r>
            <a:r>
              <a:rPr lang="en-US" sz="1300" baseline="-40000" dirty="0">
                <a:solidFill>
                  <a:schemeClr val="tx1"/>
                </a:solidFill>
              </a:rPr>
              <a:t>2</a:t>
            </a:r>
            <a:r>
              <a:rPr lang="en-US" sz="1300" dirty="0">
                <a:solidFill>
                  <a:schemeClr val="tx1"/>
                </a:solidFill>
              </a:rPr>
              <a:t>, q</a:t>
            </a:r>
            <a:r>
              <a:rPr lang="en-US" sz="1300" baseline="-40000" dirty="0">
                <a:solidFill>
                  <a:schemeClr val="tx1"/>
                </a:solidFill>
              </a:rPr>
              <a:t>3</a:t>
            </a:r>
            <a:r>
              <a:rPr lang="en-US" sz="1300" dirty="0">
                <a:solidFill>
                  <a:schemeClr val="tx1"/>
                </a:solidFill>
              </a:rPr>
              <a:t> ma non da q</a:t>
            </a:r>
            <a:r>
              <a:rPr lang="en-US" sz="1300" baseline="-40000" dirty="0">
                <a:solidFill>
                  <a:schemeClr val="tx1"/>
                </a:solidFill>
              </a:rPr>
              <a:t>w</a:t>
            </a:r>
            <a:r>
              <a:rPr lang="en-US" sz="1300" dirty="0">
                <a:solidFill>
                  <a:schemeClr val="tx1"/>
                </a:solidFill>
              </a:rPr>
              <a:t>.</a:t>
            </a:r>
            <a:endParaRPr lang="en-US" sz="1300" dirty="0"/>
          </a:p>
        </p:txBody>
      </p:sp>
      <p:sp>
        <p:nvSpPr>
          <p:cNvPr id="12" name="Shape 8"/>
          <p:cNvSpPr/>
          <p:nvPr/>
        </p:nvSpPr>
        <p:spPr>
          <a:xfrm>
            <a:off x="4325112" y="4160520"/>
            <a:ext cx="3520440" cy="1691640"/>
          </a:xfrm>
          <a:prstGeom prst="roundRect">
            <a:avLst>
              <a:gd name="adj" fmla="val 4324"/>
            </a:avLst>
          </a:prstGeom>
          <a:solidFill>
            <a:schemeClr val="bg2"/>
          </a:solidFill>
          <a:ln w="12700">
            <a:solidFill>
              <a:schemeClr val="bg2"/>
            </a:solidFill>
            <a:prstDash val="solid"/>
          </a:ln>
        </p:spPr>
      </p:sp>
      <p:sp>
        <p:nvSpPr>
          <p:cNvPr id="13" name="Shape 9"/>
          <p:cNvSpPr/>
          <p:nvPr/>
        </p:nvSpPr>
        <p:spPr>
          <a:xfrm>
            <a:off x="4507992" y="4343400"/>
            <a:ext cx="420624" cy="420624"/>
          </a:xfrm>
          <a:prstGeom prst="ellipse">
            <a:avLst/>
          </a:prstGeom>
          <a:solidFill>
            <a:schemeClr val="accent4"/>
          </a:solidFill>
          <a:ln w="12700">
            <a:solidFill>
              <a:schemeClr val="accent4"/>
            </a:solidFill>
            <a:prstDash val="solid"/>
          </a:ln>
        </p:spPr>
      </p:sp>
      <p:sp>
        <p:nvSpPr>
          <p:cNvPr id="14" name="Text 10"/>
          <p:cNvSpPr txBox="1"/>
          <p:nvPr/>
        </p:nvSpPr>
        <p:spPr>
          <a:xfrm>
            <a:off x="4507992" y="434340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5" name="Text 11"/>
          <p:cNvSpPr txBox="1"/>
          <p:nvPr/>
        </p:nvSpPr>
        <p:spPr>
          <a:xfrm>
            <a:off x="5056632" y="434340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Coriolis e centrifughi</a:t>
            </a:r>
            <a:endParaRPr lang="en-US" sz="1500" dirty="0"/>
          </a:p>
        </p:txBody>
      </p:sp>
      <p:sp>
        <p:nvSpPr>
          <p:cNvPr id="16" name="Text 12"/>
          <p:cNvSpPr txBox="1"/>
          <p:nvPr/>
        </p:nvSpPr>
        <p:spPr>
          <a:xfrm>
            <a:off x="4553712" y="4892040"/>
            <a:ext cx="3108960" cy="822960"/>
          </a:xfrm>
          <a:prstGeom prst="rect">
            <a:avLst/>
          </a:prstGeom>
          <a:noFill/>
          <a:ln/>
        </p:spPr>
        <p:txBody>
          <a:bodyPr wrap="square" lIns="0" tIns="0" rIns="0" bIns="0" rtlCol="0" anchor="t"/>
          <a:lstStyle/>
          <a:p>
            <a:pPr algn="l" indent="0" marL="0">
              <a:buNone/>
            </a:pPr>
            <a:r>
              <a:rPr lang="en-US" sz="1300" dirty="0">
                <a:solidFill>
                  <a:schemeClr val="tx1"/>
                </a:solidFill>
              </a:rPr>
              <a:t>Termini in q̇</a:t>
            </a:r>
            <a:r>
              <a:rPr lang="en-US" sz="1300" baseline="-40000" dirty="0">
                <a:solidFill>
                  <a:schemeClr val="tx1"/>
                </a:solidFill>
              </a:rPr>
              <a:t>i</a:t>
            </a:r>
            <a:r>
              <a:rPr lang="en-US" sz="1300" dirty="0">
                <a:solidFill>
                  <a:schemeClr val="tx1"/>
                </a:solidFill>
              </a:rPr>
              <a:t>q̇</a:t>
            </a:r>
            <a:r>
              <a:rPr lang="en-US" sz="1300" baseline="-40000" dirty="0">
                <a:solidFill>
                  <a:schemeClr val="tx1"/>
                </a:solidFill>
              </a:rPr>
              <a:t>j</a:t>
            </a:r>
            <a:r>
              <a:rPr lang="en-US" sz="1300" dirty="0">
                <a:solidFill>
                  <a:schemeClr val="tx1"/>
                </a:solidFill>
              </a:rPr>
              <a:t> e q̇</a:t>
            </a:r>
            <a:r>
              <a:rPr lang="en-US" sz="1300" baseline="-40000" dirty="0">
                <a:solidFill>
                  <a:schemeClr val="tx1"/>
                </a:solidFill>
              </a:rPr>
              <a:t>i</a:t>
            </a:r>
            <a:r>
              <a:rPr lang="en-US" sz="1300" dirty="0">
                <a:solidFill>
                  <a:schemeClr val="tx1"/>
                </a:solidFill>
              </a:rPr>
              <a:t>², costruiti con i simboli di Christoffel.</a:t>
            </a:r>
            <a:endParaRPr lang="en-US" sz="1300" dirty="0"/>
          </a:p>
        </p:txBody>
      </p:sp>
      <p:sp>
        <p:nvSpPr>
          <p:cNvPr id="17" name="Shape 13"/>
          <p:cNvSpPr/>
          <p:nvPr/>
        </p:nvSpPr>
        <p:spPr>
          <a:xfrm>
            <a:off x="8101584" y="4160520"/>
            <a:ext cx="3520440" cy="1691640"/>
          </a:xfrm>
          <a:prstGeom prst="roundRect">
            <a:avLst>
              <a:gd name="adj" fmla="val 4324"/>
            </a:avLst>
          </a:prstGeom>
          <a:solidFill>
            <a:schemeClr val="bg2"/>
          </a:solidFill>
          <a:ln w="12700">
            <a:solidFill>
              <a:schemeClr val="bg2"/>
            </a:solidFill>
            <a:prstDash val="solid"/>
          </a:ln>
        </p:spPr>
      </p:sp>
      <p:sp>
        <p:nvSpPr>
          <p:cNvPr id="18" name="Shape 14"/>
          <p:cNvSpPr/>
          <p:nvPr/>
        </p:nvSpPr>
        <p:spPr>
          <a:xfrm>
            <a:off x="8284464" y="4343400"/>
            <a:ext cx="420624" cy="420624"/>
          </a:xfrm>
          <a:prstGeom prst="ellipse">
            <a:avLst/>
          </a:prstGeom>
          <a:solidFill>
            <a:schemeClr val="accent4"/>
          </a:solidFill>
          <a:ln w="12700">
            <a:solidFill>
              <a:schemeClr val="accent4"/>
            </a:solidFill>
            <a:prstDash val="solid"/>
          </a:ln>
        </p:spPr>
      </p:sp>
      <p:sp>
        <p:nvSpPr>
          <p:cNvPr id="19" name="Text 15"/>
          <p:cNvSpPr txBox="1"/>
          <p:nvPr/>
        </p:nvSpPr>
        <p:spPr>
          <a:xfrm>
            <a:off x="8284464" y="434340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G</a:t>
            </a:r>
            <a:endParaRPr lang="en-US" sz="1300" dirty="0"/>
          </a:p>
        </p:txBody>
      </p:sp>
      <p:sp>
        <p:nvSpPr>
          <p:cNvPr id="20" name="Text 16"/>
          <p:cNvSpPr txBox="1"/>
          <p:nvPr/>
        </p:nvSpPr>
        <p:spPr>
          <a:xfrm>
            <a:off x="8833104" y="434340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Gravità G(q)</a:t>
            </a:r>
            <a:endParaRPr lang="en-US" sz="1500" dirty="0"/>
          </a:p>
        </p:txBody>
      </p:sp>
      <p:sp>
        <p:nvSpPr>
          <p:cNvPr id="21" name="Text 17"/>
          <p:cNvSpPr txBox="1"/>
          <p:nvPr/>
        </p:nvSpPr>
        <p:spPr>
          <a:xfrm>
            <a:off x="8330184" y="4892040"/>
            <a:ext cx="3108960" cy="822960"/>
          </a:xfrm>
          <a:prstGeom prst="rect">
            <a:avLst/>
          </a:prstGeom>
          <a:noFill/>
          <a:ln/>
        </p:spPr>
        <p:txBody>
          <a:bodyPr wrap="square" lIns="0" tIns="0" rIns="0" bIns="0" rtlCol="0" anchor="t"/>
          <a:lstStyle/>
          <a:p>
            <a:pPr algn="l" indent="0" marL="0">
              <a:buNone/>
            </a:pPr>
            <a:r>
              <a:rPr lang="en-US" sz="1300" dirty="0">
                <a:solidFill>
                  <a:schemeClr val="tx1"/>
                </a:solidFill>
              </a:rPr>
              <a:t>G</a:t>
            </a:r>
            <a:r>
              <a:rPr lang="en-US" sz="1300" baseline="-40000" dirty="0">
                <a:solidFill>
                  <a:schemeClr val="tx1"/>
                </a:solidFill>
              </a:rPr>
              <a:t>w</a:t>
            </a:r>
            <a:r>
              <a:rPr lang="en-US" sz="1300" dirty="0">
                <a:solidFill>
                  <a:schemeClr val="tx1"/>
                </a:solidFill>
              </a:rPr>
              <a:t> = 0: su suolo piano la ruota non sente la gravità.</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La matrice di inerzia M(q)</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pic>
        <p:nvPicPr>
          <p:cNvPr id="5" name="Image 0" descr="Formula: M_compatta">    </p:cNvPr>
          <p:cNvPicPr>
            <a:picLocks noChangeAspect="1"/>
          </p:cNvPicPr>
          <p:nvPr/>
        </p:nvPicPr>
        <p:blipFill>
          <a:blip r:embed="rId1"/>
          <a:stretch>
            <a:fillRect/>
          </a:stretch>
        </p:blipFill>
        <p:spPr>
          <a:xfrm>
            <a:off x="826013" y="1371600"/>
            <a:ext cx="10509494" cy="1334651"/>
          </a:xfrm>
          <a:prstGeom prst="rect">
            <a:avLst/>
          </a:prstGeom>
        </p:spPr>
      </p:pic>
      <p:pic>
        <p:nvPicPr>
          <p:cNvPr id="6" name="Image 1" descr="Formula: M_def">    </p:cNvPr>
          <p:cNvPicPr>
            <a:picLocks noChangeAspect="1"/>
          </p:cNvPicPr>
          <p:nvPr/>
        </p:nvPicPr>
        <p:blipFill>
          <a:blip r:embed="rId2"/>
          <a:stretch>
            <a:fillRect/>
          </a:stretch>
        </p:blipFill>
        <p:spPr>
          <a:xfrm>
            <a:off x="678866" y="2971800"/>
            <a:ext cx="10803787" cy="775405"/>
          </a:xfrm>
          <a:prstGeom prst="rect">
            <a:avLst/>
          </a:prstGeom>
        </p:spPr>
      </p:pic>
      <p:sp>
        <p:nvSpPr>
          <p:cNvPr id="7" name="Shape 3"/>
          <p:cNvSpPr/>
          <p:nvPr/>
        </p:nvSpPr>
        <p:spPr>
          <a:xfrm>
            <a:off x="548640" y="4114800"/>
            <a:ext cx="3520440" cy="1737360"/>
          </a:xfrm>
          <a:prstGeom prst="roundRect">
            <a:avLst>
              <a:gd name="adj" fmla="val 4211"/>
            </a:avLst>
          </a:prstGeom>
          <a:solidFill>
            <a:schemeClr val="bg2"/>
          </a:solidFill>
          <a:ln w="12700">
            <a:solidFill>
              <a:schemeClr val="bg2"/>
            </a:solidFill>
            <a:prstDash val="solid"/>
          </a:ln>
        </p:spPr>
      </p:sp>
      <p:sp>
        <p:nvSpPr>
          <p:cNvPr id="8" name="Shape 4"/>
          <p:cNvSpPr/>
          <p:nvPr/>
        </p:nvSpPr>
        <p:spPr>
          <a:xfrm>
            <a:off x="731520" y="4297680"/>
            <a:ext cx="420624" cy="420624"/>
          </a:xfrm>
          <a:prstGeom prst="ellipse">
            <a:avLst/>
          </a:prstGeom>
          <a:solidFill>
            <a:schemeClr val="accent4"/>
          </a:solidFill>
          <a:ln w="12700">
            <a:solidFill>
              <a:schemeClr val="accent4"/>
            </a:solidFill>
            <a:prstDash val="solid"/>
          </a:ln>
        </p:spPr>
      </p:sp>
      <p:sp>
        <p:nvSpPr>
          <p:cNvPr id="9" name="Text 5"/>
          <p:cNvSpPr txBox="1"/>
          <p:nvPr/>
        </p:nvSpPr>
        <p:spPr>
          <a:xfrm>
            <a:off x="731520" y="4297680"/>
            <a:ext cx="420624" cy="420624"/>
          </a:xfrm>
          <a:prstGeom prst="rect">
            <a:avLst/>
          </a:prstGeom>
          <a:noFill/>
          <a:ln/>
        </p:spPr>
        <p:txBody>
          <a:bodyPr wrap="square" lIns="0" tIns="0" rIns="0" bIns="0" rtlCol="0" anchor="ctr"/>
          <a:lstStyle/>
          <a:p>
            <a:pPr algn="ctr" indent="0" marL="0">
              <a:buNone/>
            </a:pPr>
            <a:r>
              <a:rPr lang="en-US" sz="1200" b="1" dirty="0">
                <a:solidFill>
                  <a:schemeClr val="bg1"/>
                </a:solidFill>
              </a:rPr>
              <a:t>22</a:t>
            </a:r>
            <a:endParaRPr lang="en-US" sz="1200" dirty="0"/>
          </a:p>
        </p:txBody>
      </p:sp>
      <p:sp>
        <p:nvSpPr>
          <p:cNvPr id="10" name="Text 6"/>
          <p:cNvSpPr txBox="1"/>
          <p:nvPr/>
        </p:nvSpPr>
        <p:spPr>
          <a:xfrm>
            <a:off x="1280160" y="429768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M</a:t>
            </a:r>
            <a:r>
              <a:rPr lang="en-US" sz="1500" b="1" baseline="-40000" dirty="0">
                <a:solidFill>
                  <a:schemeClr val="tx2"/>
                </a:solidFill>
              </a:rPr>
              <a:t>22</a:t>
            </a:r>
            <a:r>
              <a:rPr lang="en-US" sz="1500" b="1" dirty="0">
                <a:solidFill>
                  <a:schemeClr val="tx2"/>
                </a:solidFill>
              </a:rPr>
              <a:t> costante</a:t>
            </a:r>
            <a:endParaRPr lang="en-US" sz="1500" dirty="0"/>
          </a:p>
        </p:txBody>
      </p:sp>
      <p:sp>
        <p:nvSpPr>
          <p:cNvPr id="11" name="Text 7"/>
          <p:cNvSpPr txBox="1"/>
          <p:nvPr/>
        </p:nvSpPr>
        <p:spPr>
          <a:xfrm>
            <a:off x="777240" y="4846320"/>
            <a:ext cx="3108960" cy="868680"/>
          </a:xfrm>
          <a:prstGeom prst="rect">
            <a:avLst/>
          </a:prstGeom>
          <a:noFill/>
          <a:ln/>
        </p:spPr>
        <p:txBody>
          <a:bodyPr wrap="square" lIns="0" tIns="0" rIns="0" bIns="0" rtlCol="0" anchor="t"/>
          <a:lstStyle/>
          <a:p>
            <a:pPr algn="l" indent="0" marL="0">
              <a:buNone/>
            </a:pPr>
            <a:r>
              <a:rPr lang="en-US" sz="1300" dirty="0">
                <a:solidFill>
                  <a:schemeClr val="tx1"/>
                </a:solidFill>
              </a:rPr>
              <a:t>Massa traslante più inerzia delle ruote: 0,0206 kg·m².</a:t>
            </a:r>
            <a:endParaRPr lang="en-US" sz="1300" dirty="0"/>
          </a:p>
        </p:txBody>
      </p:sp>
      <p:sp>
        <p:nvSpPr>
          <p:cNvPr id="12" name="Shape 8"/>
          <p:cNvSpPr/>
          <p:nvPr/>
        </p:nvSpPr>
        <p:spPr>
          <a:xfrm>
            <a:off x="4325112" y="4114800"/>
            <a:ext cx="3520440" cy="1737360"/>
          </a:xfrm>
          <a:prstGeom prst="roundRect">
            <a:avLst>
              <a:gd name="adj" fmla="val 4211"/>
            </a:avLst>
          </a:prstGeom>
          <a:solidFill>
            <a:schemeClr val="bg2"/>
          </a:solidFill>
          <a:ln w="12700">
            <a:solidFill>
              <a:schemeClr val="bg2"/>
            </a:solidFill>
            <a:prstDash val="solid"/>
          </a:ln>
        </p:spPr>
      </p:sp>
      <p:sp>
        <p:nvSpPr>
          <p:cNvPr id="13" name="Shape 9"/>
          <p:cNvSpPr/>
          <p:nvPr/>
        </p:nvSpPr>
        <p:spPr>
          <a:xfrm>
            <a:off x="4507992" y="4297680"/>
            <a:ext cx="420624" cy="420624"/>
          </a:xfrm>
          <a:prstGeom prst="ellipse">
            <a:avLst/>
          </a:prstGeom>
          <a:solidFill>
            <a:schemeClr val="accent4"/>
          </a:solidFill>
          <a:ln w="12700">
            <a:solidFill>
              <a:schemeClr val="accent4"/>
            </a:solidFill>
            <a:prstDash val="solid"/>
          </a:ln>
        </p:spPr>
      </p:sp>
      <p:sp>
        <p:nvSpPr>
          <p:cNvPr id="14" name="Text 10"/>
          <p:cNvSpPr txBox="1"/>
          <p:nvPr/>
        </p:nvSpPr>
        <p:spPr>
          <a:xfrm>
            <a:off x="4507992" y="4297680"/>
            <a:ext cx="420624" cy="420624"/>
          </a:xfrm>
          <a:prstGeom prst="rect">
            <a:avLst/>
          </a:prstGeom>
          <a:noFill/>
          <a:ln/>
        </p:spPr>
        <p:txBody>
          <a:bodyPr wrap="square" lIns="0" tIns="0" rIns="0" bIns="0" rtlCol="0" anchor="ctr"/>
          <a:lstStyle/>
          <a:p>
            <a:pPr algn="ctr" indent="0" marL="0">
              <a:buNone/>
            </a:pPr>
            <a:r>
              <a:rPr lang="en-US" sz="1200" b="1" dirty="0">
                <a:solidFill>
                  <a:schemeClr val="bg1"/>
                </a:solidFill>
              </a:rPr>
              <a:t>2j</a:t>
            </a:r>
            <a:endParaRPr lang="en-US" sz="1200" dirty="0"/>
          </a:p>
        </p:txBody>
      </p:sp>
      <p:sp>
        <p:nvSpPr>
          <p:cNvPr id="15" name="Text 11"/>
          <p:cNvSpPr txBox="1"/>
          <p:nvPr/>
        </p:nvSpPr>
        <p:spPr>
          <a:xfrm>
            <a:off x="5056632" y="429768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Accoppiamenti con q</a:t>
            </a:r>
            <a:r>
              <a:rPr lang="en-US" sz="1500" b="1" baseline="-40000" dirty="0">
                <a:solidFill>
                  <a:schemeClr val="tx2"/>
                </a:solidFill>
              </a:rPr>
              <a:t>w</a:t>
            </a:r>
            <a:endParaRPr lang="en-US" sz="1500" dirty="0"/>
          </a:p>
        </p:txBody>
      </p:sp>
      <p:sp>
        <p:nvSpPr>
          <p:cNvPr id="16" name="Text 12"/>
          <p:cNvSpPr txBox="1"/>
          <p:nvPr/>
        </p:nvSpPr>
        <p:spPr>
          <a:xfrm>
            <a:off x="4553712" y="4846320"/>
            <a:ext cx="3108960" cy="868680"/>
          </a:xfrm>
          <a:prstGeom prst="rect">
            <a:avLst/>
          </a:prstGeom>
          <a:noFill/>
          <a:ln/>
        </p:spPr>
        <p:txBody>
          <a:bodyPr wrap="square" lIns="0" tIns="0" rIns="0" bIns="0" rtlCol="0" anchor="t"/>
          <a:lstStyle/>
          <a:p>
            <a:pPr algn="l" indent="0" marL="0">
              <a:buNone/>
            </a:pPr>
            <a:r>
              <a:rPr lang="en-US" sz="1300" dirty="0">
                <a:solidFill>
                  <a:schemeClr val="tx1"/>
                </a:solidFill>
              </a:rPr>
              <a:t>M</a:t>
            </a:r>
            <a:r>
              <a:rPr lang="en-US" sz="1300" baseline="-40000" dirty="0">
                <a:solidFill>
                  <a:schemeClr val="tx1"/>
                </a:solidFill>
              </a:rPr>
              <a:t>12</a:t>
            </a:r>
            <a:r>
              <a:rPr lang="en-US" sz="1300" dirty="0">
                <a:solidFill>
                  <a:schemeClr val="tx1"/>
                </a:solidFill>
              </a:rPr>
              <a:t>, M</a:t>
            </a:r>
            <a:r>
              <a:rPr lang="en-US" sz="1300" baseline="-40000" dirty="0">
                <a:solidFill>
                  <a:schemeClr val="tx1"/>
                </a:solidFill>
              </a:rPr>
              <a:t>23</a:t>
            </a:r>
            <a:r>
              <a:rPr lang="en-US" sz="1300" dirty="0">
                <a:solidFill>
                  <a:schemeClr val="tx1"/>
                </a:solidFill>
              </a:rPr>
              <a:t>, M</a:t>
            </a:r>
            <a:r>
              <a:rPr lang="en-US" sz="1300" baseline="-40000" dirty="0">
                <a:solidFill>
                  <a:schemeClr val="tx1"/>
                </a:solidFill>
              </a:rPr>
              <a:t>24</a:t>
            </a:r>
            <a:r>
              <a:rPr lang="en-US" sz="1300" dirty="0">
                <a:solidFill>
                  <a:schemeClr val="tx1"/>
                </a:solidFill>
              </a:rPr>
              <a:t>: avanzare muove gamba e torso. È l'origine della fase non minima.</a:t>
            </a:r>
            <a:endParaRPr lang="en-US" sz="1300" dirty="0"/>
          </a:p>
        </p:txBody>
      </p:sp>
      <p:sp>
        <p:nvSpPr>
          <p:cNvPr id="17" name="Shape 13"/>
          <p:cNvSpPr/>
          <p:nvPr/>
        </p:nvSpPr>
        <p:spPr>
          <a:xfrm>
            <a:off x="8101584" y="4114800"/>
            <a:ext cx="3520440" cy="1737360"/>
          </a:xfrm>
          <a:prstGeom prst="roundRect">
            <a:avLst>
              <a:gd name="adj" fmla="val 4211"/>
            </a:avLst>
          </a:prstGeom>
          <a:solidFill>
            <a:schemeClr val="bg2"/>
          </a:solidFill>
          <a:ln w="12700">
            <a:solidFill>
              <a:schemeClr val="bg2"/>
            </a:solidFill>
            <a:prstDash val="solid"/>
          </a:ln>
        </p:spPr>
      </p:sp>
      <p:sp>
        <p:nvSpPr>
          <p:cNvPr id="18" name="Shape 14"/>
          <p:cNvSpPr/>
          <p:nvPr/>
        </p:nvSpPr>
        <p:spPr>
          <a:xfrm>
            <a:off x="8284464" y="4297680"/>
            <a:ext cx="420624" cy="420624"/>
          </a:xfrm>
          <a:prstGeom prst="ellipse">
            <a:avLst/>
          </a:prstGeom>
          <a:solidFill>
            <a:schemeClr val="accent4"/>
          </a:solidFill>
          <a:ln w="12700">
            <a:solidFill>
              <a:schemeClr val="accent4"/>
            </a:solidFill>
            <a:prstDash val="solid"/>
          </a:ln>
        </p:spPr>
      </p:sp>
      <p:sp>
        <p:nvSpPr>
          <p:cNvPr id="19" name="Text 15"/>
          <p:cNvSpPr txBox="1"/>
          <p:nvPr/>
        </p:nvSpPr>
        <p:spPr>
          <a:xfrm>
            <a:off x="8284464" y="4297680"/>
            <a:ext cx="420624" cy="420624"/>
          </a:xfrm>
          <a:prstGeom prst="rect">
            <a:avLst/>
          </a:prstGeom>
          <a:noFill/>
          <a:ln/>
        </p:spPr>
        <p:txBody>
          <a:bodyPr wrap="square" lIns="0" tIns="0" rIns="0" bIns="0" rtlCol="0" anchor="ctr"/>
          <a:lstStyle/>
          <a:p>
            <a:pPr algn="ctr" indent="0" marL="0">
              <a:buNone/>
            </a:pPr>
            <a:r>
              <a:rPr lang="en-US" sz="1200" b="1" dirty="0">
                <a:solidFill>
                  <a:schemeClr val="bg1"/>
                </a:solidFill>
              </a:rPr>
              <a:t>44</a:t>
            </a:r>
            <a:endParaRPr lang="en-US" sz="1200" dirty="0"/>
          </a:p>
        </p:txBody>
      </p:sp>
      <p:sp>
        <p:nvSpPr>
          <p:cNvPr id="20" name="Text 16"/>
          <p:cNvSpPr txBox="1"/>
          <p:nvPr/>
        </p:nvSpPr>
        <p:spPr>
          <a:xfrm>
            <a:off x="8833104" y="429768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M</a:t>
            </a:r>
            <a:r>
              <a:rPr lang="en-US" sz="1500" b="1" baseline="-40000" dirty="0">
                <a:solidFill>
                  <a:schemeClr val="tx2"/>
                </a:solidFill>
              </a:rPr>
              <a:t>44</a:t>
            </a:r>
            <a:r>
              <a:rPr lang="en-US" sz="1500" b="1" dirty="0">
                <a:solidFill>
                  <a:schemeClr val="tx2"/>
                </a:solidFill>
              </a:rPr>
              <a:t> costante</a:t>
            </a:r>
            <a:endParaRPr lang="en-US" sz="1500" dirty="0"/>
          </a:p>
        </p:txBody>
      </p:sp>
      <p:sp>
        <p:nvSpPr>
          <p:cNvPr id="21" name="Text 17"/>
          <p:cNvSpPr txBox="1"/>
          <p:nvPr/>
        </p:nvSpPr>
        <p:spPr>
          <a:xfrm>
            <a:off x="8330184" y="4846320"/>
            <a:ext cx="3108960" cy="868680"/>
          </a:xfrm>
          <a:prstGeom prst="rect">
            <a:avLst/>
          </a:prstGeom>
          <a:noFill/>
          <a:ln/>
        </p:spPr>
        <p:txBody>
          <a:bodyPr wrap="square" lIns="0" tIns="0" rIns="0" bIns="0" rtlCol="0" anchor="t"/>
          <a:lstStyle/>
          <a:p>
            <a:pPr algn="l" indent="0" marL="0">
              <a:buNone/>
            </a:pPr>
            <a:r>
              <a:rPr lang="en-US" sz="1300" dirty="0">
                <a:solidFill>
                  <a:schemeClr val="tx1"/>
                </a:solidFill>
              </a:rPr>
              <a:t>Torso rigido attorno all'anca: I</a:t>
            </a:r>
            <a:r>
              <a:rPr lang="en-US" sz="1300" baseline="-40000" dirty="0">
                <a:solidFill>
                  <a:schemeClr val="tx1"/>
                </a:solidFill>
              </a:rPr>
              <a:t>3</a:t>
            </a:r>
            <a:r>
              <a:rPr lang="en-US" sz="1300" dirty="0">
                <a:solidFill>
                  <a:schemeClr val="tx1"/>
                </a:solidFill>
              </a:rPr>
              <a:t> + m</a:t>
            </a:r>
            <a:r>
              <a:rPr lang="en-US" sz="1300" baseline="-40000" dirty="0">
                <a:solidFill>
                  <a:schemeClr val="tx1"/>
                </a:solidFill>
              </a:rPr>
              <a:t>3</a:t>
            </a:r>
            <a:r>
              <a:rPr lang="en-US" sz="1300" dirty="0">
                <a:solidFill>
                  <a:schemeClr val="tx1"/>
                </a:solidFill>
              </a:rPr>
              <a:t>(a</a:t>
            </a:r>
            <a:r>
              <a:rPr lang="en-US" sz="1300" baseline="-40000" dirty="0">
                <a:solidFill>
                  <a:schemeClr val="tx1"/>
                </a:solidFill>
              </a:rPr>
              <a:t>3</a:t>
            </a:r>
            <a:r>
              <a:rPr lang="en-US" sz="1300" dirty="0">
                <a:solidFill>
                  <a:schemeClr val="tx1"/>
                </a:solidFill>
              </a:rPr>
              <a:t>² + b</a:t>
            </a:r>
            <a:r>
              <a:rPr lang="en-US" sz="1300" baseline="-40000" dirty="0">
                <a:solidFill>
                  <a:schemeClr val="tx1"/>
                </a:solidFill>
              </a:rPr>
              <a:t>3</a:t>
            </a:r>
            <a:r>
              <a:rPr lang="en-US" sz="1300" dirty="0">
                <a:solidFill>
                  <a:schemeClr val="tx1"/>
                </a:solidFill>
              </a:rPr>
              <a:t>²) = 0,0104 kg·m².</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Coriolis, centrifughi e gravità</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pic>
        <p:nvPicPr>
          <p:cNvPr id="5" name="Image 0" descr="Formula: C_compatta">    </p:cNvPr>
          <p:cNvPicPr>
            <a:picLocks noChangeAspect="1"/>
          </p:cNvPicPr>
          <p:nvPr/>
        </p:nvPicPr>
        <p:blipFill>
          <a:blip r:embed="rId1"/>
          <a:stretch>
            <a:fillRect/>
          </a:stretch>
        </p:blipFill>
        <p:spPr>
          <a:xfrm>
            <a:off x="548640" y="1371600"/>
            <a:ext cx="6949440" cy="1263694"/>
          </a:xfrm>
          <a:prstGeom prst="rect">
            <a:avLst/>
          </a:prstGeom>
        </p:spPr>
      </p:pic>
      <p:pic>
        <p:nvPicPr>
          <p:cNvPr id="6" name="Image 1" descr="Formula: G_compatta">    </p:cNvPr>
          <p:cNvPicPr>
            <a:picLocks noChangeAspect="1"/>
          </p:cNvPicPr>
          <p:nvPr/>
        </p:nvPicPr>
        <p:blipFill>
          <a:blip r:embed="rId2"/>
          <a:stretch>
            <a:fillRect/>
          </a:stretch>
        </p:blipFill>
        <p:spPr>
          <a:xfrm>
            <a:off x="7863840" y="1371600"/>
            <a:ext cx="3749040" cy="1225145"/>
          </a:xfrm>
          <a:prstGeom prst="rect">
            <a:avLst/>
          </a:prstGeom>
        </p:spPr>
      </p:pic>
      <p:sp>
        <p:nvSpPr>
          <p:cNvPr id="7" name="Shape 3"/>
          <p:cNvSpPr/>
          <p:nvPr/>
        </p:nvSpPr>
        <p:spPr>
          <a:xfrm>
            <a:off x="548640" y="3429000"/>
            <a:ext cx="5394960" cy="2377440"/>
          </a:xfrm>
          <a:prstGeom prst="roundRect">
            <a:avLst>
              <a:gd name="adj" fmla="val 3077"/>
            </a:avLst>
          </a:prstGeom>
          <a:solidFill>
            <a:schemeClr val="bg2"/>
          </a:solidFill>
          <a:ln w="12700">
            <a:solidFill>
              <a:schemeClr val="bg2"/>
            </a:solidFill>
            <a:prstDash val="solid"/>
          </a:ln>
        </p:spPr>
      </p:sp>
      <p:sp>
        <p:nvSpPr>
          <p:cNvPr id="8" name="Shape 4"/>
          <p:cNvSpPr/>
          <p:nvPr/>
        </p:nvSpPr>
        <p:spPr>
          <a:xfrm>
            <a:off x="731520" y="3611880"/>
            <a:ext cx="420624" cy="420624"/>
          </a:xfrm>
          <a:prstGeom prst="ellipse">
            <a:avLst/>
          </a:prstGeom>
          <a:solidFill>
            <a:schemeClr val="accent4"/>
          </a:solidFill>
          <a:ln w="12700">
            <a:solidFill>
              <a:schemeClr val="accent4"/>
            </a:solidFill>
            <a:prstDash val="solid"/>
          </a:ln>
        </p:spPr>
      </p:sp>
      <p:sp>
        <p:nvSpPr>
          <p:cNvPr id="9" name="Text 5"/>
          <p:cNvSpPr txBox="1"/>
          <p:nvPr/>
        </p:nvSpPr>
        <p:spPr>
          <a:xfrm>
            <a:off x="731520" y="36118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10" name="Text 6"/>
          <p:cNvSpPr txBox="1"/>
          <p:nvPr/>
        </p:nvSpPr>
        <p:spPr>
          <a:xfrm>
            <a:off x="1280160" y="3611880"/>
            <a:ext cx="4480560" cy="420624"/>
          </a:xfrm>
          <a:prstGeom prst="rect">
            <a:avLst/>
          </a:prstGeom>
          <a:noFill/>
          <a:ln/>
        </p:spPr>
        <p:txBody>
          <a:bodyPr wrap="square" lIns="0" tIns="0" rIns="0" bIns="0" rtlCol="0" anchor="ctr"/>
          <a:lstStyle/>
          <a:p>
            <a:pPr algn="l" indent="0" marL="0">
              <a:buNone/>
            </a:pPr>
            <a:r>
              <a:rPr lang="en-US" sz="1500" b="1" dirty="0">
                <a:solidFill>
                  <a:schemeClr val="tx2"/>
                </a:solidFill>
              </a:rPr>
              <a:t>Struttura dei termini</a:t>
            </a:r>
            <a:endParaRPr lang="en-US" sz="1500" dirty="0"/>
          </a:p>
        </p:txBody>
      </p:sp>
      <p:sp>
        <p:nvSpPr>
          <p:cNvPr id="11" name="Text 7"/>
          <p:cNvSpPr txBox="1"/>
          <p:nvPr/>
        </p:nvSpPr>
        <p:spPr>
          <a:xfrm>
            <a:off x="777240" y="4160520"/>
            <a:ext cx="4983480" cy="150876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chemeClr val="tx1"/>
                </a:solidFill>
              </a:rPr>
              <a:t>Solo termini quadratici nelle velocità, nessuno in q̇</a:t>
            </a:r>
            <a:r>
              <a:rPr lang="en-US" sz="1300" baseline="-40000" dirty="0">
                <a:solidFill>
                  <a:schemeClr val="tx1"/>
                </a:solidFill>
              </a:rPr>
              <a:t>w</a:t>
            </a:r>
            <a:r>
              <a:rPr lang="en-US" sz="1300" dirty="0">
                <a:solidFill>
                  <a:schemeClr val="tx1"/>
                </a:solidFill>
              </a:rPr>
              <a:t>: q</a:t>
            </a:r>
            <a:r>
              <a:rPr lang="en-US" sz="1300" baseline="-40000" dirty="0">
                <a:solidFill>
                  <a:schemeClr val="tx1"/>
                </a:solidFill>
              </a:rPr>
              <a:t>w</a:t>
            </a:r>
            <a:r>
              <a:rPr lang="en-US" sz="1300" dirty="0">
                <a:solidFill>
                  <a:schemeClr val="tx1"/>
                </a:solidFill>
              </a:rPr>
              <a:t> è una coordinata ciclica</a:t>
            </a:r>
            <a:endParaRPr lang="en-US" sz="1300" dirty="0"/>
          </a:p>
          <a:p>
            <a:pPr marL="203200" indent="-203200">
              <a:spcAft>
                <a:spcPts val="400"/>
              </a:spcAft>
              <a:buSzPct val="100000"/>
              <a:buChar char="•"/>
            </a:pPr>
            <a:r>
              <a:rPr lang="en-US" sz="1300" dirty="0">
                <a:solidFill>
                  <a:schemeClr val="tx1"/>
                </a:solidFill>
              </a:rPr>
              <a:t>Riga 2 (ruota): spinta delle masse in rotazione sull'avanzamento</a:t>
            </a:r>
            <a:endParaRPr lang="en-US" sz="1300" dirty="0"/>
          </a:p>
          <a:p>
            <a:pPr marL="203200" indent="-203200">
              <a:spcAft>
                <a:spcPts val="400"/>
              </a:spcAft>
              <a:buSzPct val="100000"/>
              <a:buChar char="•"/>
            </a:pPr>
            <a:r>
              <a:rPr lang="en-US" sz="1300" dirty="0">
                <a:solidFill>
                  <a:schemeClr val="tx1"/>
                </a:solidFill>
              </a:rPr>
              <a:t>G dipende solo dalla postura: equilibrio con il baricentro sopra il contatto</a:t>
            </a:r>
            <a:endParaRPr lang="en-US" sz="1300" dirty="0"/>
          </a:p>
        </p:txBody>
      </p:sp>
      <p:sp>
        <p:nvSpPr>
          <p:cNvPr id="12" name="Shape 8"/>
          <p:cNvSpPr/>
          <p:nvPr/>
        </p:nvSpPr>
        <p:spPr>
          <a:xfrm>
            <a:off x="6245352" y="3429000"/>
            <a:ext cx="5394960" cy="2377440"/>
          </a:xfrm>
          <a:prstGeom prst="roundRect">
            <a:avLst>
              <a:gd name="adj" fmla="val 3077"/>
            </a:avLst>
          </a:prstGeom>
          <a:solidFill>
            <a:schemeClr val="bg2"/>
          </a:solidFill>
          <a:ln w="12700">
            <a:solidFill>
              <a:schemeClr val="bg2"/>
            </a:solidFill>
            <a:prstDash val="solid"/>
          </a:ln>
        </p:spPr>
      </p:sp>
      <p:sp>
        <p:nvSpPr>
          <p:cNvPr id="13" name="Shape 9"/>
          <p:cNvSpPr/>
          <p:nvPr/>
        </p:nvSpPr>
        <p:spPr>
          <a:xfrm>
            <a:off x="6428232" y="3611880"/>
            <a:ext cx="420624" cy="420624"/>
          </a:xfrm>
          <a:prstGeom prst="ellipse">
            <a:avLst/>
          </a:prstGeom>
          <a:solidFill>
            <a:schemeClr val="accent1"/>
          </a:solidFill>
          <a:ln w="12700">
            <a:solidFill>
              <a:schemeClr val="accent1"/>
            </a:solidFill>
            <a:prstDash val="solid"/>
          </a:ln>
        </p:spPr>
      </p:sp>
      <p:sp>
        <p:nvSpPr>
          <p:cNvPr id="14" name="Text 10"/>
          <p:cNvSpPr txBox="1"/>
          <p:nvPr/>
        </p:nvSpPr>
        <p:spPr>
          <a:xfrm>
            <a:off x="6428232" y="36118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i</a:t>
            </a:r>
            <a:endParaRPr lang="en-US" sz="1300" dirty="0"/>
          </a:p>
        </p:txBody>
      </p:sp>
      <p:sp>
        <p:nvSpPr>
          <p:cNvPr id="15" name="Text 11"/>
          <p:cNvSpPr txBox="1"/>
          <p:nvPr/>
        </p:nvSpPr>
        <p:spPr>
          <a:xfrm>
            <a:off x="6976872" y="3611880"/>
            <a:ext cx="4480560" cy="420624"/>
          </a:xfrm>
          <a:prstGeom prst="rect">
            <a:avLst/>
          </a:prstGeom>
          <a:noFill/>
          <a:ln/>
        </p:spPr>
        <p:txBody>
          <a:bodyPr wrap="square" lIns="0" tIns="0" rIns="0" bIns="0" rtlCol="0" anchor="ctr"/>
          <a:lstStyle/>
          <a:p>
            <a:pPr algn="l" indent="0" marL="0">
              <a:buNone/>
            </a:pPr>
            <a:r>
              <a:rPr lang="en-US" sz="1500" b="1" dirty="0">
                <a:solidFill>
                  <a:schemeClr val="tx2"/>
                </a:solidFill>
              </a:rPr>
              <a:t>Nota su init.m (valutazione)</a:t>
            </a:r>
            <a:endParaRPr lang="en-US" sz="1500" dirty="0"/>
          </a:p>
        </p:txBody>
      </p:sp>
      <p:sp>
        <p:nvSpPr>
          <p:cNvPr id="16" name="Text 12"/>
          <p:cNvSpPr txBox="1"/>
          <p:nvPr/>
        </p:nvSpPr>
        <p:spPr>
          <a:xfrm>
            <a:off x="6473952" y="4160520"/>
            <a:ext cx="4983480" cy="150876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chemeClr val="tx1"/>
                </a:solidFill>
              </a:rPr>
              <a:t>La riga CdQ = ∂(∂L/∂q̇)/∂q · q̇ non sottrae ∂T/∂q</a:t>
            </a:r>
            <a:endParaRPr lang="en-US" sz="1300" dirty="0"/>
          </a:p>
          <a:p>
            <a:pPr marL="203200" indent="-203200">
              <a:spcAft>
                <a:spcPts val="400"/>
              </a:spcAft>
              <a:buSzPct val="100000"/>
              <a:buChar char="•"/>
            </a:pPr>
            <a:r>
              <a:rPr lang="en-US" sz="1300" dirty="0">
                <a:solidFill>
                  <a:schemeClr val="tx1"/>
                </a:solidFill>
              </a:rPr>
              <a:t>Il calc_dynamics.m generato contiene invece il termine giusto (riga 3: +k sin q</a:t>
            </a:r>
            <a:r>
              <a:rPr lang="en-US" sz="1300" baseline="-40000" dirty="0">
                <a:solidFill>
                  <a:schemeClr val="tx1"/>
                </a:solidFill>
              </a:rPr>
              <a:t>2</a:t>
            </a:r>
            <a:r>
              <a:rPr lang="en-US" sz="1300" dirty="0">
                <a:solidFill>
                  <a:schemeClr val="tx1"/>
                </a:solidFill>
              </a:rPr>
              <a:t> q̇</a:t>
            </a:r>
            <a:r>
              <a:rPr lang="en-US" sz="1300" baseline="-40000" dirty="0">
                <a:solidFill>
                  <a:schemeClr val="tx1"/>
                </a:solidFill>
              </a:rPr>
              <a:t>1</a:t>
            </a:r>
            <a:r>
              <a:rPr lang="en-US" sz="1300" dirty="0">
                <a:solidFill>
                  <a:schemeClr val="tx1"/>
                </a:solidFill>
              </a:rPr>
              <a:t>²)</a:t>
            </a:r>
            <a:endParaRPr lang="en-US" sz="1300" dirty="0"/>
          </a:p>
          <a:p>
            <a:pPr marL="203200" indent="-203200">
              <a:spcAft>
                <a:spcPts val="400"/>
              </a:spcAft>
              <a:buSzPct val="100000"/>
              <a:buChar char="•"/>
            </a:pPr>
            <a:r>
              <a:rPr lang="en-US" sz="1300" dirty="0">
                <a:solidFill>
                  <a:schemeClr val="tx1"/>
                </a:solidFill>
              </a:rPr>
              <a:t>Qui C è costruita con i simboli di Christoffel e verificata contro d/dt ∂L/∂q̇ − ∂L/∂q</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Valori nella posa nominale q₀</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pic>
        <p:nvPicPr>
          <p:cNvPr id="5" name="Image 0" descr="Formula: M_num">    </p:cNvPr>
          <p:cNvPicPr>
            <a:picLocks noChangeAspect="1"/>
          </p:cNvPicPr>
          <p:nvPr/>
        </p:nvPicPr>
        <p:blipFill>
          <a:blip r:embed="rId1"/>
          <a:stretch>
            <a:fillRect/>
          </a:stretch>
        </p:blipFill>
        <p:spPr>
          <a:xfrm>
            <a:off x="1293206" y="1371600"/>
            <a:ext cx="9575108" cy="1325880"/>
          </a:xfrm>
          <a:prstGeom prst="rect">
            <a:avLst/>
          </a:prstGeom>
        </p:spPr>
      </p:pic>
      <p:sp>
        <p:nvSpPr>
          <p:cNvPr id="6" name="Text 3"/>
          <p:cNvSpPr txBox="1"/>
          <p:nvPr/>
        </p:nvSpPr>
        <p:spPr>
          <a:xfrm>
            <a:off x="548640" y="2834640"/>
            <a:ext cx="2651760" cy="685800"/>
          </a:xfrm>
          <a:prstGeom prst="rect">
            <a:avLst/>
          </a:prstGeom>
          <a:noFill/>
          <a:ln/>
        </p:spPr>
        <p:txBody>
          <a:bodyPr wrap="square" lIns="0" tIns="0" rIns="0" bIns="0" rtlCol="0" anchor="b"/>
          <a:lstStyle/>
          <a:p>
            <a:pPr algn="l" indent="0" marL="0">
              <a:buNone/>
            </a:pPr>
            <a:r>
              <a:rPr lang="en-US" sz="3200" b="1" dirty="0">
                <a:solidFill>
                  <a:schemeClr val="accent4"/>
                </a:solidFill>
                <a:latin typeface="Cambria" pitchFamily="34" charset="0"/>
                <a:ea typeface="Cambria" pitchFamily="34" charset="-122"/>
                <a:cs typeface="Cambria" pitchFamily="34" charset="-120"/>
              </a:rPr>
              <a:t>4,29 kg</a:t>
            </a:r>
            <a:endParaRPr lang="en-US" sz="3200" dirty="0"/>
          </a:p>
        </p:txBody>
      </p:sp>
      <p:sp>
        <p:nvSpPr>
          <p:cNvPr id="7" name="Text 4"/>
          <p:cNvSpPr txBox="1"/>
          <p:nvPr/>
        </p:nvSpPr>
        <p:spPr>
          <a:xfrm>
            <a:off x="548640" y="3566160"/>
            <a:ext cx="2651760" cy="640080"/>
          </a:xfrm>
          <a:prstGeom prst="rect">
            <a:avLst/>
          </a:prstGeom>
          <a:noFill/>
          <a:ln/>
        </p:spPr>
        <p:txBody>
          <a:bodyPr wrap="square" lIns="0" tIns="0" rIns="0" bIns="0" rtlCol="0" anchor="t"/>
          <a:lstStyle/>
          <a:p>
            <a:pPr algn="l" indent="0" marL="0">
              <a:buNone/>
            </a:pPr>
            <a:r>
              <a:rPr lang="en-US" sz="1200" dirty="0">
                <a:solidFill>
                  <a:schemeClr val="accent4"/>
                </a:solidFill>
              </a:rPr>
              <a:t>massa totale (verificata)</a:t>
            </a:r>
            <a:endParaRPr lang="en-US" sz="1200" dirty="0"/>
          </a:p>
        </p:txBody>
      </p:sp>
      <p:sp>
        <p:nvSpPr>
          <p:cNvPr id="8" name="Text 5"/>
          <p:cNvSpPr txBox="1"/>
          <p:nvPr/>
        </p:nvSpPr>
        <p:spPr>
          <a:xfrm>
            <a:off x="3383280" y="2834640"/>
            <a:ext cx="2651760" cy="685800"/>
          </a:xfrm>
          <a:prstGeom prst="rect">
            <a:avLst/>
          </a:prstGeom>
          <a:noFill/>
          <a:ln/>
        </p:spPr>
        <p:txBody>
          <a:bodyPr wrap="square" lIns="0" tIns="0" rIns="0" bIns="0" rtlCol="0" anchor="b"/>
          <a:lstStyle/>
          <a:p>
            <a:pPr algn="l" indent="0" marL="0">
              <a:buNone/>
            </a:pPr>
            <a:r>
              <a:rPr lang="en-US" sz="3200" b="1" dirty="0">
                <a:solidFill>
                  <a:schemeClr val="accent4"/>
                </a:solidFill>
                <a:latin typeface="Cambria" pitchFamily="34" charset="0"/>
                <a:ea typeface="Cambria" pitchFamily="34" charset="-122"/>
                <a:cs typeface="Cambria" pitchFamily="34" charset="-120"/>
              </a:rPr>
              <a:t>21</a:t>
            </a:r>
            <a:endParaRPr lang="en-US" sz="3200" dirty="0"/>
          </a:p>
        </p:txBody>
      </p:sp>
      <p:sp>
        <p:nvSpPr>
          <p:cNvPr id="9" name="Text 6"/>
          <p:cNvSpPr txBox="1"/>
          <p:nvPr/>
        </p:nvSpPr>
        <p:spPr>
          <a:xfrm>
            <a:off x="3383280" y="3566160"/>
            <a:ext cx="2651760" cy="640080"/>
          </a:xfrm>
          <a:prstGeom prst="rect">
            <a:avLst/>
          </a:prstGeom>
          <a:noFill/>
          <a:ln/>
        </p:spPr>
        <p:txBody>
          <a:bodyPr wrap="square" lIns="0" tIns="0" rIns="0" bIns="0" rtlCol="0" anchor="t"/>
          <a:lstStyle/>
          <a:p>
            <a:pPr algn="l" indent="0" marL="0">
              <a:buNone/>
            </a:pPr>
            <a:r>
              <a:rPr lang="en-US" sz="1200" dirty="0">
                <a:solidFill>
                  <a:schemeClr val="accent4"/>
                </a:solidFill>
              </a:rPr>
              <a:t>numero di condizionamento di M(q</a:t>
            </a:r>
            <a:r>
              <a:rPr lang="en-US" sz="1200" baseline="-40000" dirty="0">
                <a:solidFill>
                  <a:schemeClr val="accent4"/>
                </a:solidFill>
              </a:rPr>
              <a:t>0</a:t>
            </a:r>
            <a:r>
              <a:rPr lang="en-US" sz="1200" dirty="0">
                <a:solidFill>
                  <a:schemeClr val="accent4"/>
                </a:solidFill>
              </a:rPr>
              <a:t>)</a:t>
            </a:r>
            <a:endParaRPr lang="en-US" sz="1200" dirty="0"/>
          </a:p>
        </p:txBody>
      </p:sp>
      <p:sp>
        <p:nvSpPr>
          <p:cNvPr id="10" name="Text 7"/>
          <p:cNvSpPr txBox="1"/>
          <p:nvPr/>
        </p:nvSpPr>
        <p:spPr>
          <a:xfrm>
            <a:off x="6217920" y="2834640"/>
            <a:ext cx="2651760" cy="685800"/>
          </a:xfrm>
          <a:prstGeom prst="rect">
            <a:avLst/>
          </a:prstGeom>
          <a:noFill/>
          <a:ln/>
        </p:spPr>
        <p:txBody>
          <a:bodyPr wrap="square" lIns="0" tIns="0" rIns="0" bIns="0" rtlCol="0" anchor="b"/>
          <a:lstStyle/>
          <a:p>
            <a:pPr algn="l" indent="0" marL="0">
              <a:buNone/>
            </a:pPr>
            <a:r>
              <a:rPr lang="en-US" sz="3200" b="1" dirty="0">
                <a:solidFill>
                  <a:schemeClr val="accent4"/>
                </a:solidFill>
                <a:latin typeface="Cambria" pitchFamily="34" charset="0"/>
                <a:ea typeface="Cambria" pitchFamily="34" charset="-122"/>
                <a:cs typeface="Cambria" pitchFamily="34" charset="-120"/>
              </a:rPr>
              <a:t>162 mm</a:t>
            </a:r>
            <a:endParaRPr lang="en-US" sz="3200" dirty="0"/>
          </a:p>
        </p:txBody>
      </p:sp>
      <p:sp>
        <p:nvSpPr>
          <p:cNvPr id="11" name="Text 8"/>
          <p:cNvSpPr txBox="1"/>
          <p:nvPr/>
        </p:nvSpPr>
        <p:spPr>
          <a:xfrm>
            <a:off x="6217920" y="3566160"/>
            <a:ext cx="2651760" cy="640080"/>
          </a:xfrm>
          <a:prstGeom prst="rect">
            <a:avLst/>
          </a:prstGeom>
          <a:noFill/>
          <a:ln/>
        </p:spPr>
        <p:txBody>
          <a:bodyPr wrap="square" lIns="0" tIns="0" rIns="0" bIns="0" rtlCol="0" anchor="t"/>
          <a:lstStyle/>
          <a:p>
            <a:pPr algn="l" indent="0" marL="0">
              <a:buNone/>
            </a:pPr>
            <a:r>
              <a:rPr lang="en-US" sz="1200" dirty="0">
                <a:solidFill>
                  <a:schemeClr val="accent4"/>
                </a:solidFill>
              </a:rPr>
              <a:t>Z</a:t>
            </a:r>
            <a:r>
              <a:rPr lang="en-US" sz="1200" baseline="-40000" dirty="0">
                <a:solidFill>
                  <a:schemeClr val="accent4"/>
                </a:solidFill>
              </a:rPr>
              <a:t>C</a:t>
            </a:r>
            <a:r>
              <a:rPr lang="en-US" sz="1200" dirty="0">
                <a:solidFill>
                  <a:schemeClr val="accent4"/>
                </a:solidFill>
              </a:rPr>
              <a:t>: baricentro del corpo superiore sopra l'asse</a:t>
            </a:r>
            <a:endParaRPr lang="en-US" sz="1200" dirty="0"/>
          </a:p>
        </p:txBody>
      </p:sp>
      <p:sp>
        <p:nvSpPr>
          <p:cNvPr id="12" name="Text 9"/>
          <p:cNvSpPr txBox="1"/>
          <p:nvPr/>
        </p:nvSpPr>
        <p:spPr>
          <a:xfrm>
            <a:off x="9052560" y="2834640"/>
            <a:ext cx="2651760" cy="685800"/>
          </a:xfrm>
          <a:prstGeom prst="rect">
            <a:avLst/>
          </a:prstGeom>
          <a:noFill/>
          <a:ln/>
        </p:spPr>
        <p:txBody>
          <a:bodyPr wrap="square" lIns="0" tIns="0" rIns="0" bIns="0" rtlCol="0" anchor="b"/>
          <a:lstStyle/>
          <a:p>
            <a:pPr algn="l" indent="0" marL="0">
              <a:buNone/>
            </a:pPr>
            <a:r>
              <a:rPr lang="en-US" sz="3200" b="1" dirty="0">
                <a:solidFill>
                  <a:schemeClr val="accent4"/>
                </a:solidFill>
                <a:latin typeface="Cambria" pitchFamily="34" charset="0"/>
                <a:ea typeface="Cambria" pitchFamily="34" charset="-122"/>
                <a:cs typeface="Cambria" pitchFamily="34" charset="-120"/>
              </a:rPr>
              <a:t>+13,3 mm</a:t>
            </a:r>
            <a:endParaRPr lang="en-US" sz="3200" dirty="0"/>
          </a:p>
        </p:txBody>
      </p:sp>
      <p:sp>
        <p:nvSpPr>
          <p:cNvPr id="13" name="Text 10"/>
          <p:cNvSpPr txBox="1"/>
          <p:nvPr/>
        </p:nvSpPr>
        <p:spPr>
          <a:xfrm>
            <a:off x="9052560" y="3566160"/>
            <a:ext cx="2651760" cy="640080"/>
          </a:xfrm>
          <a:prstGeom prst="rect">
            <a:avLst/>
          </a:prstGeom>
          <a:noFill/>
          <a:ln/>
        </p:spPr>
        <p:txBody>
          <a:bodyPr wrap="square" lIns="0" tIns="0" rIns="0" bIns="0" rtlCol="0" anchor="t"/>
          <a:lstStyle/>
          <a:p>
            <a:pPr algn="l" indent="0" marL="0">
              <a:buNone/>
            </a:pPr>
            <a:r>
              <a:rPr lang="en-US" sz="1200" dirty="0">
                <a:solidFill>
                  <a:schemeClr val="accent4"/>
                </a:solidFill>
              </a:rPr>
              <a:t>S</a:t>
            </a:r>
            <a:r>
              <a:rPr lang="en-US" sz="1200" baseline="-40000" dirty="0">
                <a:solidFill>
                  <a:schemeClr val="accent4"/>
                </a:solidFill>
              </a:rPr>
              <a:t>C</a:t>
            </a:r>
            <a:r>
              <a:rPr lang="en-US" sz="1200" dirty="0">
                <a:solidFill>
                  <a:schemeClr val="accent4"/>
                </a:solidFill>
              </a:rPr>
              <a:t>: davanti all'asse a torso orizzontale</a:t>
            </a:r>
            <a:endParaRPr lang="en-US" sz="1200" dirty="0"/>
          </a:p>
        </p:txBody>
      </p:sp>
      <p:pic>
        <p:nvPicPr>
          <p:cNvPr id="14" name="Image 1" descr="Formula: proprieta_M">    </p:cNvPr>
          <p:cNvPicPr>
            <a:picLocks noChangeAspect="1"/>
          </p:cNvPicPr>
          <p:nvPr/>
        </p:nvPicPr>
        <p:blipFill>
          <a:blip r:embed="rId2"/>
          <a:stretch>
            <a:fillRect/>
          </a:stretch>
        </p:blipFill>
        <p:spPr>
          <a:xfrm>
            <a:off x="548640" y="4434840"/>
            <a:ext cx="6035040" cy="1083291"/>
          </a:xfrm>
          <a:prstGeom prst="rect">
            <a:avLst/>
          </a:prstGeom>
        </p:spPr>
      </p:pic>
      <p:sp>
        <p:nvSpPr>
          <p:cNvPr id="15" name="Shape 11"/>
          <p:cNvSpPr/>
          <p:nvPr/>
        </p:nvSpPr>
        <p:spPr>
          <a:xfrm>
            <a:off x="6949440" y="4343400"/>
            <a:ext cx="4690872" cy="1600200"/>
          </a:xfrm>
          <a:prstGeom prst="roundRect">
            <a:avLst>
              <a:gd name="adj" fmla="val 4571"/>
            </a:avLst>
          </a:prstGeom>
          <a:solidFill>
            <a:schemeClr val="bg2"/>
          </a:solidFill>
          <a:ln w="12700">
            <a:solidFill>
              <a:schemeClr val="bg2"/>
            </a:solidFill>
            <a:prstDash val="solid"/>
          </a:ln>
        </p:spPr>
      </p:sp>
      <p:sp>
        <p:nvSpPr>
          <p:cNvPr id="16" name="Text 12"/>
          <p:cNvSpPr txBox="1"/>
          <p:nvPr/>
        </p:nvSpPr>
        <p:spPr>
          <a:xfrm>
            <a:off x="7178040" y="4462272"/>
            <a:ext cx="4297680" cy="320040"/>
          </a:xfrm>
          <a:prstGeom prst="rect">
            <a:avLst/>
          </a:prstGeom>
          <a:noFill/>
          <a:ln/>
        </p:spPr>
        <p:txBody>
          <a:bodyPr wrap="square" lIns="0" tIns="0" rIns="0" bIns="0" rtlCol="0" anchor="t"/>
          <a:lstStyle/>
          <a:p>
            <a:pPr algn="l" indent="0" marL="0">
              <a:buNone/>
            </a:pPr>
            <a:r>
              <a:rPr lang="en-US" sz="1300" b="1" dirty="0">
                <a:solidFill>
                  <a:schemeClr val="tx2"/>
                </a:solidFill>
              </a:rPr>
              <a:t>Verifiche automatiche</a:t>
            </a:r>
            <a:r>
              <a:rPr lang="en-US" sz="1300" dirty="0">
                <a:solidFill>
                  <a:schemeClr val="tx2"/>
                </a:solidFill>
              </a:rPr>
              <a:t> (modello_lagrangiano.py)</a:t>
            </a:r>
            <a:endParaRPr lang="en-US" sz="1300" dirty="0"/>
          </a:p>
        </p:txBody>
      </p:sp>
      <p:sp>
        <p:nvSpPr>
          <p:cNvPr id="17" name="Text 13"/>
          <p:cNvSpPr txBox="1"/>
          <p:nvPr/>
        </p:nvSpPr>
        <p:spPr>
          <a:xfrm>
            <a:off x="7178040" y="4846320"/>
            <a:ext cx="4343400" cy="1051560"/>
          </a:xfrm>
          <a:prstGeom prst="rect">
            <a:avLst/>
          </a:prstGeom>
          <a:noFill/>
          <a:ln/>
        </p:spPr>
        <p:txBody>
          <a:bodyPr wrap="square" lIns="0" tIns="0" rIns="0" bIns="0" rtlCol="0" anchor="t"/>
          <a:lstStyle/>
          <a:p>
            <a:pPr marL="203200" indent="-203200">
              <a:spcAft>
                <a:spcPts val="300"/>
              </a:spcAft>
              <a:buSzPct val="100000"/>
              <a:buChar char="•"/>
            </a:pPr>
            <a:r>
              <a:rPr lang="en-US" sz="1200" dirty="0">
                <a:solidFill>
                  <a:schemeClr val="tx1"/>
                </a:solidFill>
              </a:rPr>
              <a:t>M simmetrica, definita positiva; Ṁ − 2C antisimmetrica</a:t>
            </a:r>
            <a:endParaRPr lang="en-US" sz="1200" dirty="0"/>
          </a:p>
          <a:p>
            <a:pPr marL="203200" indent="-203200">
              <a:spcAft>
                <a:spcPts val="300"/>
              </a:spcAft>
              <a:buSzPct val="100000"/>
              <a:buChar char="•"/>
            </a:pPr>
            <a:r>
              <a:rPr lang="en-US" sz="1200" dirty="0">
                <a:solidFill>
                  <a:schemeClr val="tx1"/>
                </a:solidFill>
              </a:rPr>
              <a:t>S</a:t>
            </a:r>
            <a:r>
              <a:rPr lang="en-US" sz="1200" baseline="-40000" dirty="0">
                <a:solidFill>
                  <a:schemeClr val="tx1"/>
                </a:solidFill>
              </a:rPr>
              <a:t>C</a:t>
            </a:r>
            <a:r>
              <a:rPr lang="en-US" sz="1200" dirty="0">
                <a:solidFill>
                  <a:schemeClr val="tx1"/>
                </a:solidFill>
              </a:rPr>
              <a:t>, Z</a:t>
            </a:r>
            <a:r>
              <a:rPr lang="en-US" sz="1200" baseline="-40000" dirty="0">
                <a:solidFill>
                  <a:schemeClr val="tx1"/>
                </a:solidFill>
              </a:rPr>
              <a:t>C</a:t>
            </a:r>
            <a:r>
              <a:rPr lang="en-US" sz="1200" dirty="0">
                <a:solidFill>
                  <a:schemeClr val="tx1"/>
                </a:solidFill>
              </a:rPr>
              <a:t> uguali a WBRModel.equivalent_centroid</a:t>
            </a:r>
            <a:endParaRPr lang="en-US" sz="1200" dirty="0"/>
          </a:p>
          <a:p>
            <a:pPr marL="203200" indent="-203200">
              <a:spcAft>
                <a:spcPts val="300"/>
              </a:spcAft>
              <a:buSzPct val="100000"/>
              <a:buChar char="•"/>
            </a:pPr>
            <a:r>
              <a:rPr lang="en-US" sz="1200" dirty="0">
                <a:solidFill>
                  <a:schemeClr val="tx1"/>
                </a:solidFill>
              </a:rPr>
              <a:t>forma compatta = forma estesa SymPy</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Matrice di ingresso B e sottoattuazione</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pic>
        <p:nvPicPr>
          <p:cNvPr id="5" name="Image 0" descr="Formula: B_matrice">    </p:cNvPr>
          <p:cNvPicPr>
            <a:picLocks noChangeAspect="1"/>
          </p:cNvPicPr>
          <p:nvPr/>
        </p:nvPicPr>
        <p:blipFill>
          <a:blip r:embed="rId1"/>
          <a:stretch>
            <a:fillRect/>
          </a:stretch>
        </p:blipFill>
        <p:spPr>
          <a:xfrm>
            <a:off x="548640" y="1371600"/>
            <a:ext cx="6675120" cy="1119121"/>
          </a:xfrm>
          <a:prstGeom prst="rect">
            <a:avLst/>
          </a:prstGeom>
        </p:spPr>
      </p:pic>
      <p:sp>
        <p:nvSpPr>
          <p:cNvPr id="6" name="Shape 3"/>
          <p:cNvSpPr/>
          <p:nvPr/>
        </p:nvSpPr>
        <p:spPr>
          <a:xfrm>
            <a:off x="7498080" y="1371600"/>
            <a:ext cx="4142232" cy="1325880"/>
          </a:xfrm>
          <a:prstGeom prst="roundRect">
            <a:avLst>
              <a:gd name="adj" fmla="val 5517"/>
            </a:avLst>
          </a:prstGeom>
          <a:solidFill>
            <a:schemeClr val="bg2"/>
          </a:solidFill>
          <a:ln w="12700">
            <a:solidFill>
              <a:schemeClr val="bg2"/>
            </a:solidFill>
            <a:prstDash val="solid"/>
          </a:ln>
        </p:spPr>
      </p:sp>
      <p:sp>
        <p:nvSpPr>
          <p:cNvPr id="7" name="Text 4"/>
          <p:cNvSpPr txBox="1"/>
          <p:nvPr/>
        </p:nvSpPr>
        <p:spPr>
          <a:xfrm>
            <a:off x="7680960" y="1463040"/>
            <a:ext cx="3794760" cy="1143000"/>
          </a:xfrm>
          <a:prstGeom prst="rect">
            <a:avLst/>
          </a:prstGeom>
          <a:noFill/>
          <a:ln/>
        </p:spPr>
        <p:txBody>
          <a:bodyPr wrap="square" lIns="0" tIns="0" rIns="0" bIns="0" rtlCol="0" anchor="ctr"/>
          <a:lstStyle/>
          <a:p>
            <a:pPr algn="l" indent="0" marL="0">
              <a:buNone/>
            </a:pPr>
            <a:r>
              <a:rPr lang="en-US" sz="1300" dirty="0">
                <a:solidFill>
                  <a:schemeClr val="tx1"/>
                </a:solidFill>
              </a:rPr>
              <a:t>La colonna di ogni motore è il gradiente dell'angolo relativo che muove: la riga di q</a:t>
            </a:r>
            <a:r>
              <a:rPr lang="en-US" sz="1300" baseline="-40000" dirty="0">
                <a:solidFill>
                  <a:schemeClr val="tx1"/>
                </a:solidFill>
              </a:rPr>
              <a:t>1</a:t>
            </a:r>
            <a:r>
              <a:rPr lang="en-US" sz="1300" dirty="0">
                <a:solidFill>
                  <a:schemeClr val="tx1"/>
                </a:solidFill>
              </a:rPr>
              <a:t> non è nulla, il sistema è </a:t>
            </a:r>
            <a:r>
              <a:rPr lang="en-US" sz="1300" b="1" dirty="0">
                <a:solidFill>
                  <a:schemeClr val="tx1"/>
                </a:solidFill>
              </a:rPr>
              <a:t>non collocato</a:t>
            </a:r>
            <a:r>
              <a:rPr lang="en-US" sz="1300" dirty="0">
                <a:solidFill>
                  <a:schemeClr val="tx1"/>
                </a:solidFill>
              </a:rPr>
              <a:t>.</a:t>
            </a:r>
            <a:endParaRPr lang="en-US" sz="1300" dirty="0"/>
          </a:p>
        </p:txBody>
      </p:sp>
      <p:pic>
        <p:nvPicPr>
          <p:cNvPr id="8" name="Image 1" descr="Formula: B_check">    </p:cNvPr>
          <p:cNvPicPr>
            <a:picLocks noChangeAspect="1"/>
          </p:cNvPicPr>
          <p:nvPr/>
        </p:nvPicPr>
        <p:blipFill>
          <a:blip r:embed="rId2"/>
          <a:stretch>
            <a:fillRect/>
          </a:stretch>
        </p:blipFill>
        <p:spPr>
          <a:xfrm>
            <a:off x="548640" y="3063240"/>
            <a:ext cx="7315200" cy="861975"/>
          </a:xfrm>
          <a:prstGeom prst="rect">
            <a:avLst/>
          </a:prstGeom>
        </p:spPr>
      </p:pic>
      <p:sp>
        <p:nvSpPr>
          <p:cNvPr id="9" name="Shape 5"/>
          <p:cNvSpPr/>
          <p:nvPr/>
        </p:nvSpPr>
        <p:spPr>
          <a:xfrm>
            <a:off x="548640" y="4251960"/>
            <a:ext cx="11091672" cy="1600200"/>
          </a:xfrm>
          <a:prstGeom prst="roundRect">
            <a:avLst>
              <a:gd name="adj" fmla="val 4571"/>
            </a:avLst>
          </a:prstGeom>
          <a:solidFill>
            <a:schemeClr val="bg2"/>
          </a:solidFill>
          <a:ln w="12700">
            <a:solidFill>
              <a:schemeClr val="bg2"/>
            </a:solidFill>
            <a:prstDash val="solid"/>
          </a:ln>
        </p:spPr>
      </p:sp>
      <p:sp>
        <p:nvSpPr>
          <p:cNvPr id="10" name="Shape 6"/>
          <p:cNvSpPr/>
          <p:nvPr/>
        </p:nvSpPr>
        <p:spPr>
          <a:xfrm>
            <a:off x="731520" y="4434840"/>
            <a:ext cx="420624" cy="420624"/>
          </a:xfrm>
          <a:prstGeom prst="ellipse">
            <a:avLst/>
          </a:prstGeom>
          <a:solidFill>
            <a:schemeClr val="accent1"/>
          </a:solidFill>
          <a:ln w="12700">
            <a:solidFill>
              <a:schemeClr val="accent1"/>
            </a:solidFill>
            <a:prstDash val="solid"/>
          </a:ln>
        </p:spPr>
      </p:sp>
      <p:sp>
        <p:nvSpPr>
          <p:cNvPr id="11" name="Text 7"/>
          <p:cNvSpPr txBox="1"/>
          <p:nvPr/>
        </p:nvSpPr>
        <p:spPr>
          <a:xfrm>
            <a:off x="731520" y="443484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2" name="Text 8"/>
          <p:cNvSpPr txBox="1"/>
          <p:nvPr/>
        </p:nvSpPr>
        <p:spPr>
          <a:xfrm>
            <a:off x="1280160" y="4434840"/>
            <a:ext cx="10177272" cy="420624"/>
          </a:xfrm>
          <a:prstGeom prst="rect">
            <a:avLst/>
          </a:prstGeom>
          <a:noFill/>
          <a:ln/>
        </p:spPr>
        <p:txBody>
          <a:bodyPr wrap="square" lIns="0" tIns="0" rIns="0" bIns="0" rtlCol="0" anchor="ctr"/>
          <a:lstStyle/>
          <a:p>
            <a:pPr algn="l" indent="0" marL="0">
              <a:buNone/>
            </a:pPr>
            <a:r>
              <a:rPr lang="en-US" sz="1500" b="1" dirty="0">
                <a:solidFill>
                  <a:schemeClr val="tx2"/>
                </a:solidFill>
              </a:rPr>
              <a:t>Valutazione: la B di wbr_terms.m ha due segni da rivedere</a:t>
            </a:r>
            <a:endParaRPr lang="en-US" sz="1500" dirty="0"/>
          </a:p>
        </p:txBody>
      </p:sp>
      <p:sp>
        <p:nvSpPr>
          <p:cNvPr id="13" name="Text 9"/>
          <p:cNvSpPr txBox="1"/>
          <p:nvPr/>
        </p:nvSpPr>
        <p:spPr>
          <a:xfrm>
            <a:off x="777240" y="4983480"/>
            <a:ext cx="10680192" cy="731520"/>
          </a:xfrm>
          <a:prstGeom prst="rect">
            <a:avLst/>
          </a:prstGeom>
          <a:noFill/>
          <a:ln/>
        </p:spPr>
        <p:txBody>
          <a:bodyPr wrap="square" lIns="0" tIns="0" rIns="0" bIns="0" rtlCol="0" anchor="t"/>
          <a:lstStyle/>
          <a:p>
            <a:pPr algn="l" indent="0" marL="0">
              <a:buNone/>
            </a:pPr>
            <a:r>
              <a:rPr lang="en-US" sz="1300" dirty="0">
                <a:solidFill>
                  <a:schemeClr val="tx1"/>
                </a:solidFill>
              </a:rPr>
              <a:t>Ruotando tutto il robot come un corpo rigido nessun angolo relativo cambia, quindi B</a:t>
            </a:r>
            <a:r>
              <a:rPr lang="en-US" sz="1300" baseline="30000" dirty="0">
                <a:solidFill>
                  <a:schemeClr val="tx1"/>
                </a:solidFill>
              </a:rPr>
              <a:t>T</a:t>
            </a:r>
            <a:r>
              <a:rPr lang="en-US" sz="1300" dirty="0">
                <a:solidFill>
                  <a:schemeClr val="tx1"/>
                </a:solidFill>
              </a:rPr>
              <a:t>δq deve essere nullo. B</a:t>
            </a:r>
            <a:r>
              <a:rPr lang="en-US" sz="1300" baseline="-40000" dirty="0">
                <a:solidFill>
                  <a:schemeClr val="tx1"/>
                </a:solidFill>
              </a:rPr>
              <a:t>init.m</a:t>
            </a:r>
            <a:r>
              <a:rPr lang="en-US" sz="1300" dirty="0">
                <a:solidFill>
                  <a:schemeClr val="tx1"/>
                </a:solidFill>
              </a:rPr>
              <a:t> = [−1 0 −1; 1 0 0; 0 1 −1; 0 0 1] dà −2δ sulle colonne di ruota e anca: le reazioni dei motori non sono uguali e opposte con le convenzioni di init.m (q</a:t>
            </a:r>
            <a:r>
              <a:rPr lang="en-US" sz="1300" baseline="-40000" dirty="0">
                <a:solidFill>
                  <a:schemeClr val="tx1"/>
                </a:solidFill>
              </a:rPr>
              <a:t>3</a:t>
            </a:r>
            <a:r>
              <a:rPr lang="en-US" sz="1300" dirty="0">
                <a:solidFill>
                  <a:schemeClr val="tx1"/>
                </a:solidFill>
              </a:rPr>
              <a:t> e q</a:t>
            </a:r>
            <a:r>
              <a:rPr lang="en-US" sz="1300" baseline="-40000" dirty="0">
                <a:solidFill>
                  <a:schemeClr val="tx1"/>
                </a:solidFill>
              </a:rPr>
              <a:t>w</a:t>
            </a:r>
            <a:r>
              <a:rPr lang="en-US" sz="1300" dirty="0">
                <a:solidFill>
                  <a:schemeClr val="tx1"/>
                </a:solidFill>
              </a:rPr>
              <a:t> orari, q</a:t>
            </a:r>
            <a:r>
              <a:rPr lang="en-US" sz="1300" baseline="-40000" dirty="0">
                <a:solidFill>
                  <a:schemeClr val="tx1"/>
                </a:solidFill>
              </a:rPr>
              <a:t>1</a:t>
            </a:r>
            <a:r>
              <a:rPr lang="en-US" sz="1300" dirty="0">
                <a:solidFill>
                  <a:schemeClr val="tx1"/>
                </a:solidFill>
              </a:rPr>
              <a:t> antiorario).</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Linearizzazione parziale non collocata</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pic>
        <p:nvPicPr>
          <p:cNvPr id="5" name="Image 0" descr="Formula: schur">    </p:cNvPr>
          <p:cNvPicPr>
            <a:picLocks noChangeAspect="1"/>
          </p:cNvPicPr>
          <p:nvPr/>
        </p:nvPicPr>
        <p:blipFill>
          <a:blip r:embed="rId1"/>
          <a:stretch>
            <a:fillRect/>
          </a:stretch>
        </p:blipFill>
        <p:spPr>
          <a:xfrm>
            <a:off x="1642093" y="1371600"/>
            <a:ext cx="8877333" cy="1506723"/>
          </a:xfrm>
          <a:prstGeom prst="rect">
            <a:avLst/>
          </a:prstGeom>
        </p:spPr>
      </p:pic>
      <p:sp>
        <p:nvSpPr>
          <p:cNvPr id="6" name="Shape 3"/>
          <p:cNvSpPr/>
          <p:nvPr/>
        </p:nvSpPr>
        <p:spPr>
          <a:xfrm>
            <a:off x="548640" y="3520440"/>
            <a:ext cx="3520440" cy="2331720"/>
          </a:xfrm>
          <a:prstGeom prst="roundRect">
            <a:avLst>
              <a:gd name="adj" fmla="val 3137"/>
            </a:avLst>
          </a:prstGeom>
          <a:solidFill>
            <a:schemeClr val="bg2"/>
          </a:solidFill>
          <a:ln w="12700">
            <a:solidFill>
              <a:schemeClr val="bg2"/>
            </a:solidFill>
            <a:prstDash val="solid"/>
          </a:ln>
        </p:spPr>
      </p:sp>
      <p:sp>
        <p:nvSpPr>
          <p:cNvPr id="7" name="Shape 4"/>
          <p:cNvSpPr/>
          <p:nvPr/>
        </p:nvSpPr>
        <p:spPr>
          <a:xfrm>
            <a:off x="731520" y="3703320"/>
            <a:ext cx="420624" cy="420624"/>
          </a:xfrm>
          <a:prstGeom prst="ellipse">
            <a:avLst/>
          </a:prstGeom>
          <a:solidFill>
            <a:schemeClr val="accent4"/>
          </a:solidFill>
          <a:ln w="12700">
            <a:solidFill>
              <a:schemeClr val="accent4"/>
            </a:solidFill>
            <a:prstDash val="solid"/>
          </a:ln>
        </p:spPr>
      </p:sp>
      <p:sp>
        <p:nvSpPr>
          <p:cNvPr id="8" name="Text 5"/>
          <p:cNvSpPr txBox="1"/>
          <p:nvPr/>
        </p:nvSpPr>
        <p:spPr>
          <a:xfrm>
            <a:off x="731520" y="370332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9" name="Text 6"/>
          <p:cNvSpPr txBox="1"/>
          <p:nvPr/>
        </p:nvSpPr>
        <p:spPr>
          <a:xfrm>
            <a:off x="1280160" y="370332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D invertibile</a:t>
            </a:r>
            <a:endParaRPr lang="en-US" sz="1500" dirty="0"/>
          </a:p>
        </p:txBody>
      </p:sp>
      <p:sp>
        <p:nvSpPr>
          <p:cNvPr id="10" name="Text 7"/>
          <p:cNvSpPr txBox="1"/>
          <p:nvPr/>
        </p:nvSpPr>
        <p:spPr>
          <a:xfrm>
            <a:off x="777240" y="4251960"/>
            <a:ext cx="3108960" cy="1463040"/>
          </a:xfrm>
          <a:prstGeom prst="rect">
            <a:avLst/>
          </a:prstGeom>
          <a:noFill/>
          <a:ln/>
        </p:spPr>
        <p:txBody>
          <a:bodyPr wrap="square" lIns="0" tIns="0" rIns="0" bIns="0" rtlCol="0" anchor="t"/>
          <a:lstStyle/>
          <a:p>
            <a:pPr algn="l" indent="0" marL="0">
              <a:buNone/>
            </a:pPr>
            <a:r>
              <a:rPr lang="en-US" sz="1300" dirty="0">
                <a:solidFill>
                  <a:schemeClr val="tx1"/>
                </a:solidFill>
              </a:rPr>
              <a:t>Tre motori impongono le tre accelerazioni attive q̈</a:t>
            </a:r>
            <a:r>
              <a:rPr lang="en-US" sz="1300" baseline="-40000" dirty="0">
                <a:solidFill>
                  <a:schemeClr val="tx1"/>
                </a:solidFill>
              </a:rPr>
              <a:t>w</a:t>
            </a:r>
            <a:r>
              <a:rPr lang="en-US" sz="1300" dirty="0">
                <a:solidFill>
                  <a:schemeClr val="tx1"/>
                </a:solidFill>
              </a:rPr>
              <a:t>, q̈</a:t>
            </a:r>
            <a:r>
              <a:rPr lang="en-US" sz="1300" baseline="-40000" dirty="0">
                <a:solidFill>
                  <a:schemeClr val="tx1"/>
                </a:solidFill>
              </a:rPr>
              <a:t>2</a:t>
            </a:r>
            <a:r>
              <a:rPr lang="en-US" sz="1300" dirty="0">
                <a:solidFill>
                  <a:schemeClr val="tx1"/>
                </a:solidFill>
              </a:rPr>
              <a:t>, q̈</a:t>
            </a:r>
            <a:r>
              <a:rPr lang="en-US" sz="1300" baseline="-40000" dirty="0">
                <a:solidFill>
                  <a:schemeClr val="tx1"/>
                </a:solidFill>
              </a:rPr>
              <a:t>3</a:t>
            </a:r>
            <a:r>
              <a:rPr lang="en-US" sz="1300" dirty="0">
                <a:solidFill>
                  <a:schemeClr val="tx1"/>
                </a:solidFill>
              </a:rPr>
              <a:t>. In posa nominale det D = 1,30.</a:t>
            </a:r>
            <a:endParaRPr lang="en-US" sz="1300" dirty="0"/>
          </a:p>
        </p:txBody>
      </p:sp>
      <p:sp>
        <p:nvSpPr>
          <p:cNvPr id="11" name="Shape 8"/>
          <p:cNvSpPr/>
          <p:nvPr/>
        </p:nvSpPr>
        <p:spPr>
          <a:xfrm>
            <a:off x="4325112" y="3520440"/>
            <a:ext cx="3520440" cy="2331720"/>
          </a:xfrm>
          <a:prstGeom prst="roundRect">
            <a:avLst>
              <a:gd name="adj" fmla="val 3137"/>
            </a:avLst>
          </a:prstGeom>
          <a:solidFill>
            <a:schemeClr val="bg2"/>
          </a:solidFill>
          <a:ln w="12700">
            <a:solidFill>
              <a:schemeClr val="bg2"/>
            </a:solidFill>
            <a:prstDash val="solid"/>
          </a:ln>
        </p:spPr>
      </p:sp>
      <p:sp>
        <p:nvSpPr>
          <p:cNvPr id="12" name="Shape 9"/>
          <p:cNvSpPr/>
          <p:nvPr/>
        </p:nvSpPr>
        <p:spPr>
          <a:xfrm>
            <a:off x="4507992" y="3703320"/>
            <a:ext cx="420624" cy="420624"/>
          </a:xfrm>
          <a:prstGeom prst="ellipse">
            <a:avLst/>
          </a:prstGeom>
          <a:solidFill>
            <a:schemeClr val="accent4"/>
          </a:solidFill>
          <a:ln w="12700">
            <a:solidFill>
              <a:schemeClr val="accent4"/>
            </a:solidFill>
            <a:prstDash val="solid"/>
          </a:ln>
        </p:spPr>
      </p:sp>
      <p:sp>
        <p:nvSpPr>
          <p:cNvPr id="13" name="Text 10"/>
          <p:cNvSpPr txBox="1"/>
          <p:nvPr/>
        </p:nvSpPr>
        <p:spPr>
          <a:xfrm>
            <a:off x="4507992" y="370332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q₁</a:t>
            </a:r>
            <a:endParaRPr lang="en-US" sz="1300" dirty="0"/>
          </a:p>
        </p:txBody>
      </p:sp>
      <p:sp>
        <p:nvSpPr>
          <p:cNvPr id="14" name="Text 11"/>
          <p:cNvSpPr txBox="1"/>
          <p:nvPr/>
        </p:nvSpPr>
        <p:spPr>
          <a:xfrm>
            <a:off x="5056632" y="370332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Dinamica interna</a:t>
            </a:r>
            <a:endParaRPr lang="en-US" sz="1500" dirty="0"/>
          </a:p>
        </p:txBody>
      </p:sp>
      <p:sp>
        <p:nvSpPr>
          <p:cNvPr id="15" name="Text 12"/>
          <p:cNvSpPr txBox="1"/>
          <p:nvPr/>
        </p:nvSpPr>
        <p:spPr>
          <a:xfrm>
            <a:off x="4553712" y="4251960"/>
            <a:ext cx="3108960" cy="1463040"/>
          </a:xfrm>
          <a:prstGeom prst="rect">
            <a:avLst/>
          </a:prstGeom>
          <a:noFill/>
          <a:ln/>
        </p:spPr>
        <p:txBody>
          <a:bodyPr wrap="square" lIns="0" tIns="0" rIns="0" bIns="0" rtlCol="0" anchor="t"/>
          <a:lstStyle/>
          <a:p>
            <a:pPr algn="l" indent="0" marL="0">
              <a:buNone/>
            </a:pPr>
            <a:r>
              <a:rPr lang="en-US" sz="1300" dirty="0">
                <a:solidFill>
                  <a:schemeClr val="tx1"/>
                </a:solidFill>
              </a:rPr>
              <a:t>q</a:t>
            </a:r>
            <a:r>
              <a:rPr lang="en-US" sz="1300" baseline="-40000" dirty="0">
                <a:solidFill>
                  <a:schemeClr val="tx1"/>
                </a:solidFill>
              </a:rPr>
              <a:t>1</a:t>
            </a:r>
            <a:r>
              <a:rPr lang="en-US" sz="1300" dirty="0">
                <a:solidFill>
                  <a:schemeClr val="tx1"/>
                </a:solidFill>
              </a:rPr>
              <a:t> segue dalla prima riga: lì resta l'instabilità del pendolo, che va stabilizzata attraverso le uscite scelte.</a:t>
            </a:r>
            <a:endParaRPr lang="en-US" sz="1300" dirty="0"/>
          </a:p>
        </p:txBody>
      </p:sp>
      <p:sp>
        <p:nvSpPr>
          <p:cNvPr id="16" name="Shape 13"/>
          <p:cNvSpPr/>
          <p:nvPr/>
        </p:nvSpPr>
        <p:spPr>
          <a:xfrm>
            <a:off x="8101584" y="3520440"/>
            <a:ext cx="3520440" cy="2331720"/>
          </a:xfrm>
          <a:prstGeom prst="roundRect">
            <a:avLst>
              <a:gd name="adj" fmla="val 3137"/>
            </a:avLst>
          </a:prstGeom>
          <a:solidFill>
            <a:schemeClr val="bg2"/>
          </a:solidFill>
          <a:ln w="12700">
            <a:solidFill>
              <a:schemeClr val="bg2"/>
            </a:solidFill>
            <a:prstDash val="solid"/>
          </a:ln>
        </p:spPr>
      </p:sp>
      <p:sp>
        <p:nvSpPr>
          <p:cNvPr id="17" name="Shape 14"/>
          <p:cNvSpPr/>
          <p:nvPr/>
        </p:nvSpPr>
        <p:spPr>
          <a:xfrm>
            <a:off x="8284464" y="3703320"/>
            <a:ext cx="420624" cy="420624"/>
          </a:xfrm>
          <a:prstGeom prst="ellipse">
            <a:avLst/>
          </a:prstGeom>
          <a:solidFill>
            <a:schemeClr val="accent4"/>
          </a:solidFill>
          <a:ln w="12700">
            <a:solidFill>
              <a:schemeClr val="accent4"/>
            </a:solidFill>
            <a:prstDash val="solid"/>
          </a:ln>
        </p:spPr>
      </p:sp>
      <p:sp>
        <p:nvSpPr>
          <p:cNvPr id="18" name="Text 15"/>
          <p:cNvSpPr txBox="1"/>
          <p:nvPr/>
        </p:nvSpPr>
        <p:spPr>
          <a:xfrm>
            <a:off x="8284464" y="370332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M̄</a:t>
            </a:r>
            <a:endParaRPr lang="en-US" sz="1300" dirty="0"/>
          </a:p>
        </p:txBody>
      </p:sp>
      <p:sp>
        <p:nvSpPr>
          <p:cNvPr id="19" name="Text 16"/>
          <p:cNvSpPr txBox="1"/>
          <p:nvPr/>
        </p:nvSpPr>
        <p:spPr>
          <a:xfrm>
            <a:off x="8833104" y="370332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Complemento di Schur</a:t>
            </a:r>
            <a:endParaRPr lang="en-US" sz="1500" dirty="0"/>
          </a:p>
        </p:txBody>
      </p:sp>
      <p:sp>
        <p:nvSpPr>
          <p:cNvPr id="20" name="Text 17"/>
          <p:cNvSpPr txBox="1"/>
          <p:nvPr/>
        </p:nvSpPr>
        <p:spPr>
          <a:xfrm>
            <a:off x="8330184" y="4251960"/>
            <a:ext cx="3108960" cy="1463040"/>
          </a:xfrm>
          <a:prstGeom prst="rect">
            <a:avLst/>
          </a:prstGeom>
          <a:noFill/>
          <a:ln/>
        </p:spPr>
        <p:txBody>
          <a:bodyPr wrap="square" lIns="0" tIns="0" rIns="0" bIns="0" rtlCol="0" anchor="t"/>
          <a:lstStyle/>
          <a:p>
            <a:pPr algn="l" indent="0" marL="0">
              <a:buNone/>
            </a:pPr>
            <a:r>
              <a:rPr lang="en-US" sz="1300" dirty="0">
                <a:solidFill>
                  <a:schemeClr val="tx1"/>
                </a:solidFill>
              </a:rPr>
              <a:t>M̄ = M</a:t>
            </a:r>
            <a:r>
              <a:rPr lang="en-US" sz="1300" baseline="-40000" dirty="0">
                <a:solidFill>
                  <a:schemeClr val="tx1"/>
                </a:solidFill>
              </a:rPr>
              <a:t>aa</a:t>
            </a:r>
            <a:r>
              <a:rPr lang="en-US" sz="1300" dirty="0">
                <a:solidFill>
                  <a:schemeClr val="tx1"/>
                </a:solidFill>
              </a:rPr>
              <a:t> − M</a:t>
            </a:r>
            <a:r>
              <a:rPr lang="en-US" sz="1300" baseline="-40000" dirty="0">
                <a:solidFill>
                  <a:schemeClr val="tx1"/>
                </a:solidFill>
              </a:rPr>
              <a:t>au</a:t>
            </a:r>
            <a:r>
              <a:rPr lang="en-US" sz="1300" dirty="0">
                <a:solidFill>
                  <a:schemeClr val="tx1"/>
                </a:solidFill>
              </a:rPr>
              <a:t>M</a:t>
            </a:r>
            <a:r>
              <a:rPr lang="en-US" sz="1300" baseline="-40000" dirty="0">
                <a:solidFill>
                  <a:schemeClr val="tx1"/>
                </a:solidFill>
              </a:rPr>
              <a:t>uu</a:t>
            </a:r>
            <a:r>
              <a:rPr lang="en-US" sz="1300" baseline="30000" dirty="0">
                <a:solidFill>
                  <a:schemeClr val="tx1"/>
                </a:solidFill>
              </a:rPr>
              <a:t>-1</a:t>
            </a:r>
            <a:r>
              <a:rPr lang="en-US" sz="1300" dirty="0">
                <a:solidFill>
                  <a:schemeClr val="tx1"/>
                </a:solidFill>
              </a:rPr>
              <a:t>M</a:t>
            </a:r>
            <a:r>
              <a:rPr lang="en-US" sz="1300" baseline="-40000" dirty="0">
                <a:solidFill>
                  <a:schemeClr val="tx1"/>
                </a:solidFill>
              </a:rPr>
              <a:t>ua</a:t>
            </a:r>
            <a:r>
              <a:rPr lang="en-US" sz="1300" dirty="0">
                <a:solidFill>
                  <a:schemeClr val="tx1"/>
                </a:solidFill>
              </a:rPr>
              <a:t> è definita positiva: in q</a:t>
            </a:r>
            <a:r>
              <a:rPr lang="en-US" sz="1300" baseline="-40000" dirty="0">
                <a:solidFill>
                  <a:schemeClr val="tx1"/>
                </a:solidFill>
              </a:rPr>
              <a:t>0</a:t>
            </a:r>
            <a:r>
              <a:rPr lang="en-US" sz="1300" dirty="0">
                <a:solidFill>
                  <a:schemeClr val="tx1"/>
                </a:solidFill>
              </a:rPr>
              <a:t> gli elementi diagonali valgono 0,009; 0,026; 0,010 kg·m².</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Dal modello completo al VL-WIP</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sp>
        <p:nvSpPr>
          <p:cNvPr id="5" name="Text 3"/>
          <p:cNvSpPr txBox="1"/>
          <p:nvPr/>
        </p:nvSpPr>
        <p:spPr>
          <a:xfrm>
            <a:off x="548640" y="1371600"/>
            <a:ext cx="11064240" cy="731520"/>
          </a:xfrm>
          <a:prstGeom prst="rect">
            <a:avLst/>
          </a:prstGeom>
          <a:noFill/>
          <a:ln/>
        </p:spPr>
        <p:txBody>
          <a:bodyPr wrap="square" lIns="0" tIns="0" rIns="0" bIns="0" rtlCol="0" anchor="t"/>
          <a:lstStyle/>
          <a:p>
            <a:pPr algn="l" indent="0" marL="0">
              <a:buNone/>
            </a:pPr>
            <a:r>
              <a:rPr lang="en-US" sz="1500" dirty="0">
                <a:solidFill>
                  <a:schemeClr val="tx1"/>
                </a:solidFill>
              </a:rPr>
              <a:t>Il corpo superiore (torso, cosce, stinchi) diventa un punto di massa m</a:t>
            </a:r>
            <a:r>
              <a:rPr lang="en-US" sz="1500" baseline="-40000" dirty="0">
                <a:solidFill>
                  <a:schemeClr val="tx1"/>
                </a:solidFill>
              </a:rPr>
              <a:t>b</a:t>
            </a:r>
            <a:r>
              <a:rPr lang="en-US" sz="1500" dirty="0">
                <a:solidFill>
                  <a:schemeClr val="tx1"/>
                </a:solidFill>
              </a:rPr>
              <a:t> = 3,53 kg nel suo baricentro: l = √(S</a:t>
            </a:r>
            <a:r>
              <a:rPr lang="en-US" sz="1500" baseline="-40000" dirty="0">
                <a:solidFill>
                  <a:schemeClr val="tx1"/>
                </a:solidFill>
              </a:rPr>
              <a:t>C</a:t>
            </a:r>
            <a:r>
              <a:rPr lang="en-US" sz="1500" dirty="0">
                <a:solidFill>
                  <a:schemeClr val="tx1"/>
                </a:solidFill>
              </a:rPr>
              <a:t>² + Z</a:t>
            </a:r>
            <a:r>
              <a:rPr lang="en-US" sz="1500" baseline="-40000" dirty="0">
                <a:solidFill>
                  <a:schemeClr val="tx1"/>
                </a:solidFill>
              </a:rPr>
              <a:t>C</a:t>
            </a:r>
            <a:r>
              <a:rPr lang="en-US" sz="1500" dirty="0">
                <a:solidFill>
                  <a:schemeClr val="tx1"/>
                </a:solidFill>
              </a:rPr>
              <a:t>²) = 0,163 m, θ = atan2(S</a:t>
            </a:r>
            <a:r>
              <a:rPr lang="en-US" sz="1500" baseline="-40000" dirty="0">
                <a:solidFill>
                  <a:schemeClr val="tx1"/>
                </a:solidFill>
              </a:rPr>
              <a:t>C</a:t>
            </a:r>
            <a:r>
              <a:rPr lang="en-US" sz="1500" dirty="0">
                <a:solidFill>
                  <a:schemeClr val="tx1"/>
                </a:solidFill>
              </a:rPr>
              <a:t>, Z</a:t>
            </a:r>
            <a:r>
              <a:rPr lang="en-US" sz="1500" baseline="-40000" dirty="0">
                <a:solidFill>
                  <a:schemeClr val="tx1"/>
                </a:solidFill>
              </a:rPr>
              <a:t>C</a:t>
            </a:r>
            <a:r>
              <a:rPr lang="en-US" sz="1500" dirty="0">
                <a:solidFill>
                  <a:schemeClr val="tx1"/>
                </a:solidFill>
              </a:rPr>
              <a:t>). Le gambe regolano l, le ruote bilanciano θ.</a:t>
            </a:r>
            <a:endParaRPr lang="en-US" sz="1500" dirty="0"/>
          </a:p>
        </p:txBody>
      </p:sp>
      <p:pic>
        <p:nvPicPr>
          <p:cNvPr id="6" name="Image 0" descr="Formula: vlwip_nl">    </p:cNvPr>
          <p:cNvPicPr>
            <a:picLocks noChangeAspect="1"/>
          </p:cNvPicPr>
          <p:nvPr/>
        </p:nvPicPr>
        <p:blipFill>
          <a:blip r:embed="rId1"/>
          <a:stretch>
            <a:fillRect/>
          </a:stretch>
        </p:blipFill>
        <p:spPr>
          <a:xfrm>
            <a:off x="1822294" y="2240280"/>
            <a:ext cx="8516931" cy="1042797"/>
          </a:xfrm>
          <a:prstGeom prst="rect">
            <a:avLst/>
          </a:prstGeom>
        </p:spPr>
      </p:pic>
      <p:sp>
        <p:nvSpPr>
          <p:cNvPr id="7" name="Shape 4"/>
          <p:cNvSpPr/>
          <p:nvPr/>
        </p:nvSpPr>
        <p:spPr>
          <a:xfrm>
            <a:off x="548640" y="3886200"/>
            <a:ext cx="3520440" cy="1965960"/>
          </a:xfrm>
          <a:prstGeom prst="roundRect">
            <a:avLst>
              <a:gd name="adj" fmla="val 3721"/>
            </a:avLst>
          </a:prstGeom>
          <a:solidFill>
            <a:schemeClr val="bg2"/>
          </a:solidFill>
          <a:ln w="12700">
            <a:solidFill>
              <a:schemeClr val="bg2"/>
            </a:solidFill>
            <a:prstDash val="solid"/>
          </a:ln>
        </p:spPr>
      </p:sp>
      <p:sp>
        <p:nvSpPr>
          <p:cNvPr id="8" name="Shape 5"/>
          <p:cNvSpPr/>
          <p:nvPr/>
        </p:nvSpPr>
        <p:spPr>
          <a:xfrm>
            <a:off x="731520" y="4069080"/>
            <a:ext cx="420624" cy="420624"/>
          </a:xfrm>
          <a:prstGeom prst="ellipse">
            <a:avLst/>
          </a:prstGeom>
          <a:solidFill>
            <a:schemeClr val="accent4"/>
          </a:solidFill>
          <a:ln w="12700">
            <a:solidFill>
              <a:schemeClr val="accent4"/>
            </a:solidFill>
            <a:prstDash val="solid"/>
          </a:ln>
        </p:spPr>
      </p:sp>
      <p:sp>
        <p:nvSpPr>
          <p:cNvPr id="9" name="Text 6"/>
          <p:cNvSpPr txBox="1"/>
          <p:nvPr/>
        </p:nvSpPr>
        <p:spPr>
          <a:xfrm>
            <a:off x="731520" y="4069080"/>
            <a:ext cx="420624" cy="420624"/>
          </a:xfrm>
          <a:prstGeom prst="rect">
            <a:avLst/>
          </a:prstGeom>
          <a:noFill/>
          <a:ln/>
        </p:spPr>
        <p:txBody>
          <a:bodyPr wrap="square" lIns="0" tIns="0" rIns="0" bIns="0" rtlCol="0" anchor="ctr"/>
          <a:lstStyle/>
          <a:p>
            <a:pPr algn="ctr" indent="0" marL="0">
              <a:buNone/>
            </a:pPr>
            <a:r>
              <a:rPr lang="en-US" sz="1100" b="1" dirty="0">
                <a:solidFill>
                  <a:schemeClr val="bg1"/>
                </a:solidFill>
              </a:rPr>
              <a:t>4→3</a:t>
            </a:r>
            <a:endParaRPr lang="en-US" sz="1100" dirty="0"/>
          </a:p>
        </p:txBody>
      </p:sp>
      <p:sp>
        <p:nvSpPr>
          <p:cNvPr id="10" name="Text 7"/>
          <p:cNvSpPr txBox="1"/>
          <p:nvPr/>
        </p:nvSpPr>
        <p:spPr>
          <a:xfrm>
            <a:off x="1280160" y="406908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Meno coordinate</a:t>
            </a:r>
            <a:endParaRPr lang="en-US" sz="1500" dirty="0"/>
          </a:p>
        </p:txBody>
      </p:sp>
      <p:sp>
        <p:nvSpPr>
          <p:cNvPr id="11" name="Text 8"/>
          <p:cNvSpPr txBox="1"/>
          <p:nvPr/>
        </p:nvSpPr>
        <p:spPr>
          <a:xfrm>
            <a:off x="777240" y="4617720"/>
            <a:ext cx="3108960" cy="1097280"/>
          </a:xfrm>
          <a:prstGeom prst="rect">
            <a:avLst/>
          </a:prstGeom>
          <a:noFill/>
          <a:ln/>
        </p:spPr>
        <p:txBody>
          <a:bodyPr wrap="square" lIns="0" tIns="0" rIns="0" bIns="0" rtlCol="0" anchor="t"/>
          <a:lstStyle/>
          <a:p>
            <a:pPr algn="l" indent="0" marL="0">
              <a:buNone/>
            </a:pPr>
            <a:r>
              <a:rPr lang="en-US" sz="1300" dirty="0">
                <a:solidFill>
                  <a:schemeClr val="tx1"/>
                </a:solidFill>
              </a:rPr>
              <a:t>Da [q</a:t>
            </a:r>
            <a:r>
              <a:rPr lang="en-US" sz="1300" baseline="-40000" dirty="0">
                <a:solidFill>
                  <a:schemeClr val="tx1"/>
                </a:solidFill>
              </a:rPr>
              <a:t>1</a:t>
            </a:r>
            <a:r>
              <a:rPr lang="en-US" sz="1300" dirty="0">
                <a:solidFill>
                  <a:schemeClr val="tx1"/>
                </a:solidFill>
              </a:rPr>
              <a:t>, q</a:t>
            </a:r>
            <a:r>
              <a:rPr lang="en-US" sz="1300" baseline="-40000" dirty="0">
                <a:solidFill>
                  <a:schemeClr val="tx1"/>
                </a:solidFill>
              </a:rPr>
              <a:t>w</a:t>
            </a:r>
            <a:r>
              <a:rPr lang="en-US" sz="1300" dirty="0">
                <a:solidFill>
                  <a:schemeClr val="tx1"/>
                </a:solidFill>
              </a:rPr>
              <a:t>, q</a:t>
            </a:r>
            <a:r>
              <a:rPr lang="en-US" sz="1300" baseline="-40000" dirty="0">
                <a:solidFill>
                  <a:schemeClr val="tx1"/>
                </a:solidFill>
              </a:rPr>
              <a:t>2</a:t>
            </a:r>
            <a:r>
              <a:rPr lang="en-US" sz="1300" dirty="0">
                <a:solidFill>
                  <a:schemeClr val="tx1"/>
                </a:solidFill>
              </a:rPr>
              <a:t>, q</a:t>
            </a:r>
            <a:r>
              <a:rPr lang="en-US" sz="1300" baseline="-40000" dirty="0">
                <a:solidFill>
                  <a:schemeClr val="tx1"/>
                </a:solidFill>
              </a:rPr>
              <a:t>3</a:t>
            </a:r>
            <a:r>
              <a:rPr lang="en-US" sz="1300" dirty="0">
                <a:solidFill>
                  <a:schemeClr val="tx1"/>
                </a:solidFill>
              </a:rPr>
              <a:t>] più l'imbardata a [s, θ, φ]: la postura entra solo tramite l e I</a:t>
            </a:r>
            <a:r>
              <a:rPr lang="en-US" sz="1300" baseline="-40000" dirty="0">
                <a:solidFill>
                  <a:schemeClr val="tx1"/>
                </a:solidFill>
              </a:rPr>
              <a:t>y</a:t>
            </a:r>
            <a:r>
              <a:rPr lang="en-US" sz="1300" dirty="0">
                <a:solidFill>
                  <a:schemeClr val="tx1"/>
                </a:solidFill>
              </a:rPr>
              <a:t>(l).</a:t>
            </a:r>
            <a:endParaRPr lang="en-US" sz="1300" dirty="0"/>
          </a:p>
        </p:txBody>
      </p:sp>
      <p:sp>
        <p:nvSpPr>
          <p:cNvPr id="12" name="Shape 9"/>
          <p:cNvSpPr/>
          <p:nvPr/>
        </p:nvSpPr>
        <p:spPr>
          <a:xfrm>
            <a:off x="4325112" y="3886200"/>
            <a:ext cx="3520440" cy="1965960"/>
          </a:xfrm>
          <a:prstGeom prst="roundRect">
            <a:avLst>
              <a:gd name="adj" fmla="val 3721"/>
            </a:avLst>
          </a:prstGeom>
          <a:solidFill>
            <a:schemeClr val="bg2"/>
          </a:solidFill>
          <a:ln w="12700">
            <a:solidFill>
              <a:schemeClr val="bg2"/>
            </a:solidFill>
            <a:prstDash val="solid"/>
          </a:ln>
        </p:spPr>
      </p:sp>
      <p:sp>
        <p:nvSpPr>
          <p:cNvPr id="13" name="Shape 10"/>
          <p:cNvSpPr/>
          <p:nvPr/>
        </p:nvSpPr>
        <p:spPr>
          <a:xfrm>
            <a:off x="4507992" y="4069080"/>
            <a:ext cx="420624" cy="420624"/>
          </a:xfrm>
          <a:prstGeom prst="ellipse">
            <a:avLst/>
          </a:prstGeom>
          <a:solidFill>
            <a:schemeClr val="accent4"/>
          </a:solidFill>
          <a:ln w="12700">
            <a:solidFill>
              <a:schemeClr val="accent4"/>
            </a:solidFill>
            <a:prstDash val="solid"/>
          </a:ln>
        </p:spPr>
      </p:sp>
      <p:sp>
        <p:nvSpPr>
          <p:cNvPr id="14" name="Text 11"/>
          <p:cNvSpPr txBox="1"/>
          <p:nvPr/>
        </p:nvSpPr>
        <p:spPr>
          <a:xfrm>
            <a:off x="4507992" y="40690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φ</a:t>
            </a:r>
            <a:endParaRPr lang="en-US" sz="1300" dirty="0"/>
          </a:p>
        </p:txBody>
      </p:sp>
      <p:sp>
        <p:nvSpPr>
          <p:cNvPr id="15" name="Text 12"/>
          <p:cNvSpPr txBox="1"/>
          <p:nvPr/>
        </p:nvSpPr>
        <p:spPr>
          <a:xfrm>
            <a:off x="5056632" y="406908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Imbardata disaccoppiata</a:t>
            </a:r>
            <a:endParaRPr lang="en-US" sz="1500" dirty="0"/>
          </a:p>
        </p:txBody>
      </p:sp>
      <p:sp>
        <p:nvSpPr>
          <p:cNvPr id="16" name="Text 13"/>
          <p:cNvSpPr txBox="1"/>
          <p:nvPr/>
        </p:nvSpPr>
        <p:spPr>
          <a:xfrm>
            <a:off x="4553712" y="4617720"/>
            <a:ext cx="3108960" cy="1097280"/>
          </a:xfrm>
          <a:prstGeom prst="rect">
            <a:avLst/>
          </a:prstGeom>
          <a:noFill/>
          <a:ln/>
        </p:spPr>
        <p:txBody>
          <a:bodyPr wrap="square" lIns="0" tIns="0" rIns="0" bIns="0" rtlCol="0" anchor="t"/>
          <a:lstStyle/>
          <a:p>
            <a:pPr algn="l" indent="0" marL="0">
              <a:buNone/>
            </a:pPr>
            <a:r>
              <a:rPr lang="en-US" sz="1300" dirty="0">
                <a:solidFill>
                  <a:schemeClr val="tx1"/>
                </a:solidFill>
              </a:rPr>
              <a:t>M diagonale a blocchi e C</a:t>
            </a:r>
            <a:r>
              <a:rPr lang="en-US" sz="1300" baseline="-40000" dirty="0">
                <a:solidFill>
                  <a:schemeClr val="tx1"/>
                </a:solidFill>
              </a:rPr>
              <a:t>3</a:t>
            </a:r>
            <a:r>
              <a:rPr lang="en-US" sz="1300" dirty="0">
                <a:solidFill>
                  <a:schemeClr val="tx1"/>
                </a:solidFill>
              </a:rPr>
              <a:t> = 0: equilibrio e sterzata si controllano separatamente.</a:t>
            </a:r>
            <a:endParaRPr lang="en-US" sz="1300" dirty="0"/>
          </a:p>
        </p:txBody>
      </p:sp>
      <p:sp>
        <p:nvSpPr>
          <p:cNvPr id="17" name="Shape 14"/>
          <p:cNvSpPr/>
          <p:nvPr/>
        </p:nvSpPr>
        <p:spPr>
          <a:xfrm>
            <a:off x="8101584" y="3886200"/>
            <a:ext cx="3520440" cy="1965960"/>
          </a:xfrm>
          <a:prstGeom prst="roundRect">
            <a:avLst>
              <a:gd name="adj" fmla="val 3721"/>
            </a:avLst>
          </a:prstGeom>
          <a:solidFill>
            <a:schemeClr val="bg2"/>
          </a:solidFill>
          <a:ln w="12700">
            <a:solidFill>
              <a:schemeClr val="bg2"/>
            </a:solidFill>
            <a:prstDash val="solid"/>
          </a:ln>
        </p:spPr>
      </p:sp>
      <p:sp>
        <p:nvSpPr>
          <p:cNvPr id="18" name="Shape 15"/>
          <p:cNvSpPr/>
          <p:nvPr/>
        </p:nvSpPr>
        <p:spPr>
          <a:xfrm>
            <a:off x="8284464" y="4069080"/>
            <a:ext cx="420624" cy="420624"/>
          </a:xfrm>
          <a:prstGeom prst="ellipse">
            <a:avLst/>
          </a:prstGeom>
          <a:solidFill>
            <a:schemeClr val="accent4"/>
          </a:solidFill>
          <a:ln w="12700">
            <a:solidFill>
              <a:schemeClr val="accent4"/>
            </a:solidFill>
            <a:prstDash val="solid"/>
          </a:ln>
        </p:spPr>
      </p:sp>
      <p:sp>
        <p:nvSpPr>
          <p:cNvPr id="19" name="Text 16"/>
          <p:cNvSpPr txBox="1"/>
          <p:nvPr/>
        </p:nvSpPr>
        <p:spPr>
          <a:xfrm>
            <a:off x="8284464" y="40690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20" name="Text 17"/>
          <p:cNvSpPr txBox="1"/>
          <p:nvPr/>
        </p:nvSpPr>
        <p:spPr>
          <a:xfrm>
            <a:off x="8833104" y="406908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Cosa si perde</a:t>
            </a:r>
            <a:endParaRPr lang="en-US" sz="1500" dirty="0"/>
          </a:p>
        </p:txBody>
      </p:sp>
      <p:sp>
        <p:nvSpPr>
          <p:cNvPr id="21" name="Text 18"/>
          <p:cNvSpPr txBox="1"/>
          <p:nvPr/>
        </p:nvSpPr>
        <p:spPr>
          <a:xfrm>
            <a:off x="8330184" y="4617720"/>
            <a:ext cx="3108960" cy="1097280"/>
          </a:xfrm>
          <a:prstGeom prst="rect">
            <a:avLst/>
          </a:prstGeom>
          <a:noFill/>
          <a:ln/>
        </p:spPr>
        <p:txBody>
          <a:bodyPr wrap="square" lIns="0" tIns="0" rIns="0" bIns="0" rtlCol="0" anchor="t"/>
          <a:lstStyle/>
          <a:p>
            <a:pPr algn="l" indent="0" marL="0">
              <a:buNone/>
            </a:pPr>
            <a:r>
              <a:rPr lang="en-US" sz="1300" dirty="0">
                <a:solidFill>
                  <a:schemeClr val="tx1"/>
                </a:solidFill>
              </a:rPr>
              <a:t>La dinamica di l (l̇, l̈), la rotazione del torso rispetto al pendolo equivalente, la cedevolezza delle gambe.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Linearizzazione e proprietà strutturali</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1 · Modellazione</a:t>
            </a:r>
            <a:endParaRPr lang="en-US" sz="1200" dirty="0"/>
          </a:p>
        </p:txBody>
      </p:sp>
      <p:pic>
        <p:nvPicPr>
          <p:cNvPr id="5" name="Image 0" descr="Formula: vlwip_lin">    </p:cNvPr>
          <p:cNvPicPr>
            <a:picLocks noChangeAspect="1"/>
          </p:cNvPicPr>
          <p:nvPr/>
        </p:nvPicPr>
        <p:blipFill>
          <a:blip r:embed="rId1"/>
          <a:stretch>
            <a:fillRect/>
          </a:stretch>
        </p:blipFill>
        <p:spPr>
          <a:xfrm>
            <a:off x="548640" y="1325880"/>
            <a:ext cx="11064240" cy="968763"/>
          </a:xfrm>
          <a:prstGeom prst="rect">
            <a:avLst/>
          </a:prstGeom>
        </p:spPr>
      </p:pic>
      <p:pic>
        <p:nvPicPr>
          <p:cNvPr id="6" name="Image 1" descr="Formula: fase_non_minima">    </p:cNvPr>
          <p:cNvPicPr>
            <a:picLocks noChangeAspect="1"/>
          </p:cNvPicPr>
          <p:nvPr/>
        </p:nvPicPr>
        <p:blipFill>
          <a:blip r:embed="rId2"/>
          <a:stretch>
            <a:fillRect/>
          </a:stretch>
        </p:blipFill>
        <p:spPr>
          <a:xfrm>
            <a:off x="2084762" y="2514600"/>
            <a:ext cx="7991996" cy="64008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6309360" cy="914400"/>
        </p:xfrm>
        <a:graphic>
          <a:graphicData uri="http://schemas.openxmlformats.org/drawingml/2006/table">
            <a:tbl>
              <a:tblPr/>
              <a:tblGrid>
                <a:gridCol w="1005840"/>
                <a:gridCol w="1097280"/>
                <a:gridCol w="1097280"/>
                <a:gridCol w="914400"/>
                <a:gridCol w="1005840"/>
                <a:gridCol w="1188720"/>
              </a:tblGrid>
              <a:tr h="384048">
                <a:tc>
                  <a:txBody>
                    <a:bodyPr/>
                    <a:lstStyle/>
                    <a:p>
                      <a:pPr algn="ctr" indent="0" marL="0">
                        <a:buNone/>
                      </a:pPr>
                      <a:r>
                        <a:rPr lang="en-US" sz="1200" b="1" dirty="0">
                          <a:solidFill>
                            <a:schemeClr val="bg1"/>
                          </a:solidFill>
                        </a:rPr>
                        <a:t>l [m]</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bg1"/>
                          </a:solidFill>
                        </a:rPr>
                        <a:t>a</a:t>
                      </a:r>
                      <a:r>
                        <a:rPr lang="en-US" sz="1200" b="1" baseline="-40000" dirty="0">
                          <a:solidFill>
                            <a:schemeClr val="bg1"/>
                          </a:solidFill>
                        </a:rPr>
                        <a:t>1</a:t>
                      </a:r>
                      <a:r>
                        <a:rPr lang="en-US" sz="1200" b="1" dirty="0">
                          <a:solidFill>
                            <a:schemeClr val="bg1"/>
                          </a:solidFill>
                        </a:rPr>
                        <a:t> [m/s²]</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bg1"/>
                          </a:solidFill>
                        </a:rPr>
                        <a:t>a</a:t>
                      </a:r>
                      <a:r>
                        <a:rPr lang="en-US" sz="1200" b="1" baseline="-40000" dirty="0">
                          <a:solidFill>
                            <a:schemeClr val="bg1"/>
                          </a:solidFill>
                        </a:rPr>
                        <a:t>2</a:t>
                      </a:r>
                      <a:r>
                        <a:rPr lang="en-US" sz="1200" b="1" dirty="0">
                          <a:solidFill>
                            <a:schemeClr val="bg1"/>
                          </a:solidFill>
                        </a:rPr>
                        <a:t> [s</a:t>
                      </a:r>
                      <a:r>
                        <a:rPr lang="en-US" sz="1200" b="1" baseline="30000" dirty="0">
                          <a:solidFill>
                            <a:schemeClr val="bg1"/>
                          </a:solidFill>
                        </a:rPr>
                        <a:t>-2</a:t>
                      </a:r>
                      <a:r>
                        <a:rPr lang="en-US" sz="1200" b="1" dirty="0">
                          <a:solidFill>
                            <a:schemeClr val="bg1"/>
                          </a:solidFill>
                        </a:rPr>
                        <a:t>]</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bg1"/>
                          </a:solidFill>
                        </a:rPr>
                        <a:t>b</a:t>
                      </a:r>
                      <a:r>
                        <a:rPr lang="en-US" sz="1200" b="1" baseline="-40000" dirty="0">
                          <a:solidFill>
                            <a:schemeClr val="bg1"/>
                          </a:solidFill>
                        </a:rPr>
                        <a:t>1</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bg1"/>
                          </a:solidFill>
                        </a:rPr>
                        <a:t>b</a:t>
                      </a:r>
                      <a:r>
                        <a:rPr lang="en-US" sz="1200" b="1" baseline="-40000" dirty="0">
                          <a:solidFill>
                            <a:schemeClr val="bg1"/>
                          </a:solidFill>
                        </a:rPr>
                        <a:t>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bg1"/>
                          </a:solidFill>
                        </a:rPr>
                        <a:t>√a</a:t>
                      </a:r>
                      <a:r>
                        <a:rPr lang="en-US" sz="1200" b="1" baseline="-40000" dirty="0">
                          <a:solidFill>
                            <a:schemeClr val="bg1"/>
                          </a:solidFill>
                        </a:rPr>
                        <a:t>2</a:t>
                      </a:r>
                      <a:r>
                        <a:rPr lang="en-US" sz="1200" b="1" dirty="0">
                          <a:solidFill>
                            <a:schemeClr val="bg1"/>
                          </a:solidFill>
                        </a:rPr>
                        <a:t> [rad/s]</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4"/>
                    </a:solidFill>
                  </a:tcPr>
                </a:tc>
              </a:tr>
              <a:tr h="384048">
                <a:tc>
                  <a:txBody>
                    <a:bodyPr/>
                    <a:lstStyle/>
                    <a:p>
                      <a:pPr algn="ctr" indent="0" marL="0">
                        <a:buNone/>
                      </a:pPr>
                      <a:r>
                        <a:rPr lang="en-US" sz="1200" dirty="0">
                          <a:solidFill>
                            <a:schemeClr val="tx1"/>
                          </a:solidFill>
                        </a:rPr>
                        <a:t>0,2188</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−12,02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89,17</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8,055</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−38,20</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9,44</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384048">
                <a:tc>
                  <a:txBody>
                    <a:bodyPr/>
                    <a:lstStyle/>
                    <a:p>
                      <a:pPr algn="ctr" indent="0" marL="0">
                        <a:buNone/>
                      </a:pPr>
                      <a:r>
                        <a:rPr lang="en-US" sz="1200" b="1" dirty="0">
                          <a:solidFill>
                            <a:schemeClr val="tx1"/>
                          </a:solidFill>
                        </a:rPr>
                        <a:t>0,1627</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−10,60</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105,82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7,933</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−50,15</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10,29</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384048">
                <a:tc>
                  <a:txBody>
                    <a:bodyPr/>
                    <a:lstStyle/>
                    <a:p>
                      <a:pPr algn="ctr" indent="0" marL="0">
                        <a:buNone/>
                      </a:pPr>
                      <a:r>
                        <a:rPr lang="en-US" sz="1200" dirty="0">
                          <a:solidFill>
                            <a:schemeClr val="tx1"/>
                          </a:solidFill>
                        </a:rPr>
                        <a:t>0,1061</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−7,86</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120,35</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7,379</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−68,44</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10,97</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384048">
                <a:tc>
                  <a:txBody>
                    <a:bodyPr/>
                    <a:lstStyle/>
                    <a:p>
                      <a:pPr algn="ctr" indent="0" marL="0">
                        <a:buNone/>
                      </a:pPr>
                      <a:r>
                        <a:rPr lang="en-US" sz="1200" dirty="0">
                          <a:solidFill>
                            <a:schemeClr val="tx1"/>
                          </a:solidFill>
                        </a:rPr>
                        <a:t>0,0738</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−5,32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116,94</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6,564</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−80,40</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10,81</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bl>
          </a:graphicData>
        </a:graphic>
      </p:graphicFrame>
      <p:sp>
        <p:nvSpPr>
          <p:cNvPr id="8" name="Text 3"/>
          <p:cNvSpPr txBox="1"/>
          <p:nvPr/>
        </p:nvSpPr>
        <p:spPr>
          <a:xfrm>
            <a:off x="7223760" y="3337560"/>
            <a:ext cx="2194560" cy="685800"/>
          </a:xfrm>
          <a:prstGeom prst="rect">
            <a:avLst/>
          </a:prstGeom>
          <a:noFill/>
          <a:ln/>
        </p:spPr>
        <p:txBody>
          <a:bodyPr wrap="square" lIns="0" tIns="0" rIns="0" bIns="0" rtlCol="0" anchor="b"/>
          <a:lstStyle/>
          <a:p>
            <a:pPr algn="l" indent="0" marL="0">
              <a:buNone/>
            </a:pPr>
            <a:r>
              <a:rPr lang="en-US" sz="3000" b="1" dirty="0">
                <a:solidFill>
                  <a:schemeClr val="accent1"/>
                </a:solidFill>
                <a:latin typeface="Cambria" pitchFamily="34" charset="0"/>
                <a:ea typeface="Cambria" pitchFamily="34" charset="-122"/>
                <a:cs typeface="Cambria" pitchFamily="34" charset="-120"/>
              </a:rPr>
              <a:t>+10,29</a:t>
            </a:r>
            <a:endParaRPr lang="en-US" sz="3000" dirty="0"/>
          </a:p>
        </p:txBody>
      </p:sp>
      <p:sp>
        <p:nvSpPr>
          <p:cNvPr id="9" name="Text 4"/>
          <p:cNvSpPr txBox="1"/>
          <p:nvPr/>
        </p:nvSpPr>
        <p:spPr>
          <a:xfrm>
            <a:off x="7223760" y="4069080"/>
            <a:ext cx="2194560" cy="640080"/>
          </a:xfrm>
          <a:prstGeom prst="rect">
            <a:avLst/>
          </a:prstGeom>
          <a:noFill/>
          <a:ln/>
        </p:spPr>
        <p:txBody>
          <a:bodyPr wrap="square" lIns="0" tIns="0" rIns="0" bIns="0" rtlCol="0" anchor="t"/>
          <a:lstStyle/>
          <a:p>
            <a:pPr algn="l" indent="0" marL="0">
              <a:buNone/>
            </a:pPr>
            <a:r>
              <a:rPr lang="en-US" sz="1200" dirty="0">
                <a:solidFill>
                  <a:schemeClr val="accent4"/>
                </a:solidFill>
              </a:rPr>
              <a:t>rad/s, polo instabile: diverge in 97 ms</a:t>
            </a:r>
            <a:endParaRPr lang="en-US" sz="1200" dirty="0"/>
          </a:p>
        </p:txBody>
      </p:sp>
      <p:sp>
        <p:nvSpPr>
          <p:cNvPr id="10" name="Text 5"/>
          <p:cNvSpPr txBox="1"/>
          <p:nvPr/>
        </p:nvSpPr>
        <p:spPr>
          <a:xfrm>
            <a:off x="9509760" y="3337560"/>
            <a:ext cx="2194560" cy="685800"/>
          </a:xfrm>
          <a:prstGeom prst="rect">
            <a:avLst/>
          </a:prstGeom>
          <a:noFill/>
          <a:ln/>
        </p:spPr>
        <p:txBody>
          <a:bodyPr wrap="square" lIns="0" tIns="0" rIns="0" bIns="0" rtlCol="0" anchor="b"/>
          <a:lstStyle/>
          <a:p>
            <a:pPr algn="l" indent="0" marL="0">
              <a:buNone/>
            </a:pPr>
            <a:r>
              <a:rPr lang="en-US" sz="3000" b="1" dirty="0">
                <a:solidFill>
                  <a:schemeClr val="accent1"/>
                </a:solidFill>
                <a:latin typeface="Cambria" pitchFamily="34" charset="0"/>
                <a:ea typeface="Cambria" pitchFamily="34" charset="-122"/>
                <a:cs typeface="Cambria" pitchFamily="34" charset="-120"/>
              </a:rPr>
              <a:t>±6,23</a:t>
            </a:r>
            <a:endParaRPr lang="en-US" sz="3000" dirty="0"/>
          </a:p>
        </p:txBody>
      </p:sp>
      <p:sp>
        <p:nvSpPr>
          <p:cNvPr id="11" name="Text 6"/>
          <p:cNvSpPr txBox="1"/>
          <p:nvPr/>
        </p:nvSpPr>
        <p:spPr>
          <a:xfrm>
            <a:off x="9509760" y="4069080"/>
            <a:ext cx="2194560" cy="640080"/>
          </a:xfrm>
          <a:prstGeom prst="rect">
            <a:avLst/>
          </a:prstGeom>
          <a:noFill/>
          <a:ln/>
        </p:spPr>
        <p:txBody>
          <a:bodyPr wrap="square" lIns="0" tIns="0" rIns="0" bIns="0" rtlCol="0" anchor="t"/>
          <a:lstStyle/>
          <a:p>
            <a:pPr algn="l" indent="0" marL="0">
              <a:buNone/>
            </a:pPr>
            <a:r>
              <a:rPr lang="en-US" sz="1200" dirty="0">
                <a:solidFill>
                  <a:schemeClr val="accent4"/>
                </a:solidFill>
              </a:rPr>
              <a:t>rad/s, zeri: fase non minima</a:t>
            </a:r>
            <a:endParaRPr lang="en-US" sz="1200" dirty="0"/>
          </a:p>
        </p:txBody>
      </p:sp>
      <p:sp>
        <p:nvSpPr>
          <p:cNvPr id="12" name="Text 7"/>
          <p:cNvSpPr txBox="1"/>
          <p:nvPr/>
        </p:nvSpPr>
        <p:spPr>
          <a:xfrm>
            <a:off x="7223760" y="4800600"/>
            <a:ext cx="4480560" cy="685800"/>
          </a:xfrm>
          <a:prstGeom prst="rect">
            <a:avLst/>
          </a:prstGeom>
          <a:noFill/>
          <a:ln/>
        </p:spPr>
        <p:txBody>
          <a:bodyPr wrap="square" lIns="0" tIns="0" rIns="0" bIns="0" rtlCol="0" anchor="b"/>
          <a:lstStyle/>
          <a:p>
            <a:pPr algn="l" indent="0" marL="0">
              <a:buNone/>
            </a:pPr>
            <a:r>
              <a:rPr lang="en-US" sz="2600" b="1" dirty="0">
                <a:solidFill>
                  <a:schemeClr val="accent4"/>
                </a:solidFill>
                <a:latin typeface="Cambria" pitchFamily="34" charset="0"/>
                <a:ea typeface="Cambria" pitchFamily="34" charset="-122"/>
                <a:cs typeface="Cambria" pitchFamily="34" charset="-120"/>
              </a:rPr>
              <a:t>6,14 m/s²/rad</a:t>
            </a:r>
            <a:endParaRPr lang="en-US" sz="2600" dirty="0"/>
          </a:p>
        </p:txBody>
      </p:sp>
      <p:sp>
        <p:nvSpPr>
          <p:cNvPr id="13" name="Text 8"/>
          <p:cNvSpPr txBox="1"/>
          <p:nvPr/>
        </p:nvSpPr>
        <p:spPr>
          <a:xfrm>
            <a:off x="7223760" y="5532120"/>
            <a:ext cx="4480560" cy="640080"/>
          </a:xfrm>
          <a:prstGeom prst="rect">
            <a:avLst/>
          </a:prstGeom>
          <a:noFill/>
          <a:ln/>
        </p:spPr>
        <p:txBody>
          <a:bodyPr wrap="square" lIns="0" tIns="0" rIns="0" bIns="0" rtlCol="0" anchor="t"/>
          <a:lstStyle/>
          <a:p>
            <a:pPr algn="l" indent="0" marL="0">
              <a:buNone/>
            </a:pPr>
            <a:r>
              <a:rPr lang="en-US" sz="1200" dirty="0">
                <a:solidFill>
                  <a:schemeClr val="accent4"/>
                </a:solidFill>
              </a:rPr>
              <a:t>g</a:t>
            </a:r>
            <a:r>
              <a:rPr lang="en-US" sz="1200" baseline="-40000" dirty="0">
                <a:solidFill>
                  <a:schemeClr val="accent4"/>
                </a:solidFill>
              </a:rPr>
              <a:t>st</a:t>
            </a:r>
            <a:r>
              <a:rPr lang="en-US" sz="1200" dirty="0">
                <a:solidFill>
                  <a:schemeClr val="accent4"/>
                </a:solidFill>
              </a:rPr>
              <a:t> = a</a:t>
            </a:r>
            <a:r>
              <a:rPr lang="en-US" sz="1200" baseline="-40000" dirty="0">
                <a:solidFill>
                  <a:schemeClr val="accent4"/>
                </a:solidFill>
              </a:rPr>
              <a:t>1</a:t>
            </a:r>
            <a:r>
              <a:rPr lang="en-US" sz="1200" dirty="0">
                <a:solidFill>
                  <a:schemeClr val="accent4"/>
                </a:solidFill>
              </a:rPr>
              <a:t> − b</a:t>
            </a:r>
            <a:r>
              <a:rPr lang="en-US" sz="1200" baseline="-40000" dirty="0">
                <a:solidFill>
                  <a:schemeClr val="accent4"/>
                </a:solidFill>
              </a:rPr>
              <a:t>1</a:t>
            </a:r>
            <a:r>
              <a:rPr lang="en-US" sz="1200" dirty="0">
                <a:solidFill>
                  <a:schemeClr val="accent4"/>
                </a:solidFill>
              </a:rPr>
              <a:t>a</a:t>
            </a:r>
            <a:r>
              <a:rPr lang="en-US" sz="1200" baseline="-40000" dirty="0">
                <a:solidFill>
                  <a:schemeClr val="accent4"/>
                </a:solidFill>
              </a:rPr>
              <a:t>2</a:t>
            </a:r>
            <a:r>
              <a:rPr lang="en-US" sz="1200" dirty="0">
                <a:solidFill>
                  <a:schemeClr val="accent4"/>
                </a:solidFill>
              </a:rPr>
              <a:t>/b</a:t>
            </a:r>
            <a:r>
              <a:rPr lang="en-US" sz="1200" baseline="-40000" dirty="0">
                <a:solidFill>
                  <a:schemeClr val="accent4"/>
                </a:solidFill>
              </a:rPr>
              <a:t>2</a:t>
            </a:r>
            <a:r>
              <a:rPr lang="en-US" sz="1200" dirty="0">
                <a:solidFill>
                  <a:schemeClr val="accent4"/>
                </a:solidFill>
              </a:rPr>
              <a:t>: l'inclinazione è l'ingresso della traslazione</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2834640" y="2057400"/>
            <a:ext cx="8595360" cy="1097280"/>
          </a:xfrm>
          <a:prstGeom prst="rect">
            <a:avLst/>
          </a:prstGeom>
          <a:noFill/>
          <a:ln/>
        </p:spPr>
        <p:txBody>
          <a:bodyPr wrap="square" lIns="0" tIns="0" rIns="0" bIns="0" rtlCol="0" anchor="b"/>
          <a:lstStyle/>
          <a:p>
            <a:pPr algn="l" indent="0" marL="0">
              <a:buNone/>
            </a:pPr>
            <a:r>
              <a:rPr lang="en-US" sz="4000" b="1" dirty="0">
                <a:solidFill>
                  <a:schemeClr val="bg1"/>
                </a:solidFill>
              </a:rPr>
              <a:t>Spazio delle configurazioni e gradi di libertà</a:t>
            </a:r>
            <a:endParaRPr lang="en-US" sz="4000" dirty="0"/>
          </a:p>
        </p:txBody>
      </p:sp>
      <p:sp>
        <p:nvSpPr>
          <p:cNvPr id="3" name="Text 0"/>
          <p:cNvSpPr/>
          <p:nvPr>
            <p:ph idx="101" type="body" hasCustomPrompt="1"/>
          </p:nvPr>
        </p:nvSpPr>
        <p:spPr>
          <a:xfrm>
            <a:off x="2834640" y="3291840"/>
            <a:ext cx="8229600" cy="1645920"/>
          </a:xfrm>
          <a:prstGeom prst="rect">
            <a:avLst/>
          </a:prstGeom>
          <a:noFill/>
          <a:ln/>
        </p:spPr>
        <p:txBody>
          <a:bodyPr wrap="square" lIns="0" tIns="0" rIns="0" bIns="0" rtlCol="0" anchor="t"/>
          <a:lstStyle/>
          <a:p>
            <a:pPr algn="l" indent="0" marL="0">
              <a:buNone/>
            </a:pPr>
            <a:r>
              <a:rPr lang="en-US" sz="1800" dirty="0">
                <a:solidFill>
                  <a:schemeClr val="bg2"/>
                </a:solidFill>
              </a:rPr>
              <a:t>Conteggio dei DoF, topologia del C-space, vincoli olonomi e anolonomi, sottoattuazione</a:t>
            </a:r>
            <a:endParaRPr lang="en-US" sz="1800" dirty="0"/>
          </a:p>
        </p:txBody>
      </p:sp>
      <p:sp>
        <p:nvSpPr>
          <p:cNvPr id="4" name="Shape 2"/>
          <p:cNvSpPr/>
          <p:nvPr/>
        </p:nvSpPr>
        <p:spPr>
          <a:xfrm>
            <a:off x="868680" y="2148840"/>
            <a:ext cx="1554480" cy="1554480"/>
          </a:xfrm>
          <a:prstGeom prst="ellipse">
            <a:avLst/>
          </a:prstGeom>
          <a:solidFill>
            <a:schemeClr val="accent3"/>
          </a:solidFill>
          <a:ln w="12700">
            <a:solidFill>
              <a:schemeClr val="accent3"/>
            </a:solidFill>
            <a:prstDash val="solid"/>
          </a:ln>
        </p:spPr>
      </p:sp>
      <p:sp>
        <p:nvSpPr>
          <p:cNvPr id="5" name="Text 3"/>
          <p:cNvSpPr txBox="1"/>
          <p:nvPr/>
        </p:nvSpPr>
        <p:spPr>
          <a:xfrm>
            <a:off x="868680" y="2148840"/>
            <a:ext cx="1554480" cy="1554480"/>
          </a:xfrm>
          <a:prstGeom prst="rect">
            <a:avLst/>
          </a:prstGeom>
          <a:noFill/>
          <a:ln/>
        </p:spPr>
        <p:txBody>
          <a:bodyPr wrap="square" lIns="0" tIns="0" rIns="0" bIns="0" rtlCol="0" anchor="ctr"/>
          <a:lstStyle/>
          <a:p>
            <a:pPr algn="ctr" indent="0" marL="0">
              <a:buNone/>
            </a:pPr>
            <a:r>
              <a:rPr lang="en-US" sz="6000" b="1" dirty="0">
                <a:solidFill>
                  <a:schemeClr val="bg1"/>
                </a:solidFill>
              </a:rPr>
              <a:t>2</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Quanti gradi di libertà</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2 · C-space e DoF</a:t>
            </a:r>
            <a:endParaRPr lang="en-US" sz="1200" dirty="0"/>
          </a:p>
        </p:txBody>
      </p:sp>
      <p:pic>
        <p:nvPicPr>
          <p:cNvPr id="5" name="Image 0" descr="Formula: dof">    </p:cNvPr>
          <p:cNvPicPr>
            <a:picLocks noChangeAspect="1"/>
          </p:cNvPicPr>
          <p:nvPr/>
        </p:nvPicPr>
        <p:blipFill>
          <a:blip r:embed="rId1"/>
          <a:stretch>
            <a:fillRect/>
          </a:stretch>
        </p:blipFill>
        <p:spPr>
          <a:xfrm>
            <a:off x="1283527" y="1371600"/>
            <a:ext cx="9594466" cy="692003"/>
          </a:xfrm>
          <a:prstGeom prst="rect">
            <a:avLst/>
          </a:prstGeom>
        </p:spPr>
      </p:pic>
      <p:sp>
        <p:nvSpPr>
          <p:cNvPr id="6" name="Shape 3"/>
          <p:cNvSpPr/>
          <p:nvPr/>
        </p:nvSpPr>
        <p:spPr>
          <a:xfrm>
            <a:off x="548640" y="2514600"/>
            <a:ext cx="2606040" cy="2377440"/>
          </a:xfrm>
          <a:prstGeom prst="roundRect">
            <a:avLst>
              <a:gd name="adj" fmla="val 3077"/>
            </a:avLst>
          </a:prstGeom>
          <a:solidFill>
            <a:schemeClr val="bg2"/>
          </a:solidFill>
          <a:ln w="12700">
            <a:solidFill>
              <a:schemeClr val="bg2"/>
            </a:solidFill>
            <a:prstDash val="solid"/>
          </a:ln>
        </p:spPr>
      </p:sp>
      <p:sp>
        <p:nvSpPr>
          <p:cNvPr id="7" name="Shape 4"/>
          <p:cNvSpPr/>
          <p:nvPr/>
        </p:nvSpPr>
        <p:spPr>
          <a:xfrm>
            <a:off x="1417320" y="2697480"/>
            <a:ext cx="868680" cy="868680"/>
          </a:xfrm>
          <a:prstGeom prst="ellipse">
            <a:avLst/>
          </a:prstGeom>
          <a:solidFill>
            <a:schemeClr val="accent3"/>
          </a:solidFill>
          <a:ln w="12700">
            <a:solidFill>
              <a:schemeClr val="accent3"/>
            </a:solidFill>
            <a:prstDash val="solid"/>
          </a:ln>
        </p:spPr>
      </p:sp>
      <p:sp>
        <p:nvSpPr>
          <p:cNvPr id="8" name="Text 5"/>
          <p:cNvSpPr txBox="1"/>
          <p:nvPr/>
        </p:nvSpPr>
        <p:spPr>
          <a:xfrm>
            <a:off x="1417320" y="2697480"/>
            <a:ext cx="868680" cy="868680"/>
          </a:xfrm>
          <a:prstGeom prst="rect">
            <a:avLst/>
          </a:prstGeom>
          <a:noFill/>
          <a:ln/>
        </p:spPr>
        <p:txBody>
          <a:bodyPr wrap="square" lIns="0" tIns="0" rIns="0" bIns="0" rtlCol="0" anchor="ctr"/>
          <a:lstStyle/>
          <a:p>
            <a:pPr algn="ctr" indent="0" marL="0">
              <a:buNone/>
            </a:pPr>
            <a:r>
              <a:rPr lang="en-US" sz="3200" b="1" dirty="0">
                <a:solidFill>
                  <a:schemeClr val="bg1"/>
                </a:solidFill>
              </a:rPr>
              <a:t>6</a:t>
            </a:r>
            <a:endParaRPr lang="en-US" sz="3200" dirty="0"/>
          </a:p>
        </p:txBody>
      </p:sp>
      <p:sp>
        <p:nvSpPr>
          <p:cNvPr id="9" name="Text 6"/>
          <p:cNvSpPr txBox="1"/>
          <p:nvPr/>
        </p:nvSpPr>
        <p:spPr>
          <a:xfrm>
            <a:off x="731520" y="3657600"/>
            <a:ext cx="2240280" cy="365760"/>
          </a:xfrm>
          <a:prstGeom prst="rect">
            <a:avLst/>
          </a:prstGeom>
          <a:noFill/>
          <a:ln/>
        </p:spPr>
        <p:txBody>
          <a:bodyPr wrap="square" lIns="0" tIns="0" rIns="0" bIns="0" rtlCol="0" anchor="t"/>
          <a:lstStyle/>
          <a:p>
            <a:pPr algn="ctr" indent="0" marL="0">
              <a:buNone/>
            </a:pPr>
            <a:r>
              <a:rPr lang="en-US" sz="1700" b="1" dirty="0">
                <a:solidFill>
                  <a:schemeClr val="tx2"/>
                </a:solidFill>
              </a:rPr>
              <a:t>Torso</a:t>
            </a:r>
            <a:endParaRPr lang="en-US" sz="1700" dirty="0"/>
          </a:p>
        </p:txBody>
      </p:sp>
      <p:sp>
        <p:nvSpPr>
          <p:cNvPr id="10" name="Text 7"/>
          <p:cNvSpPr txBox="1"/>
          <p:nvPr/>
        </p:nvSpPr>
        <p:spPr>
          <a:xfrm>
            <a:off x="731520" y="4069080"/>
            <a:ext cx="2240280" cy="731520"/>
          </a:xfrm>
          <a:prstGeom prst="rect">
            <a:avLst/>
          </a:prstGeom>
          <a:noFill/>
          <a:ln/>
        </p:spPr>
        <p:txBody>
          <a:bodyPr wrap="square" lIns="0" tIns="0" rIns="0" bIns="0" rtlCol="0" anchor="t"/>
          <a:lstStyle/>
          <a:p>
            <a:pPr algn="ctr" indent="0" marL="0">
              <a:buNone/>
            </a:pPr>
            <a:r>
              <a:rPr lang="en-US" sz="1300" dirty="0">
                <a:solidFill>
                  <a:schemeClr val="accent4"/>
                </a:solidFill>
              </a:rPr>
              <a:t>corpo rigido libero: 3 traslazioni e 3 rotazioni</a:t>
            </a:r>
            <a:endParaRPr lang="en-US" sz="1300" dirty="0"/>
          </a:p>
        </p:txBody>
      </p:sp>
      <p:sp>
        <p:nvSpPr>
          <p:cNvPr id="11" name="Shape 8"/>
          <p:cNvSpPr/>
          <p:nvPr/>
        </p:nvSpPr>
        <p:spPr>
          <a:xfrm>
            <a:off x="3383280" y="2514600"/>
            <a:ext cx="2606040" cy="2377440"/>
          </a:xfrm>
          <a:prstGeom prst="roundRect">
            <a:avLst>
              <a:gd name="adj" fmla="val 3077"/>
            </a:avLst>
          </a:prstGeom>
          <a:solidFill>
            <a:schemeClr val="bg2"/>
          </a:solidFill>
          <a:ln w="12700">
            <a:solidFill>
              <a:schemeClr val="bg2"/>
            </a:solidFill>
            <a:prstDash val="solid"/>
          </a:ln>
        </p:spPr>
      </p:sp>
      <p:sp>
        <p:nvSpPr>
          <p:cNvPr id="12" name="Shape 9"/>
          <p:cNvSpPr/>
          <p:nvPr/>
        </p:nvSpPr>
        <p:spPr>
          <a:xfrm>
            <a:off x="4251960" y="2697480"/>
            <a:ext cx="868680" cy="868680"/>
          </a:xfrm>
          <a:prstGeom prst="ellipse">
            <a:avLst/>
          </a:prstGeom>
          <a:solidFill>
            <a:schemeClr val="accent3"/>
          </a:solidFill>
          <a:ln w="12700">
            <a:solidFill>
              <a:schemeClr val="accent3"/>
            </a:solidFill>
            <a:prstDash val="solid"/>
          </a:ln>
        </p:spPr>
      </p:sp>
      <p:sp>
        <p:nvSpPr>
          <p:cNvPr id="13" name="Text 10"/>
          <p:cNvSpPr txBox="1"/>
          <p:nvPr/>
        </p:nvSpPr>
        <p:spPr>
          <a:xfrm>
            <a:off x="4251960" y="2697480"/>
            <a:ext cx="868680" cy="86868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4" name="Text 11"/>
          <p:cNvSpPr txBox="1"/>
          <p:nvPr/>
        </p:nvSpPr>
        <p:spPr>
          <a:xfrm>
            <a:off x="3566160" y="3657600"/>
            <a:ext cx="2240280" cy="365760"/>
          </a:xfrm>
          <a:prstGeom prst="rect">
            <a:avLst/>
          </a:prstGeom>
          <a:noFill/>
          <a:ln/>
        </p:spPr>
        <p:txBody>
          <a:bodyPr wrap="square" lIns="0" tIns="0" rIns="0" bIns="0" rtlCol="0" anchor="t"/>
          <a:lstStyle/>
          <a:p>
            <a:pPr algn="ctr" indent="0" marL="0">
              <a:buNone/>
            </a:pPr>
            <a:r>
              <a:rPr lang="en-US" sz="1700" b="1" dirty="0">
                <a:solidFill>
                  <a:schemeClr val="tx2"/>
                </a:solidFill>
              </a:rPr>
              <a:t>Anche</a:t>
            </a:r>
            <a:endParaRPr lang="en-US" sz="1700" dirty="0"/>
          </a:p>
        </p:txBody>
      </p:sp>
      <p:sp>
        <p:nvSpPr>
          <p:cNvPr id="15" name="Text 12"/>
          <p:cNvSpPr txBox="1"/>
          <p:nvPr/>
        </p:nvSpPr>
        <p:spPr>
          <a:xfrm>
            <a:off x="3566160" y="4069080"/>
            <a:ext cx="2240280" cy="731520"/>
          </a:xfrm>
          <a:prstGeom prst="rect">
            <a:avLst/>
          </a:prstGeom>
          <a:noFill/>
          <a:ln/>
        </p:spPr>
        <p:txBody>
          <a:bodyPr wrap="square" lIns="0" tIns="0" rIns="0" bIns="0" rtlCol="0" anchor="t"/>
          <a:lstStyle/>
          <a:p>
            <a:pPr algn="ctr" indent="0" marL="0">
              <a:buNone/>
            </a:pPr>
            <a:r>
              <a:rPr lang="en-US" sz="1300" dirty="0">
                <a:solidFill>
                  <a:schemeClr val="accent4"/>
                </a:solidFill>
              </a:rPr>
              <a:t>giunti rotoidali, limiti ±0,9 rad</a:t>
            </a:r>
            <a:endParaRPr lang="en-US" sz="1300" dirty="0"/>
          </a:p>
        </p:txBody>
      </p:sp>
      <p:sp>
        <p:nvSpPr>
          <p:cNvPr id="16" name="Shape 13"/>
          <p:cNvSpPr/>
          <p:nvPr/>
        </p:nvSpPr>
        <p:spPr>
          <a:xfrm>
            <a:off x="6217920" y="2514600"/>
            <a:ext cx="2606040" cy="2377440"/>
          </a:xfrm>
          <a:prstGeom prst="roundRect">
            <a:avLst>
              <a:gd name="adj" fmla="val 3077"/>
            </a:avLst>
          </a:prstGeom>
          <a:solidFill>
            <a:schemeClr val="bg2"/>
          </a:solidFill>
          <a:ln w="12700">
            <a:solidFill>
              <a:schemeClr val="bg2"/>
            </a:solidFill>
            <a:prstDash val="solid"/>
          </a:ln>
        </p:spPr>
      </p:sp>
      <p:sp>
        <p:nvSpPr>
          <p:cNvPr id="17" name="Shape 14"/>
          <p:cNvSpPr/>
          <p:nvPr/>
        </p:nvSpPr>
        <p:spPr>
          <a:xfrm>
            <a:off x="7086600" y="2697480"/>
            <a:ext cx="868680" cy="868680"/>
          </a:xfrm>
          <a:prstGeom prst="ellipse">
            <a:avLst/>
          </a:prstGeom>
          <a:solidFill>
            <a:schemeClr val="accent3"/>
          </a:solidFill>
          <a:ln w="12700">
            <a:solidFill>
              <a:schemeClr val="accent3"/>
            </a:solidFill>
            <a:prstDash val="solid"/>
          </a:ln>
        </p:spPr>
      </p:sp>
      <p:sp>
        <p:nvSpPr>
          <p:cNvPr id="18" name="Text 15"/>
          <p:cNvSpPr txBox="1"/>
          <p:nvPr/>
        </p:nvSpPr>
        <p:spPr>
          <a:xfrm>
            <a:off x="7086600" y="2697480"/>
            <a:ext cx="868680" cy="86868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9" name="Text 16"/>
          <p:cNvSpPr txBox="1"/>
          <p:nvPr/>
        </p:nvSpPr>
        <p:spPr>
          <a:xfrm>
            <a:off x="6400800" y="3657600"/>
            <a:ext cx="2240280" cy="365760"/>
          </a:xfrm>
          <a:prstGeom prst="rect">
            <a:avLst/>
          </a:prstGeom>
          <a:noFill/>
          <a:ln/>
        </p:spPr>
        <p:txBody>
          <a:bodyPr wrap="square" lIns="0" tIns="0" rIns="0" bIns="0" rtlCol="0" anchor="t"/>
          <a:lstStyle/>
          <a:p>
            <a:pPr algn="ctr" indent="0" marL="0">
              <a:buNone/>
            </a:pPr>
            <a:r>
              <a:rPr lang="en-US" sz="1700" b="1" dirty="0">
                <a:solidFill>
                  <a:schemeClr val="tx2"/>
                </a:solidFill>
              </a:rPr>
              <a:t>Ginocchia</a:t>
            </a:r>
            <a:endParaRPr lang="en-US" sz="1700" dirty="0"/>
          </a:p>
        </p:txBody>
      </p:sp>
      <p:sp>
        <p:nvSpPr>
          <p:cNvPr id="20" name="Text 17"/>
          <p:cNvSpPr txBox="1"/>
          <p:nvPr/>
        </p:nvSpPr>
        <p:spPr>
          <a:xfrm>
            <a:off x="6400800" y="4069080"/>
            <a:ext cx="2240280" cy="731520"/>
          </a:xfrm>
          <a:prstGeom prst="rect">
            <a:avLst/>
          </a:prstGeom>
          <a:noFill/>
          <a:ln/>
        </p:spPr>
        <p:txBody>
          <a:bodyPr wrap="square" lIns="0" tIns="0" rIns="0" bIns="0" rtlCol="0" anchor="t"/>
          <a:lstStyle/>
          <a:p>
            <a:pPr algn="ctr" indent="0" marL="0">
              <a:buNone/>
            </a:pPr>
            <a:r>
              <a:rPr lang="en-US" sz="1300" dirty="0">
                <a:solidFill>
                  <a:schemeClr val="accent4"/>
                </a:solidFill>
              </a:rPr>
              <a:t>giunti rotoidali, limiti ±0,9 rad</a:t>
            </a:r>
            <a:endParaRPr lang="en-US" sz="1300" dirty="0"/>
          </a:p>
        </p:txBody>
      </p:sp>
      <p:sp>
        <p:nvSpPr>
          <p:cNvPr id="21" name="Shape 18"/>
          <p:cNvSpPr/>
          <p:nvPr/>
        </p:nvSpPr>
        <p:spPr>
          <a:xfrm>
            <a:off x="9052560" y="2514600"/>
            <a:ext cx="2606040" cy="2377440"/>
          </a:xfrm>
          <a:prstGeom prst="roundRect">
            <a:avLst>
              <a:gd name="adj" fmla="val 3077"/>
            </a:avLst>
          </a:prstGeom>
          <a:solidFill>
            <a:schemeClr val="bg2"/>
          </a:solidFill>
          <a:ln w="12700">
            <a:solidFill>
              <a:schemeClr val="bg2"/>
            </a:solidFill>
            <a:prstDash val="solid"/>
          </a:ln>
        </p:spPr>
      </p:sp>
      <p:sp>
        <p:nvSpPr>
          <p:cNvPr id="22" name="Shape 19"/>
          <p:cNvSpPr/>
          <p:nvPr/>
        </p:nvSpPr>
        <p:spPr>
          <a:xfrm>
            <a:off x="9921240" y="2697480"/>
            <a:ext cx="868680" cy="868680"/>
          </a:xfrm>
          <a:prstGeom prst="ellipse">
            <a:avLst/>
          </a:prstGeom>
          <a:solidFill>
            <a:schemeClr val="accent3"/>
          </a:solidFill>
          <a:ln w="12700">
            <a:solidFill>
              <a:schemeClr val="accent3"/>
            </a:solidFill>
            <a:prstDash val="solid"/>
          </a:ln>
        </p:spPr>
      </p:sp>
      <p:sp>
        <p:nvSpPr>
          <p:cNvPr id="23" name="Text 20"/>
          <p:cNvSpPr txBox="1"/>
          <p:nvPr/>
        </p:nvSpPr>
        <p:spPr>
          <a:xfrm>
            <a:off x="9921240" y="2697480"/>
            <a:ext cx="868680" cy="86868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24" name="Text 21"/>
          <p:cNvSpPr txBox="1"/>
          <p:nvPr/>
        </p:nvSpPr>
        <p:spPr>
          <a:xfrm>
            <a:off x="9235440" y="3657600"/>
            <a:ext cx="2240280" cy="365760"/>
          </a:xfrm>
          <a:prstGeom prst="rect">
            <a:avLst/>
          </a:prstGeom>
          <a:noFill/>
          <a:ln/>
        </p:spPr>
        <p:txBody>
          <a:bodyPr wrap="square" lIns="0" tIns="0" rIns="0" bIns="0" rtlCol="0" anchor="t"/>
          <a:lstStyle/>
          <a:p>
            <a:pPr algn="ctr" indent="0" marL="0">
              <a:buNone/>
            </a:pPr>
            <a:r>
              <a:rPr lang="en-US" sz="1700" b="1" dirty="0">
                <a:solidFill>
                  <a:schemeClr val="tx2"/>
                </a:solidFill>
              </a:rPr>
              <a:t>Ruote</a:t>
            </a:r>
            <a:endParaRPr lang="en-US" sz="1700" dirty="0"/>
          </a:p>
        </p:txBody>
      </p:sp>
      <p:sp>
        <p:nvSpPr>
          <p:cNvPr id="25" name="Text 22"/>
          <p:cNvSpPr txBox="1"/>
          <p:nvPr/>
        </p:nvSpPr>
        <p:spPr>
          <a:xfrm>
            <a:off x="9235440" y="4069080"/>
            <a:ext cx="2240280" cy="731520"/>
          </a:xfrm>
          <a:prstGeom prst="rect">
            <a:avLst/>
          </a:prstGeom>
          <a:noFill/>
          <a:ln/>
        </p:spPr>
        <p:txBody>
          <a:bodyPr wrap="square" lIns="0" tIns="0" rIns="0" bIns="0" rtlCol="0" anchor="t"/>
          <a:lstStyle/>
          <a:p>
            <a:pPr algn="ctr" indent="0" marL="0">
              <a:buNone/>
            </a:pPr>
            <a:r>
              <a:rPr lang="en-US" sz="1300" dirty="0">
                <a:solidFill>
                  <a:schemeClr val="accent4"/>
                </a:solidFill>
              </a:rPr>
              <a:t>giunti continui, senza limiti</a:t>
            </a:r>
            <a:endParaRPr lang="en-US" sz="1300" dirty="0"/>
          </a:p>
        </p:txBody>
      </p:sp>
      <p:sp>
        <p:nvSpPr>
          <p:cNvPr id="26" name="Text 23"/>
          <p:cNvSpPr txBox="1"/>
          <p:nvPr/>
        </p:nvSpPr>
        <p:spPr>
          <a:xfrm>
            <a:off x="548640" y="5212080"/>
            <a:ext cx="11064240" cy="457200"/>
          </a:xfrm>
          <a:prstGeom prst="rect">
            <a:avLst/>
          </a:prstGeom>
          <a:noFill/>
          <a:ln/>
        </p:spPr>
        <p:txBody>
          <a:bodyPr wrap="square" lIns="0" tIns="0" rIns="0" bIns="0" rtlCol="0" anchor="t"/>
          <a:lstStyle/>
          <a:p>
            <a:pPr algn="l" indent="0" marL="0">
              <a:buNone/>
            </a:pPr>
            <a:r>
              <a:rPr lang="en-US" sz="1600" b="1" dirty="0">
                <a:solidFill>
                  <a:schemeClr val="tx2"/>
                </a:solidFill>
              </a:rPr>
              <a:t>12 DoF</a:t>
            </a:r>
            <a:r>
              <a:rPr lang="en-US" sz="1600" dirty="0">
                <a:solidFill>
                  <a:schemeClr val="tx2"/>
                </a:solidFill>
              </a:rPr>
              <a:t> senza vincoli di contatto, contati come base flottante più giunti (Grübler esteso).</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Topologia del C-space</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2 · C-space e DoF</a:t>
            </a:r>
            <a:endParaRPr lang="en-US" sz="1200" dirty="0"/>
          </a:p>
        </p:txBody>
      </p:sp>
      <p:pic>
        <p:nvPicPr>
          <p:cNvPr id="5" name="Image 0" descr="Formula: cspace">    </p:cNvPr>
          <p:cNvPicPr>
            <a:picLocks noChangeAspect="1"/>
          </p:cNvPicPr>
          <p:nvPr/>
        </p:nvPicPr>
        <p:blipFill>
          <a:blip r:embed="rId1"/>
          <a:stretch>
            <a:fillRect/>
          </a:stretch>
        </p:blipFill>
        <p:spPr>
          <a:xfrm>
            <a:off x="2751420" y="1371600"/>
            <a:ext cx="6658680" cy="368023"/>
          </a:xfrm>
          <a:prstGeom prst="rect">
            <a:avLst/>
          </a:prstGeom>
        </p:spPr>
      </p:pic>
      <p:sp>
        <p:nvSpPr>
          <p:cNvPr id="6" name="Shape 3"/>
          <p:cNvSpPr/>
          <p:nvPr/>
        </p:nvSpPr>
        <p:spPr>
          <a:xfrm>
            <a:off x="548640" y="2286000"/>
            <a:ext cx="3520440" cy="3017520"/>
          </a:xfrm>
          <a:prstGeom prst="roundRect">
            <a:avLst>
              <a:gd name="adj" fmla="val 2424"/>
            </a:avLst>
          </a:prstGeom>
          <a:solidFill>
            <a:schemeClr val="bg2"/>
          </a:solidFill>
          <a:ln w="12700">
            <a:solidFill>
              <a:schemeClr val="bg2"/>
            </a:solidFill>
            <a:prstDash val="solid"/>
          </a:ln>
        </p:spPr>
      </p:sp>
      <p:sp>
        <p:nvSpPr>
          <p:cNvPr id="7" name="Shape 4"/>
          <p:cNvSpPr/>
          <p:nvPr/>
        </p:nvSpPr>
        <p:spPr>
          <a:xfrm>
            <a:off x="2171700" y="3337560"/>
            <a:ext cx="731520" cy="91"/>
          </a:xfrm>
          <a:prstGeom prst="line">
            <a:avLst/>
          </a:prstGeom>
          <a:noFill/>
          <a:ln w="31750">
            <a:solidFill>
              <a:schemeClr val="accent1"/>
            </a:solidFill>
            <a:prstDash val="solid"/>
            <a:tailEnd type="triangle"/>
          </a:ln>
        </p:spPr>
      </p:sp>
      <p:sp>
        <p:nvSpPr>
          <p:cNvPr id="8" name="Shape 5"/>
          <p:cNvSpPr/>
          <p:nvPr/>
        </p:nvSpPr>
        <p:spPr>
          <a:xfrm>
            <a:off x="2171700" y="2606040"/>
            <a:ext cx="91" cy="731520"/>
          </a:xfrm>
          <a:prstGeom prst="line">
            <a:avLst/>
          </a:prstGeom>
          <a:noFill/>
          <a:ln w="31750">
            <a:solidFill>
              <a:schemeClr val="accent2"/>
            </a:solidFill>
            <a:prstDash val="solid"/>
            <a:tailEnd type="triangle"/>
          </a:ln>
        </p:spPr>
      </p:sp>
      <p:sp>
        <p:nvSpPr>
          <p:cNvPr id="9" name="Shape 6"/>
          <p:cNvSpPr/>
          <p:nvPr/>
        </p:nvSpPr>
        <p:spPr>
          <a:xfrm flipV="1">
            <a:off x="1760220" y="3337560"/>
            <a:ext cx="411480" cy="320040"/>
          </a:xfrm>
          <a:prstGeom prst="line">
            <a:avLst/>
          </a:prstGeom>
          <a:noFill/>
          <a:ln w="31750">
            <a:solidFill>
              <a:schemeClr val="accent3"/>
            </a:solidFill>
            <a:prstDash val="solid"/>
            <a:tailEnd type="triangle"/>
          </a:ln>
        </p:spPr>
      </p:sp>
      <p:sp>
        <p:nvSpPr>
          <p:cNvPr id="10" name="Text 7"/>
          <p:cNvSpPr txBox="1"/>
          <p:nvPr/>
        </p:nvSpPr>
        <p:spPr>
          <a:xfrm>
            <a:off x="777240" y="3749040"/>
            <a:ext cx="3063240" cy="365760"/>
          </a:xfrm>
          <a:prstGeom prst="rect">
            <a:avLst/>
          </a:prstGeom>
          <a:noFill/>
          <a:ln/>
        </p:spPr>
        <p:txBody>
          <a:bodyPr wrap="square" lIns="0" tIns="0" rIns="0" bIns="0" rtlCol="0" anchor="t"/>
          <a:lstStyle/>
          <a:p>
            <a:pPr algn="ctr" indent="0" marL="0">
              <a:buNone/>
            </a:pPr>
            <a:r>
              <a:rPr lang="en-US" sz="1600" b="1" dirty="0">
                <a:solidFill>
                  <a:schemeClr val="tx2"/>
                </a:solidFill>
              </a:rPr>
              <a:t>SE(3) ≅ ℝ³ × SO(3)</a:t>
            </a:r>
            <a:endParaRPr lang="en-US" sz="1600" dirty="0"/>
          </a:p>
        </p:txBody>
      </p:sp>
      <p:sp>
        <p:nvSpPr>
          <p:cNvPr id="11" name="Text 8"/>
          <p:cNvSpPr txBox="1"/>
          <p:nvPr/>
        </p:nvSpPr>
        <p:spPr>
          <a:xfrm>
            <a:off x="777240" y="4206240"/>
            <a:ext cx="3063240" cy="1005840"/>
          </a:xfrm>
          <a:prstGeom prst="rect">
            <a:avLst/>
          </a:prstGeom>
          <a:noFill/>
          <a:ln/>
        </p:spPr>
        <p:txBody>
          <a:bodyPr wrap="square" lIns="0" tIns="0" rIns="0" bIns="0" rtlCol="0" anchor="t"/>
          <a:lstStyle/>
          <a:p>
            <a:pPr algn="l" indent="0" marL="0">
              <a:buNone/>
            </a:pPr>
            <a:r>
              <a:rPr lang="en-US" sz="1300" dirty="0">
                <a:solidFill>
                  <a:schemeClr val="tx1"/>
                </a:solidFill>
              </a:rPr>
              <a:t>Torso libero. SO(3) si rappresenta con i quaternioni per evitare il gimbal lock.</a:t>
            </a:r>
            <a:endParaRPr lang="en-US" sz="1300" dirty="0"/>
          </a:p>
        </p:txBody>
      </p:sp>
      <p:sp>
        <p:nvSpPr>
          <p:cNvPr id="12" name="Shape 9"/>
          <p:cNvSpPr/>
          <p:nvPr/>
        </p:nvSpPr>
        <p:spPr>
          <a:xfrm>
            <a:off x="4325112" y="2286000"/>
            <a:ext cx="3520440" cy="3017520"/>
          </a:xfrm>
          <a:prstGeom prst="roundRect">
            <a:avLst>
              <a:gd name="adj" fmla="val 2424"/>
            </a:avLst>
          </a:prstGeom>
          <a:solidFill>
            <a:schemeClr val="bg2"/>
          </a:solidFill>
          <a:ln w="12700">
            <a:solidFill>
              <a:schemeClr val="bg2"/>
            </a:solidFill>
            <a:prstDash val="solid"/>
          </a:ln>
        </p:spPr>
      </p:sp>
      <p:sp>
        <p:nvSpPr>
          <p:cNvPr id="13" name="Shape 10"/>
          <p:cNvSpPr/>
          <p:nvPr/>
        </p:nvSpPr>
        <p:spPr>
          <a:xfrm>
            <a:off x="5353812" y="2606040"/>
            <a:ext cx="1463040" cy="91"/>
          </a:xfrm>
          <a:prstGeom prst="line">
            <a:avLst/>
          </a:prstGeom>
          <a:noFill/>
          <a:ln w="31750">
            <a:solidFill>
              <a:schemeClr val="accent3"/>
            </a:solidFill>
            <a:prstDash val="solid"/>
          </a:ln>
        </p:spPr>
      </p:sp>
      <p:sp>
        <p:nvSpPr>
          <p:cNvPr id="14" name="Shape 11"/>
          <p:cNvSpPr/>
          <p:nvPr/>
        </p:nvSpPr>
        <p:spPr>
          <a:xfrm>
            <a:off x="5353812" y="2514600"/>
            <a:ext cx="91" cy="182880"/>
          </a:xfrm>
          <a:prstGeom prst="line">
            <a:avLst/>
          </a:prstGeom>
          <a:noFill/>
          <a:ln w="25400">
            <a:solidFill>
              <a:schemeClr val="tx2"/>
            </a:solidFill>
            <a:prstDash val="solid"/>
          </a:ln>
        </p:spPr>
      </p:sp>
      <p:sp>
        <p:nvSpPr>
          <p:cNvPr id="15" name="Shape 12"/>
          <p:cNvSpPr/>
          <p:nvPr/>
        </p:nvSpPr>
        <p:spPr>
          <a:xfrm>
            <a:off x="6816852" y="2514600"/>
            <a:ext cx="91" cy="182880"/>
          </a:xfrm>
          <a:prstGeom prst="line">
            <a:avLst/>
          </a:prstGeom>
          <a:noFill/>
          <a:ln w="25400">
            <a:solidFill>
              <a:schemeClr val="tx2"/>
            </a:solidFill>
            <a:prstDash val="solid"/>
          </a:ln>
        </p:spPr>
      </p:sp>
      <p:sp>
        <p:nvSpPr>
          <p:cNvPr id="16" name="Shape 13"/>
          <p:cNvSpPr/>
          <p:nvPr/>
        </p:nvSpPr>
        <p:spPr>
          <a:xfrm>
            <a:off x="5353812" y="2880360"/>
            <a:ext cx="1463040" cy="91"/>
          </a:xfrm>
          <a:prstGeom prst="line">
            <a:avLst/>
          </a:prstGeom>
          <a:noFill/>
          <a:ln w="31750">
            <a:solidFill>
              <a:schemeClr val="accent3"/>
            </a:solidFill>
            <a:prstDash val="solid"/>
          </a:ln>
        </p:spPr>
      </p:sp>
      <p:sp>
        <p:nvSpPr>
          <p:cNvPr id="17" name="Shape 14"/>
          <p:cNvSpPr/>
          <p:nvPr/>
        </p:nvSpPr>
        <p:spPr>
          <a:xfrm>
            <a:off x="5353812" y="2788920"/>
            <a:ext cx="91" cy="182880"/>
          </a:xfrm>
          <a:prstGeom prst="line">
            <a:avLst/>
          </a:prstGeom>
          <a:noFill/>
          <a:ln w="25400">
            <a:solidFill>
              <a:schemeClr val="tx2"/>
            </a:solidFill>
            <a:prstDash val="solid"/>
          </a:ln>
        </p:spPr>
      </p:sp>
      <p:sp>
        <p:nvSpPr>
          <p:cNvPr id="18" name="Shape 15"/>
          <p:cNvSpPr/>
          <p:nvPr/>
        </p:nvSpPr>
        <p:spPr>
          <a:xfrm>
            <a:off x="6816852" y="2788920"/>
            <a:ext cx="91" cy="182880"/>
          </a:xfrm>
          <a:prstGeom prst="line">
            <a:avLst/>
          </a:prstGeom>
          <a:noFill/>
          <a:ln w="25400">
            <a:solidFill>
              <a:schemeClr val="tx2"/>
            </a:solidFill>
            <a:prstDash val="solid"/>
          </a:ln>
        </p:spPr>
      </p:sp>
      <p:sp>
        <p:nvSpPr>
          <p:cNvPr id="19" name="Shape 16"/>
          <p:cNvSpPr/>
          <p:nvPr/>
        </p:nvSpPr>
        <p:spPr>
          <a:xfrm>
            <a:off x="5353812" y="3154680"/>
            <a:ext cx="1463040" cy="91"/>
          </a:xfrm>
          <a:prstGeom prst="line">
            <a:avLst/>
          </a:prstGeom>
          <a:noFill/>
          <a:ln w="31750">
            <a:solidFill>
              <a:schemeClr val="accent3"/>
            </a:solidFill>
            <a:prstDash val="solid"/>
          </a:ln>
        </p:spPr>
      </p:sp>
      <p:sp>
        <p:nvSpPr>
          <p:cNvPr id="20" name="Shape 17"/>
          <p:cNvSpPr/>
          <p:nvPr/>
        </p:nvSpPr>
        <p:spPr>
          <a:xfrm>
            <a:off x="5353812" y="3063240"/>
            <a:ext cx="91" cy="182880"/>
          </a:xfrm>
          <a:prstGeom prst="line">
            <a:avLst/>
          </a:prstGeom>
          <a:noFill/>
          <a:ln w="25400">
            <a:solidFill>
              <a:schemeClr val="tx2"/>
            </a:solidFill>
            <a:prstDash val="solid"/>
          </a:ln>
        </p:spPr>
      </p:sp>
      <p:sp>
        <p:nvSpPr>
          <p:cNvPr id="21" name="Shape 18"/>
          <p:cNvSpPr/>
          <p:nvPr/>
        </p:nvSpPr>
        <p:spPr>
          <a:xfrm>
            <a:off x="6816852" y="3063240"/>
            <a:ext cx="91" cy="182880"/>
          </a:xfrm>
          <a:prstGeom prst="line">
            <a:avLst/>
          </a:prstGeom>
          <a:noFill/>
          <a:ln w="25400">
            <a:solidFill>
              <a:schemeClr val="tx2"/>
            </a:solidFill>
            <a:prstDash val="solid"/>
          </a:ln>
        </p:spPr>
      </p:sp>
      <p:sp>
        <p:nvSpPr>
          <p:cNvPr id="22" name="Shape 19"/>
          <p:cNvSpPr/>
          <p:nvPr/>
        </p:nvSpPr>
        <p:spPr>
          <a:xfrm>
            <a:off x="5353812" y="3429000"/>
            <a:ext cx="1463040" cy="91"/>
          </a:xfrm>
          <a:prstGeom prst="line">
            <a:avLst/>
          </a:prstGeom>
          <a:noFill/>
          <a:ln w="31750">
            <a:solidFill>
              <a:schemeClr val="accent3"/>
            </a:solidFill>
            <a:prstDash val="solid"/>
          </a:ln>
        </p:spPr>
      </p:sp>
      <p:sp>
        <p:nvSpPr>
          <p:cNvPr id="23" name="Shape 20"/>
          <p:cNvSpPr/>
          <p:nvPr/>
        </p:nvSpPr>
        <p:spPr>
          <a:xfrm>
            <a:off x="5353812" y="3337560"/>
            <a:ext cx="91" cy="182880"/>
          </a:xfrm>
          <a:prstGeom prst="line">
            <a:avLst/>
          </a:prstGeom>
          <a:noFill/>
          <a:ln w="25400">
            <a:solidFill>
              <a:schemeClr val="tx2"/>
            </a:solidFill>
            <a:prstDash val="solid"/>
          </a:ln>
        </p:spPr>
      </p:sp>
      <p:sp>
        <p:nvSpPr>
          <p:cNvPr id="24" name="Shape 21"/>
          <p:cNvSpPr/>
          <p:nvPr/>
        </p:nvSpPr>
        <p:spPr>
          <a:xfrm>
            <a:off x="6816852" y="3337560"/>
            <a:ext cx="91" cy="182880"/>
          </a:xfrm>
          <a:prstGeom prst="line">
            <a:avLst/>
          </a:prstGeom>
          <a:noFill/>
          <a:ln w="25400">
            <a:solidFill>
              <a:schemeClr val="tx2"/>
            </a:solidFill>
            <a:prstDash val="solid"/>
          </a:ln>
        </p:spPr>
      </p:sp>
      <p:sp>
        <p:nvSpPr>
          <p:cNvPr id="25" name="Text 22"/>
          <p:cNvSpPr txBox="1"/>
          <p:nvPr/>
        </p:nvSpPr>
        <p:spPr>
          <a:xfrm>
            <a:off x="4553712" y="3749040"/>
            <a:ext cx="3063240" cy="365760"/>
          </a:xfrm>
          <a:prstGeom prst="rect">
            <a:avLst/>
          </a:prstGeom>
          <a:noFill/>
          <a:ln/>
        </p:spPr>
        <p:txBody>
          <a:bodyPr wrap="square" lIns="0" tIns="0" rIns="0" bIns="0" rtlCol="0" anchor="t"/>
          <a:lstStyle/>
          <a:p>
            <a:pPr algn="ctr" indent="0" marL="0">
              <a:buNone/>
            </a:pPr>
            <a:r>
              <a:rPr lang="en-US" sz="1600" b="1" dirty="0">
                <a:solidFill>
                  <a:schemeClr val="tx2"/>
                </a:solidFill>
              </a:rPr>
              <a:t>[q</a:t>
            </a:r>
            <a:r>
              <a:rPr lang="en-US" sz="1600" b="1" baseline="30000" dirty="0">
                <a:solidFill>
                  <a:schemeClr val="tx2"/>
                </a:solidFill>
              </a:rPr>
              <a:t>−</a:t>
            </a:r>
            <a:r>
              <a:rPr lang="en-US" sz="1600" b="1" dirty="0">
                <a:solidFill>
                  <a:schemeClr val="tx2"/>
                </a:solidFill>
              </a:rPr>
              <a:t>, q</a:t>
            </a:r>
            <a:r>
              <a:rPr lang="en-US" sz="1600" b="1" baseline="30000" dirty="0">
                <a:solidFill>
                  <a:schemeClr val="tx2"/>
                </a:solidFill>
              </a:rPr>
              <a:t>+</a:t>
            </a:r>
            <a:r>
              <a:rPr lang="en-US" sz="1600" b="1" dirty="0">
                <a:solidFill>
                  <a:schemeClr val="tx2"/>
                </a:solidFill>
              </a:rPr>
              <a:t>]⁴ ≅ ℝ⁴</a:t>
            </a:r>
            <a:endParaRPr lang="en-US" sz="1600" dirty="0"/>
          </a:p>
        </p:txBody>
      </p:sp>
      <p:sp>
        <p:nvSpPr>
          <p:cNvPr id="26" name="Text 23"/>
          <p:cNvSpPr txBox="1"/>
          <p:nvPr/>
        </p:nvSpPr>
        <p:spPr>
          <a:xfrm>
            <a:off x="4553712" y="4206240"/>
            <a:ext cx="3063240" cy="1005840"/>
          </a:xfrm>
          <a:prstGeom prst="rect">
            <a:avLst/>
          </a:prstGeom>
          <a:noFill/>
          <a:ln/>
        </p:spPr>
        <p:txBody>
          <a:bodyPr wrap="square" lIns="0" tIns="0" rIns="0" bIns="0" rtlCol="0" anchor="t"/>
          <a:lstStyle/>
          <a:p>
            <a:pPr algn="l" indent="0" marL="0">
              <a:buNone/>
            </a:pPr>
            <a:r>
              <a:rPr lang="en-US" sz="1300" dirty="0">
                <a:solidFill>
                  <a:schemeClr val="tx1"/>
                </a:solidFill>
              </a:rPr>
              <a:t>Anche e ginocchia hanno fine corsa: ogni giunto è un intervallo chiuso, non una circonferenza.</a:t>
            </a:r>
            <a:endParaRPr lang="en-US" sz="1300" dirty="0"/>
          </a:p>
        </p:txBody>
      </p:sp>
      <p:sp>
        <p:nvSpPr>
          <p:cNvPr id="27" name="Shape 24"/>
          <p:cNvSpPr/>
          <p:nvPr/>
        </p:nvSpPr>
        <p:spPr>
          <a:xfrm>
            <a:off x="8101584" y="2286000"/>
            <a:ext cx="3520440" cy="3017520"/>
          </a:xfrm>
          <a:prstGeom prst="roundRect">
            <a:avLst>
              <a:gd name="adj" fmla="val 2424"/>
            </a:avLst>
          </a:prstGeom>
          <a:solidFill>
            <a:schemeClr val="bg2"/>
          </a:solidFill>
          <a:ln w="12700">
            <a:solidFill>
              <a:schemeClr val="bg2"/>
            </a:solidFill>
            <a:prstDash val="solid"/>
          </a:ln>
        </p:spPr>
      </p:sp>
      <p:sp>
        <p:nvSpPr>
          <p:cNvPr id="28" name="Shape 25"/>
          <p:cNvSpPr/>
          <p:nvPr/>
        </p:nvSpPr>
        <p:spPr>
          <a:xfrm>
            <a:off x="8947404" y="2651760"/>
            <a:ext cx="685800" cy="685800"/>
          </a:xfrm>
          <a:prstGeom prst="ellipse">
            <a:avLst/>
          </a:prstGeom>
          <a:solidFill>
            <a:schemeClr val="bg2"/>
          </a:solidFill>
          <a:ln w="38100">
            <a:solidFill>
              <a:schemeClr val="accent3"/>
            </a:solidFill>
            <a:prstDash val="solid"/>
          </a:ln>
        </p:spPr>
      </p:sp>
      <p:sp>
        <p:nvSpPr>
          <p:cNvPr id="29" name="Shape 26"/>
          <p:cNvSpPr/>
          <p:nvPr/>
        </p:nvSpPr>
        <p:spPr>
          <a:xfrm>
            <a:off x="10090404" y="2651760"/>
            <a:ext cx="685800" cy="685800"/>
          </a:xfrm>
          <a:prstGeom prst="ellipse">
            <a:avLst/>
          </a:prstGeom>
          <a:solidFill>
            <a:schemeClr val="bg2"/>
          </a:solidFill>
          <a:ln w="38100">
            <a:solidFill>
              <a:schemeClr val="accent3"/>
            </a:solidFill>
            <a:prstDash val="solid"/>
          </a:ln>
        </p:spPr>
      </p:sp>
      <p:sp>
        <p:nvSpPr>
          <p:cNvPr id="30" name="Text 27"/>
          <p:cNvSpPr txBox="1"/>
          <p:nvPr/>
        </p:nvSpPr>
        <p:spPr>
          <a:xfrm>
            <a:off x="9633204" y="2761488"/>
            <a:ext cx="457200" cy="457200"/>
          </a:xfrm>
          <a:prstGeom prst="rect">
            <a:avLst/>
          </a:prstGeom>
          <a:noFill/>
          <a:ln/>
        </p:spPr>
        <p:txBody>
          <a:bodyPr wrap="square" lIns="0" tIns="0" rIns="0" bIns="0" rtlCol="0" anchor="t"/>
          <a:lstStyle/>
          <a:p>
            <a:pPr algn="ctr" indent="0" marL="0">
              <a:buNone/>
            </a:pPr>
            <a:r>
              <a:rPr lang="en-US" sz="2000" b="1" dirty="0">
                <a:solidFill>
                  <a:schemeClr val="tx2"/>
                </a:solidFill>
              </a:rPr>
              <a:t>×</a:t>
            </a:r>
            <a:endParaRPr lang="en-US" sz="2000" dirty="0"/>
          </a:p>
        </p:txBody>
      </p:sp>
      <p:sp>
        <p:nvSpPr>
          <p:cNvPr id="31" name="Text 28"/>
          <p:cNvSpPr txBox="1"/>
          <p:nvPr/>
        </p:nvSpPr>
        <p:spPr>
          <a:xfrm>
            <a:off x="8330184" y="3749040"/>
            <a:ext cx="3063240" cy="365760"/>
          </a:xfrm>
          <a:prstGeom prst="rect">
            <a:avLst/>
          </a:prstGeom>
          <a:noFill/>
          <a:ln/>
        </p:spPr>
        <p:txBody>
          <a:bodyPr wrap="square" lIns="0" tIns="0" rIns="0" bIns="0" rtlCol="0" anchor="t"/>
          <a:lstStyle/>
          <a:p>
            <a:pPr algn="ctr" indent="0" marL="0">
              <a:buNone/>
            </a:pPr>
            <a:r>
              <a:rPr lang="en-US" sz="1600" b="1" dirty="0">
                <a:solidFill>
                  <a:schemeClr val="tx2"/>
                </a:solidFill>
              </a:rPr>
              <a:t>T² = S¹ × S¹</a:t>
            </a:r>
            <a:endParaRPr lang="en-US" sz="1600" dirty="0"/>
          </a:p>
        </p:txBody>
      </p:sp>
      <p:sp>
        <p:nvSpPr>
          <p:cNvPr id="32" name="Text 29"/>
          <p:cNvSpPr txBox="1"/>
          <p:nvPr/>
        </p:nvSpPr>
        <p:spPr>
          <a:xfrm>
            <a:off x="8330184" y="4206240"/>
            <a:ext cx="3063240" cy="1005840"/>
          </a:xfrm>
          <a:prstGeom prst="rect">
            <a:avLst/>
          </a:prstGeom>
          <a:noFill/>
          <a:ln/>
        </p:spPr>
        <p:txBody>
          <a:bodyPr wrap="square" lIns="0" tIns="0" rIns="0" bIns="0" rtlCol="0" anchor="t"/>
          <a:lstStyle/>
          <a:p>
            <a:pPr algn="l" indent="0" marL="0">
              <a:buNone/>
            </a:pPr>
            <a:r>
              <a:rPr lang="en-US" sz="1300" dirty="0">
                <a:solidFill>
                  <a:schemeClr val="tx1"/>
                </a:solidFill>
              </a:rPr>
              <a:t>Le ruote girano senza limiti: due circonferenze, cioè un toro.</a:t>
            </a:r>
            <a:endParaRPr lang="en-US" sz="1300" dirty="0"/>
          </a:p>
        </p:txBody>
      </p:sp>
      <p:sp>
        <p:nvSpPr>
          <p:cNvPr id="33" name="Text 30"/>
          <p:cNvSpPr txBox="1"/>
          <p:nvPr/>
        </p:nvSpPr>
        <p:spPr>
          <a:xfrm>
            <a:off x="548640" y="5577840"/>
            <a:ext cx="11064240" cy="457200"/>
          </a:xfrm>
          <a:prstGeom prst="rect">
            <a:avLst/>
          </a:prstGeom>
          <a:noFill/>
          <a:ln/>
        </p:spPr>
        <p:txBody>
          <a:bodyPr wrap="square" lIns="0" tIns="0" rIns="0" bIns="0" rtlCol="0" anchor="t"/>
          <a:lstStyle/>
          <a:p>
            <a:pPr algn="l" indent="0" marL="0">
              <a:buNone/>
            </a:pPr>
            <a:r>
              <a:rPr lang="en-US" sz="1400" i="1" dirty="0">
                <a:solidFill>
                  <a:schemeClr val="accent4"/>
                </a:solidFill>
              </a:rPr>
              <a:t>Stesso numero di DoF non significa stessa topologia: ℝ¹² e SE(3) × ℝ⁴ × T² non si deformano l'uno nell'altro.</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Vincoli olonomi e anolonomi</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2 · C-space e DoF</a:t>
            </a:r>
            <a:endParaRPr lang="en-US" sz="1200" dirty="0"/>
          </a:p>
        </p:txBody>
      </p:sp>
      <p:pic>
        <p:nvPicPr>
          <p:cNvPr id="5" name="Image 0" descr="Formula: pfaff">    </p:cNvPr>
          <p:cNvPicPr>
            <a:picLocks noChangeAspect="1"/>
          </p:cNvPicPr>
          <p:nvPr/>
        </p:nvPicPr>
        <p:blipFill>
          <a:blip r:embed="rId1"/>
          <a:stretch>
            <a:fillRect/>
          </a:stretch>
        </p:blipFill>
        <p:spPr>
          <a:xfrm>
            <a:off x="548640" y="1371600"/>
            <a:ext cx="6583680" cy="1031423"/>
          </a:xfrm>
          <a:prstGeom prst="rect">
            <a:avLst/>
          </a:prstGeom>
        </p:spPr>
      </p:pic>
      <p:sp>
        <p:nvSpPr>
          <p:cNvPr id="6" name="Shape 3"/>
          <p:cNvSpPr/>
          <p:nvPr/>
        </p:nvSpPr>
        <p:spPr>
          <a:xfrm>
            <a:off x="7452360" y="1371600"/>
            <a:ext cx="4187952" cy="1920240"/>
          </a:xfrm>
          <a:prstGeom prst="roundRect">
            <a:avLst>
              <a:gd name="adj" fmla="val 3810"/>
            </a:avLst>
          </a:prstGeom>
          <a:solidFill>
            <a:schemeClr val="bg2"/>
          </a:solidFill>
          <a:ln w="12700">
            <a:solidFill>
              <a:schemeClr val="bg2"/>
            </a:solidFill>
            <a:prstDash val="solid"/>
          </a:ln>
        </p:spPr>
      </p:sp>
      <p:sp>
        <p:nvSpPr>
          <p:cNvPr id="7" name="Shape 4"/>
          <p:cNvSpPr/>
          <p:nvPr/>
        </p:nvSpPr>
        <p:spPr>
          <a:xfrm>
            <a:off x="7635240" y="1554480"/>
            <a:ext cx="420624" cy="420624"/>
          </a:xfrm>
          <a:prstGeom prst="ellipse">
            <a:avLst/>
          </a:prstGeom>
          <a:solidFill>
            <a:schemeClr val="accent3"/>
          </a:solidFill>
          <a:ln w="12700">
            <a:solidFill>
              <a:schemeClr val="accent3"/>
            </a:solidFill>
            <a:prstDash val="solid"/>
          </a:ln>
        </p:spPr>
      </p:sp>
      <p:sp>
        <p:nvSpPr>
          <p:cNvPr id="8" name="Text 5"/>
          <p:cNvSpPr txBox="1"/>
          <p:nvPr/>
        </p:nvSpPr>
        <p:spPr>
          <a:xfrm>
            <a:off x="7635240" y="15544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H</a:t>
            </a:r>
            <a:endParaRPr lang="en-US" sz="1300" dirty="0"/>
          </a:p>
        </p:txBody>
      </p:sp>
      <p:sp>
        <p:nvSpPr>
          <p:cNvPr id="9" name="Text 6"/>
          <p:cNvSpPr txBox="1"/>
          <p:nvPr/>
        </p:nvSpPr>
        <p:spPr>
          <a:xfrm>
            <a:off x="8183880" y="1554480"/>
            <a:ext cx="3273552" cy="420624"/>
          </a:xfrm>
          <a:prstGeom prst="rect">
            <a:avLst/>
          </a:prstGeom>
          <a:noFill/>
          <a:ln/>
        </p:spPr>
        <p:txBody>
          <a:bodyPr wrap="square" lIns="0" tIns="0" rIns="0" bIns="0" rtlCol="0" anchor="ctr"/>
          <a:lstStyle/>
          <a:p>
            <a:pPr algn="l" indent="0" marL="0">
              <a:buNone/>
            </a:pPr>
            <a:r>
              <a:rPr lang="en-US" sz="1500" b="1" dirty="0">
                <a:solidFill>
                  <a:schemeClr val="tx2"/>
                </a:solidFill>
              </a:rPr>
              <a:t>Olonomi (integrabili)</a:t>
            </a:r>
            <a:endParaRPr lang="en-US" sz="1500" dirty="0"/>
          </a:p>
        </p:txBody>
      </p:sp>
      <p:sp>
        <p:nvSpPr>
          <p:cNvPr id="10" name="Text 7"/>
          <p:cNvSpPr txBox="1"/>
          <p:nvPr/>
        </p:nvSpPr>
        <p:spPr>
          <a:xfrm>
            <a:off x="7680960" y="2103120"/>
            <a:ext cx="3776472" cy="1051560"/>
          </a:xfrm>
          <a:prstGeom prst="rect">
            <a:avLst/>
          </a:prstGeom>
          <a:noFill/>
          <a:ln/>
        </p:spPr>
        <p:txBody>
          <a:bodyPr wrap="square" lIns="0" tIns="0" rIns="0" bIns="0" rtlCol="0" anchor="t"/>
          <a:lstStyle/>
          <a:p>
            <a:pPr algn="l" indent="0" marL="0">
              <a:buNone/>
            </a:pPr>
            <a:r>
              <a:rPr lang="en-US" sz="1300" dirty="0">
                <a:solidFill>
                  <a:schemeClr val="tx1"/>
                </a:solidFill>
              </a:rPr>
              <a:t>Contatto con il suolo piano: quota dell'asse fissata a r e rollio legato alle gambe. Riducono le coordinate.</a:t>
            </a:r>
            <a:endParaRPr lang="en-US" sz="1300" dirty="0"/>
          </a:p>
        </p:txBody>
      </p:sp>
      <p:sp>
        <p:nvSpPr>
          <p:cNvPr id="11" name="Shape 8"/>
          <p:cNvSpPr/>
          <p:nvPr/>
        </p:nvSpPr>
        <p:spPr>
          <a:xfrm>
            <a:off x="7452360" y="3474720"/>
            <a:ext cx="4187952" cy="1920240"/>
          </a:xfrm>
          <a:prstGeom prst="roundRect">
            <a:avLst>
              <a:gd name="adj" fmla="val 3810"/>
            </a:avLst>
          </a:prstGeom>
          <a:solidFill>
            <a:schemeClr val="bg2"/>
          </a:solidFill>
          <a:ln w="12700">
            <a:solidFill>
              <a:schemeClr val="bg2"/>
            </a:solidFill>
            <a:prstDash val="solid"/>
          </a:ln>
        </p:spPr>
      </p:sp>
      <p:sp>
        <p:nvSpPr>
          <p:cNvPr id="12" name="Shape 9"/>
          <p:cNvSpPr/>
          <p:nvPr/>
        </p:nvSpPr>
        <p:spPr>
          <a:xfrm>
            <a:off x="7635240" y="3657600"/>
            <a:ext cx="420624" cy="420624"/>
          </a:xfrm>
          <a:prstGeom prst="ellipse">
            <a:avLst/>
          </a:prstGeom>
          <a:solidFill>
            <a:schemeClr val="accent3"/>
          </a:solidFill>
          <a:ln w="12700">
            <a:solidFill>
              <a:schemeClr val="accent3"/>
            </a:solidFill>
            <a:prstDash val="solid"/>
          </a:ln>
        </p:spPr>
      </p:sp>
      <p:sp>
        <p:nvSpPr>
          <p:cNvPr id="13" name="Text 10"/>
          <p:cNvSpPr txBox="1"/>
          <p:nvPr/>
        </p:nvSpPr>
        <p:spPr>
          <a:xfrm>
            <a:off x="7635240" y="3657600"/>
            <a:ext cx="420624" cy="420624"/>
          </a:xfrm>
          <a:prstGeom prst="rect">
            <a:avLst/>
          </a:prstGeom>
          <a:noFill/>
          <a:ln/>
        </p:spPr>
        <p:txBody>
          <a:bodyPr wrap="square" lIns="0" tIns="0" rIns="0" bIns="0" rtlCol="0" anchor="ctr"/>
          <a:lstStyle/>
          <a:p>
            <a:pPr algn="ctr" indent="0" marL="0">
              <a:buNone/>
            </a:pPr>
            <a:r>
              <a:rPr lang="en-US" sz="1100" b="1" dirty="0">
                <a:solidFill>
                  <a:schemeClr val="bg1"/>
                </a:solidFill>
              </a:rPr>
              <a:t>NH</a:t>
            </a:r>
            <a:endParaRPr lang="en-US" sz="1100" dirty="0"/>
          </a:p>
        </p:txBody>
      </p:sp>
      <p:sp>
        <p:nvSpPr>
          <p:cNvPr id="14" name="Text 11"/>
          <p:cNvSpPr txBox="1"/>
          <p:nvPr/>
        </p:nvSpPr>
        <p:spPr>
          <a:xfrm>
            <a:off x="8183880" y="3657600"/>
            <a:ext cx="3273552" cy="420624"/>
          </a:xfrm>
          <a:prstGeom prst="rect">
            <a:avLst/>
          </a:prstGeom>
          <a:noFill/>
          <a:ln/>
        </p:spPr>
        <p:txBody>
          <a:bodyPr wrap="square" lIns="0" tIns="0" rIns="0" bIns="0" rtlCol="0" anchor="ctr"/>
          <a:lstStyle/>
          <a:p>
            <a:pPr algn="l" indent="0" marL="0">
              <a:buNone/>
            </a:pPr>
            <a:r>
              <a:rPr lang="en-US" sz="1500" b="1" dirty="0">
                <a:solidFill>
                  <a:schemeClr val="tx2"/>
                </a:solidFill>
              </a:rPr>
              <a:t>Anolonomi (non integrabili)</a:t>
            </a:r>
            <a:endParaRPr lang="en-US" sz="1500" dirty="0"/>
          </a:p>
        </p:txBody>
      </p:sp>
      <p:sp>
        <p:nvSpPr>
          <p:cNvPr id="15" name="Text 12"/>
          <p:cNvSpPr txBox="1"/>
          <p:nvPr/>
        </p:nvSpPr>
        <p:spPr>
          <a:xfrm>
            <a:off x="7680960" y="4206240"/>
            <a:ext cx="3776472" cy="1051560"/>
          </a:xfrm>
          <a:prstGeom prst="rect">
            <a:avLst/>
          </a:prstGeom>
          <a:noFill/>
          <a:ln/>
        </p:spPr>
        <p:txBody>
          <a:bodyPr wrap="square" lIns="0" tIns="0" rIns="0" bIns="0" rtlCol="0" anchor="t"/>
          <a:lstStyle/>
          <a:p>
            <a:pPr algn="l" indent="0" marL="0">
              <a:buNone/>
            </a:pPr>
            <a:r>
              <a:rPr lang="en-US" sz="1300" dirty="0">
                <a:solidFill>
                  <a:schemeClr val="tx1"/>
                </a:solidFill>
              </a:rPr>
              <a:t>Rotolamento senza slittamento: limitano le velocità, non le configurazioni raggiungibili (parentesi di Lie).</a:t>
            </a:r>
            <a:endParaRPr lang="en-US" sz="1300" dirty="0"/>
          </a:p>
        </p:txBody>
      </p:sp>
      <p:sp>
        <p:nvSpPr>
          <p:cNvPr id="16" name="Shape 13"/>
          <p:cNvSpPr/>
          <p:nvPr/>
        </p:nvSpPr>
        <p:spPr>
          <a:xfrm>
            <a:off x="548640" y="3200400"/>
            <a:ext cx="6583680" cy="2194560"/>
          </a:xfrm>
          <a:prstGeom prst="roundRect">
            <a:avLst>
              <a:gd name="adj" fmla="val 3333"/>
            </a:avLst>
          </a:prstGeom>
          <a:solidFill>
            <a:schemeClr val="bg2"/>
          </a:solidFill>
          <a:ln w="12700">
            <a:solidFill>
              <a:schemeClr val="bg2"/>
            </a:solidFill>
            <a:prstDash val="solid"/>
          </a:ln>
        </p:spPr>
      </p:sp>
      <p:sp>
        <p:nvSpPr>
          <p:cNvPr id="17" name="Shape 14"/>
          <p:cNvSpPr/>
          <p:nvPr/>
        </p:nvSpPr>
        <p:spPr>
          <a:xfrm>
            <a:off x="731520" y="3383280"/>
            <a:ext cx="420624" cy="420624"/>
          </a:xfrm>
          <a:prstGeom prst="ellipse">
            <a:avLst/>
          </a:prstGeom>
          <a:solidFill>
            <a:schemeClr val="accent3"/>
          </a:solidFill>
          <a:ln w="12700">
            <a:solidFill>
              <a:schemeClr val="accent3"/>
            </a:solidFill>
            <a:prstDash val="solid"/>
          </a:ln>
        </p:spPr>
      </p:sp>
      <p:sp>
        <p:nvSpPr>
          <p:cNvPr id="18" name="Text 15"/>
          <p:cNvSpPr txBox="1"/>
          <p:nvPr/>
        </p:nvSpPr>
        <p:spPr>
          <a:xfrm>
            <a:off x="731520" y="33832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9" name="Text 16"/>
          <p:cNvSpPr txBox="1"/>
          <p:nvPr/>
        </p:nvSpPr>
        <p:spPr>
          <a:xfrm>
            <a:off x="1280160" y="3383280"/>
            <a:ext cx="5669280" cy="420624"/>
          </a:xfrm>
          <a:prstGeom prst="rect">
            <a:avLst/>
          </a:prstGeom>
          <a:noFill/>
          <a:ln/>
        </p:spPr>
        <p:txBody>
          <a:bodyPr wrap="square" lIns="0" tIns="0" rIns="0" bIns="0" rtlCol="0" anchor="ctr"/>
          <a:lstStyle/>
          <a:p>
            <a:pPr algn="l" indent="0" marL="0">
              <a:buNone/>
            </a:pPr>
            <a:r>
              <a:rPr lang="en-US" sz="1500" b="1" dirty="0">
                <a:solidFill>
                  <a:schemeClr val="tx2"/>
                </a:solidFill>
              </a:rPr>
              <a:t>Teorema di Brockett</a:t>
            </a:r>
            <a:endParaRPr lang="en-US" sz="1500" dirty="0"/>
          </a:p>
        </p:txBody>
      </p:sp>
      <p:sp>
        <p:nvSpPr>
          <p:cNvPr id="20" name="Text 17"/>
          <p:cNvSpPr txBox="1"/>
          <p:nvPr/>
        </p:nvSpPr>
        <p:spPr>
          <a:xfrm>
            <a:off x="777240" y="3931920"/>
            <a:ext cx="6172200" cy="1325880"/>
          </a:xfrm>
          <a:prstGeom prst="rect">
            <a:avLst/>
          </a:prstGeom>
          <a:noFill/>
          <a:ln/>
        </p:spPr>
        <p:txBody>
          <a:bodyPr wrap="square" lIns="0" tIns="0" rIns="0" bIns="0" rtlCol="0" anchor="t"/>
          <a:lstStyle/>
          <a:p>
            <a:pPr algn="l" indent="0" marL="0">
              <a:buNone/>
            </a:pPr>
            <a:r>
              <a:rPr lang="en-US" sz="1300" dirty="0">
                <a:solidFill>
                  <a:schemeClr val="tx1"/>
                </a:solidFill>
              </a:rPr>
              <a:t>Il modello differenziale (uniciclo) non ammette una retroazione liscia e tempo-invariante che stabilizzi asintoticamente un punto (x</a:t>
            </a:r>
            <a:r>
              <a:rPr lang="en-US" sz="1300" baseline="-40000" dirty="0">
                <a:solidFill>
                  <a:schemeClr val="tx1"/>
                </a:solidFill>
              </a:rPr>
              <a:t>d</a:t>
            </a:r>
            <a:r>
              <a:rPr lang="en-US" sz="1300" dirty="0">
                <a:solidFill>
                  <a:schemeClr val="tx1"/>
                </a:solidFill>
              </a:rPr>
              <a:t>, y</a:t>
            </a:r>
            <a:r>
              <a:rPr lang="en-US" sz="1300" baseline="-40000" dirty="0">
                <a:solidFill>
                  <a:schemeClr val="tx1"/>
                </a:solidFill>
              </a:rPr>
              <a:t>d</a:t>
            </a:r>
            <a:r>
              <a:rPr lang="en-US" sz="1300" dirty="0">
                <a:solidFill>
                  <a:schemeClr val="tx1"/>
                </a:solidFill>
              </a:rPr>
              <a:t>, ψ</a:t>
            </a:r>
            <a:r>
              <a:rPr lang="en-US" sz="1300" baseline="-40000" dirty="0">
                <a:solidFill>
                  <a:schemeClr val="tx1"/>
                </a:solidFill>
              </a:rPr>
              <a:t>d</a:t>
            </a:r>
            <a:r>
              <a:rPr lang="en-US" sz="1300" dirty="0">
                <a:solidFill>
                  <a:schemeClr val="tx1"/>
                </a:solidFill>
              </a:rPr>
              <a:t>). Per questo entrambi i controllori stabilizzano l'equilibrio e inseguono traiettorie nel tempo invece di "parcheggiare" su una posa.</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Sottoattuazione a tre livelli</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2 · C-space e DoF</a:t>
            </a:r>
            <a:endParaRPr lang="en-US" sz="1200" dirty="0"/>
          </a:p>
        </p:txBody>
      </p:sp>
      <p:pic>
        <p:nvPicPr>
          <p:cNvPr id="5" name="Image 0" descr="Formula: sottoattuazione">    </p:cNvPr>
          <p:cNvPicPr>
            <a:picLocks noChangeAspect="1"/>
          </p:cNvPicPr>
          <p:nvPr/>
        </p:nvPicPr>
        <p:blipFill>
          <a:blip r:embed="rId1"/>
          <a:stretch>
            <a:fillRect/>
          </a:stretch>
        </p:blipFill>
        <p:spPr>
          <a:xfrm>
            <a:off x="2892208" y="1371600"/>
            <a:ext cx="6377103" cy="344145"/>
          </a:xfrm>
          <a:prstGeom prst="rect">
            <a:avLst/>
          </a:prstGeom>
        </p:spPr>
      </p:pic>
      <p:sp>
        <p:nvSpPr>
          <p:cNvPr id="6" name="Shape 3"/>
          <p:cNvSpPr/>
          <p:nvPr/>
        </p:nvSpPr>
        <p:spPr>
          <a:xfrm>
            <a:off x="548640" y="2194560"/>
            <a:ext cx="3520440" cy="2240280"/>
          </a:xfrm>
          <a:prstGeom prst="roundRect">
            <a:avLst>
              <a:gd name="adj" fmla="val 3265"/>
            </a:avLst>
          </a:prstGeom>
          <a:solidFill>
            <a:schemeClr val="bg2"/>
          </a:solidFill>
          <a:ln w="12700">
            <a:solidFill>
              <a:schemeClr val="bg2"/>
            </a:solidFill>
            <a:prstDash val="solid"/>
          </a:ln>
        </p:spPr>
      </p:sp>
      <p:sp>
        <p:nvSpPr>
          <p:cNvPr id="7" name="Text 4"/>
          <p:cNvSpPr txBox="1"/>
          <p:nvPr/>
        </p:nvSpPr>
        <p:spPr>
          <a:xfrm>
            <a:off x="777240" y="2331720"/>
            <a:ext cx="3108960" cy="685800"/>
          </a:xfrm>
          <a:prstGeom prst="rect">
            <a:avLst/>
          </a:prstGeom>
          <a:noFill/>
          <a:ln/>
        </p:spPr>
        <p:txBody>
          <a:bodyPr wrap="square" lIns="0" tIns="0" rIns="0" bIns="0" rtlCol="0" anchor="t"/>
          <a:lstStyle/>
          <a:p>
            <a:pPr algn="l" indent="0" marL="0">
              <a:buNone/>
            </a:pPr>
            <a:r>
              <a:rPr lang="en-US" sz="3400" b="1" dirty="0">
                <a:solidFill>
                  <a:schemeClr val="accent3"/>
                </a:solidFill>
                <a:latin typeface="Cambria" pitchFamily="34" charset="0"/>
                <a:ea typeface="Cambria" pitchFamily="34" charset="-122"/>
                <a:cs typeface="Cambria" pitchFamily="34" charset="-120"/>
              </a:rPr>
              <a:t>12 / 6</a:t>
            </a:r>
            <a:endParaRPr lang="en-US" sz="3400" dirty="0"/>
          </a:p>
        </p:txBody>
      </p:sp>
      <p:sp>
        <p:nvSpPr>
          <p:cNvPr id="8" name="Text 5"/>
          <p:cNvSpPr txBox="1"/>
          <p:nvPr/>
        </p:nvSpPr>
        <p:spPr>
          <a:xfrm>
            <a:off x="777240" y="3017520"/>
            <a:ext cx="3108960" cy="365760"/>
          </a:xfrm>
          <a:prstGeom prst="rect">
            <a:avLst/>
          </a:prstGeom>
          <a:noFill/>
          <a:ln/>
        </p:spPr>
        <p:txBody>
          <a:bodyPr wrap="square" lIns="0" tIns="0" rIns="0" bIns="0" rtlCol="0" anchor="t"/>
          <a:lstStyle/>
          <a:p>
            <a:pPr algn="l" indent="0" marL="0">
              <a:buNone/>
            </a:pPr>
            <a:r>
              <a:rPr lang="en-US" sz="1600" b="1" dirty="0">
                <a:solidFill>
                  <a:schemeClr val="tx2"/>
                </a:solidFill>
              </a:rPr>
              <a:t>Robot libero</a:t>
            </a:r>
            <a:endParaRPr lang="en-US" sz="1600" dirty="0"/>
          </a:p>
        </p:txBody>
      </p:sp>
      <p:sp>
        <p:nvSpPr>
          <p:cNvPr id="9" name="Text 6"/>
          <p:cNvSpPr txBox="1"/>
          <p:nvPr/>
        </p:nvSpPr>
        <p:spPr>
          <a:xfrm>
            <a:off x="777240" y="3429000"/>
            <a:ext cx="3108960" cy="914400"/>
          </a:xfrm>
          <a:prstGeom prst="rect">
            <a:avLst/>
          </a:prstGeom>
          <a:noFill/>
          <a:ln/>
        </p:spPr>
        <p:txBody>
          <a:bodyPr wrap="square" lIns="0" tIns="0" rIns="0" bIns="0" rtlCol="0" anchor="t"/>
          <a:lstStyle/>
          <a:p>
            <a:pPr algn="l" indent="0" marL="0">
              <a:buNone/>
            </a:pPr>
            <a:r>
              <a:rPr lang="en-US" sz="1300" dirty="0">
                <a:solidFill>
                  <a:schemeClr val="tx1"/>
                </a:solidFill>
              </a:rPr>
              <a:t>n = 12 coordinate, m = 6 motori: ruote, ginocchia, anche.</a:t>
            </a:r>
            <a:endParaRPr lang="en-US" sz="1300" dirty="0"/>
          </a:p>
        </p:txBody>
      </p:sp>
      <p:sp>
        <p:nvSpPr>
          <p:cNvPr id="10" name="Shape 7"/>
          <p:cNvSpPr/>
          <p:nvPr/>
        </p:nvSpPr>
        <p:spPr>
          <a:xfrm>
            <a:off x="4069080" y="3291840"/>
            <a:ext cx="256032" cy="91"/>
          </a:xfrm>
          <a:prstGeom prst="line">
            <a:avLst/>
          </a:prstGeom>
          <a:noFill/>
          <a:ln w="19050">
            <a:solidFill>
              <a:schemeClr val="accent3"/>
            </a:solidFill>
            <a:prstDash val="solid"/>
            <a:tailEnd type="triangle"/>
          </a:ln>
        </p:spPr>
      </p:sp>
      <p:sp>
        <p:nvSpPr>
          <p:cNvPr id="11" name="Shape 8"/>
          <p:cNvSpPr/>
          <p:nvPr/>
        </p:nvSpPr>
        <p:spPr>
          <a:xfrm>
            <a:off x="4325112" y="2194560"/>
            <a:ext cx="3520440" cy="2240280"/>
          </a:xfrm>
          <a:prstGeom prst="roundRect">
            <a:avLst>
              <a:gd name="adj" fmla="val 3265"/>
            </a:avLst>
          </a:prstGeom>
          <a:solidFill>
            <a:schemeClr val="bg2"/>
          </a:solidFill>
          <a:ln w="12700">
            <a:solidFill>
              <a:schemeClr val="bg2"/>
            </a:solidFill>
            <a:prstDash val="solid"/>
          </a:ln>
        </p:spPr>
      </p:sp>
      <p:sp>
        <p:nvSpPr>
          <p:cNvPr id="12" name="Text 9"/>
          <p:cNvSpPr txBox="1"/>
          <p:nvPr/>
        </p:nvSpPr>
        <p:spPr>
          <a:xfrm>
            <a:off x="4553712" y="2331720"/>
            <a:ext cx="3108960" cy="685800"/>
          </a:xfrm>
          <a:prstGeom prst="rect">
            <a:avLst/>
          </a:prstGeom>
          <a:noFill/>
          <a:ln/>
        </p:spPr>
        <p:txBody>
          <a:bodyPr wrap="square" lIns="0" tIns="0" rIns="0" bIns="0" rtlCol="0" anchor="t"/>
          <a:lstStyle/>
          <a:p>
            <a:pPr algn="l" indent="0" marL="0">
              <a:buNone/>
            </a:pPr>
            <a:r>
              <a:rPr lang="en-US" sz="3400" b="1" dirty="0">
                <a:solidFill>
                  <a:schemeClr val="accent3"/>
                </a:solidFill>
                <a:latin typeface="Cambria" pitchFamily="34" charset="0"/>
                <a:ea typeface="Cambria" pitchFamily="34" charset="-122"/>
                <a:cs typeface="Cambria" pitchFamily="34" charset="-120"/>
              </a:rPr>
              <a:t>4 / 3</a:t>
            </a:r>
            <a:endParaRPr lang="en-US" sz="3400" dirty="0"/>
          </a:p>
        </p:txBody>
      </p:sp>
      <p:sp>
        <p:nvSpPr>
          <p:cNvPr id="13" name="Text 10"/>
          <p:cNvSpPr txBox="1"/>
          <p:nvPr/>
        </p:nvSpPr>
        <p:spPr>
          <a:xfrm>
            <a:off x="4553712" y="3017520"/>
            <a:ext cx="3108960" cy="365760"/>
          </a:xfrm>
          <a:prstGeom prst="rect">
            <a:avLst/>
          </a:prstGeom>
          <a:noFill/>
          <a:ln/>
        </p:spPr>
        <p:txBody>
          <a:bodyPr wrap="square" lIns="0" tIns="0" rIns="0" bIns="0" rtlCol="0" anchor="t"/>
          <a:lstStyle/>
          <a:p>
            <a:pPr algn="l" indent="0" marL="0">
              <a:buNone/>
            </a:pPr>
            <a:r>
              <a:rPr lang="en-US" sz="1600" b="1" dirty="0">
                <a:solidFill>
                  <a:schemeClr val="tx2"/>
                </a:solidFill>
              </a:rPr>
              <a:t>Modello planare</a:t>
            </a:r>
            <a:endParaRPr lang="en-US" sz="1600" dirty="0"/>
          </a:p>
        </p:txBody>
      </p:sp>
      <p:sp>
        <p:nvSpPr>
          <p:cNvPr id="14" name="Text 11"/>
          <p:cNvSpPr txBox="1"/>
          <p:nvPr/>
        </p:nvSpPr>
        <p:spPr>
          <a:xfrm>
            <a:off x="4553712" y="3429000"/>
            <a:ext cx="3108960" cy="914400"/>
          </a:xfrm>
          <a:prstGeom prst="rect">
            <a:avLst/>
          </a:prstGeom>
          <a:noFill/>
          <a:ln/>
        </p:spPr>
        <p:txBody>
          <a:bodyPr wrap="square" lIns="0" tIns="0" rIns="0" bIns="0" rtlCol="0" anchor="t"/>
          <a:lstStyle/>
          <a:p>
            <a:pPr algn="l" indent="0" marL="0">
              <a:buNone/>
            </a:pPr>
            <a:r>
              <a:rPr lang="en-US" sz="1300" dirty="0">
                <a:solidFill>
                  <a:schemeClr val="tx1"/>
                </a:solidFill>
              </a:rPr>
              <a:t>Gruppo 1: q</a:t>
            </a:r>
            <a:r>
              <a:rPr lang="en-US" sz="1300" baseline="-40000" dirty="0">
                <a:solidFill>
                  <a:schemeClr val="tx1"/>
                </a:solidFill>
              </a:rPr>
              <a:t>1</a:t>
            </a:r>
            <a:r>
              <a:rPr lang="en-US" sz="1300" dirty="0">
                <a:solidFill>
                  <a:schemeClr val="tx1"/>
                </a:solidFill>
              </a:rPr>
              <a:t> non ha motore. Le reazioni dei motori lo muovono (non collocato).</a:t>
            </a:r>
            <a:endParaRPr lang="en-US" sz="1300" dirty="0"/>
          </a:p>
        </p:txBody>
      </p:sp>
      <p:sp>
        <p:nvSpPr>
          <p:cNvPr id="15" name="Shape 12"/>
          <p:cNvSpPr/>
          <p:nvPr/>
        </p:nvSpPr>
        <p:spPr>
          <a:xfrm>
            <a:off x="7845552" y="3291840"/>
            <a:ext cx="256032" cy="91"/>
          </a:xfrm>
          <a:prstGeom prst="line">
            <a:avLst/>
          </a:prstGeom>
          <a:noFill/>
          <a:ln w="19050">
            <a:solidFill>
              <a:schemeClr val="accent3"/>
            </a:solidFill>
            <a:prstDash val="solid"/>
            <a:tailEnd type="triangle"/>
          </a:ln>
        </p:spPr>
      </p:sp>
      <p:sp>
        <p:nvSpPr>
          <p:cNvPr id="16" name="Shape 13"/>
          <p:cNvSpPr/>
          <p:nvPr/>
        </p:nvSpPr>
        <p:spPr>
          <a:xfrm>
            <a:off x="8101584" y="2194560"/>
            <a:ext cx="3520440" cy="2240280"/>
          </a:xfrm>
          <a:prstGeom prst="roundRect">
            <a:avLst>
              <a:gd name="adj" fmla="val 3265"/>
            </a:avLst>
          </a:prstGeom>
          <a:solidFill>
            <a:schemeClr val="bg2"/>
          </a:solidFill>
          <a:ln w="12700">
            <a:solidFill>
              <a:schemeClr val="bg2"/>
            </a:solidFill>
            <a:prstDash val="solid"/>
          </a:ln>
        </p:spPr>
      </p:sp>
      <p:sp>
        <p:nvSpPr>
          <p:cNvPr id="17" name="Text 14"/>
          <p:cNvSpPr txBox="1"/>
          <p:nvPr/>
        </p:nvSpPr>
        <p:spPr>
          <a:xfrm>
            <a:off x="8330184" y="2331720"/>
            <a:ext cx="3108960" cy="685800"/>
          </a:xfrm>
          <a:prstGeom prst="rect">
            <a:avLst/>
          </a:prstGeom>
          <a:noFill/>
          <a:ln/>
        </p:spPr>
        <p:txBody>
          <a:bodyPr wrap="square" lIns="0" tIns="0" rIns="0" bIns="0" rtlCol="0" anchor="t"/>
          <a:lstStyle/>
          <a:p>
            <a:pPr algn="l" indent="0" marL="0">
              <a:buNone/>
            </a:pPr>
            <a:r>
              <a:rPr lang="en-US" sz="3400" b="1" dirty="0">
                <a:solidFill>
                  <a:schemeClr val="accent3"/>
                </a:solidFill>
                <a:latin typeface="Cambria" pitchFamily="34" charset="0"/>
                <a:ea typeface="Cambria" pitchFamily="34" charset="-122"/>
                <a:cs typeface="Cambria" pitchFamily="34" charset="-120"/>
              </a:rPr>
              <a:t>2 / 1</a:t>
            </a:r>
            <a:endParaRPr lang="en-US" sz="3400" dirty="0"/>
          </a:p>
        </p:txBody>
      </p:sp>
      <p:sp>
        <p:nvSpPr>
          <p:cNvPr id="18" name="Text 15"/>
          <p:cNvSpPr txBox="1"/>
          <p:nvPr/>
        </p:nvSpPr>
        <p:spPr>
          <a:xfrm>
            <a:off x="8330184" y="3017520"/>
            <a:ext cx="3108960" cy="365760"/>
          </a:xfrm>
          <a:prstGeom prst="rect">
            <a:avLst/>
          </a:prstGeom>
          <a:noFill/>
          <a:ln/>
        </p:spPr>
        <p:txBody>
          <a:bodyPr wrap="square" lIns="0" tIns="0" rIns="0" bIns="0" rtlCol="0" anchor="t"/>
          <a:lstStyle/>
          <a:p>
            <a:pPr algn="l" indent="0" marL="0">
              <a:buNone/>
            </a:pPr>
            <a:r>
              <a:rPr lang="en-US" sz="1600" b="1" dirty="0">
                <a:solidFill>
                  <a:schemeClr val="tx2"/>
                </a:solidFill>
              </a:rPr>
              <a:t>VL-WIP sagittale</a:t>
            </a:r>
            <a:endParaRPr lang="en-US" sz="1600" dirty="0"/>
          </a:p>
        </p:txBody>
      </p:sp>
      <p:sp>
        <p:nvSpPr>
          <p:cNvPr id="19" name="Text 16"/>
          <p:cNvSpPr txBox="1"/>
          <p:nvPr/>
        </p:nvSpPr>
        <p:spPr>
          <a:xfrm>
            <a:off x="8330184" y="3429000"/>
            <a:ext cx="3108960" cy="914400"/>
          </a:xfrm>
          <a:prstGeom prst="rect">
            <a:avLst/>
          </a:prstGeom>
          <a:noFill/>
          <a:ln/>
        </p:spPr>
        <p:txBody>
          <a:bodyPr wrap="square" lIns="0" tIns="0" rIns="0" bIns="0" rtlCol="0" anchor="t"/>
          <a:lstStyle/>
          <a:p>
            <a:pPr algn="l" indent="0" marL="0">
              <a:buNone/>
            </a:pPr>
            <a:r>
              <a:rPr lang="en-US" sz="1300" dirty="0">
                <a:solidFill>
                  <a:schemeClr val="tx1"/>
                </a:solidFill>
              </a:rPr>
              <a:t>s e θ con un solo ingresso u = τ</a:t>
            </a:r>
            <a:r>
              <a:rPr lang="en-US" sz="1300" baseline="-40000" dirty="0">
                <a:solidFill>
                  <a:schemeClr val="tx1"/>
                </a:solidFill>
              </a:rPr>
              <a:t>l</a:t>
            </a:r>
            <a:r>
              <a:rPr lang="en-US" sz="1300" dirty="0">
                <a:solidFill>
                  <a:schemeClr val="tx1"/>
                </a:solidFill>
              </a:rPr>
              <a:t> + τ</a:t>
            </a:r>
            <a:r>
              <a:rPr lang="en-US" sz="1300" baseline="-40000" dirty="0">
                <a:solidFill>
                  <a:schemeClr val="tx1"/>
                </a:solidFill>
              </a:rPr>
              <a:t>r</a:t>
            </a:r>
            <a:r>
              <a:rPr lang="en-US" sz="1300" dirty="0">
                <a:solidFill>
                  <a:schemeClr val="tx1"/>
                </a:solidFill>
              </a:rPr>
              <a:t>: un motore per due coordinate.</a:t>
            </a:r>
            <a:endParaRPr lang="en-US" sz="1300" dirty="0"/>
          </a:p>
        </p:txBody>
      </p:sp>
      <p:sp>
        <p:nvSpPr>
          <p:cNvPr id="20" name="Shape 17"/>
          <p:cNvSpPr/>
          <p:nvPr/>
        </p:nvSpPr>
        <p:spPr>
          <a:xfrm>
            <a:off x="548640" y="4709160"/>
            <a:ext cx="11091672" cy="1188720"/>
          </a:xfrm>
          <a:prstGeom prst="roundRect">
            <a:avLst>
              <a:gd name="adj" fmla="val 6154"/>
            </a:avLst>
          </a:prstGeom>
          <a:solidFill>
            <a:schemeClr val="bg2"/>
          </a:solidFill>
          <a:ln w="12700">
            <a:solidFill>
              <a:schemeClr val="bg2"/>
            </a:solidFill>
            <a:prstDash val="solid"/>
          </a:ln>
        </p:spPr>
      </p:sp>
      <p:sp>
        <p:nvSpPr>
          <p:cNvPr id="21" name="Shape 18"/>
          <p:cNvSpPr/>
          <p:nvPr/>
        </p:nvSpPr>
        <p:spPr>
          <a:xfrm>
            <a:off x="731520" y="4892040"/>
            <a:ext cx="420624" cy="420624"/>
          </a:xfrm>
          <a:prstGeom prst="ellipse">
            <a:avLst/>
          </a:prstGeom>
          <a:solidFill>
            <a:schemeClr val="accent3"/>
          </a:solidFill>
          <a:ln w="12700">
            <a:solidFill>
              <a:schemeClr val="accent3"/>
            </a:solidFill>
            <a:prstDash val="solid"/>
          </a:ln>
        </p:spPr>
      </p:sp>
      <p:sp>
        <p:nvSpPr>
          <p:cNvPr id="22" name="Text 19"/>
          <p:cNvSpPr txBox="1"/>
          <p:nvPr/>
        </p:nvSpPr>
        <p:spPr>
          <a:xfrm>
            <a:off x="731520" y="489204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23" name="Text 20"/>
          <p:cNvSpPr txBox="1"/>
          <p:nvPr/>
        </p:nvSpPr>
        <p:spPr>
          <a:xfrm>
            <a:off x="1280160" y="4892040"/>
            <a:ext cx="10177272" cy="420624"/>
          </a:xfrm>
          <a:prstGeom prst="rect">
            <a:avLst/>
          </a:prstGeom>
          <a:noFill/>
          <a:ln/>
        </p:spPr>
        <p:txBody>
          <a:bodyPr wrap="square" lIns="0" tIns="0" rIns="0" bIns="0" rtlCol="0" anchor="ctr"/>
          <a:lstStyle/>
          <a:p>
            <a:pPr algn="l" indent="0" marL="0">
              <a:buNone/>
            </a:pPr>
            <a:r>
              <a:rPr lang="en-US" sz="1500" b="1" dirty="0">
                <a:solidFill>
                  <a:schemeClr val="tx2"/>
                </a:solidFill>
              </a:rPr>
              <a:t>Conseguenza per il controllo</a:t>
            </a:r>
            <a:endParaRPr lang="en-US" sz="1500" dirty="0"/>
          </a:p>
        </p:txBody>
      </p:sp>
      <p:sp>
        <p:nvSpPr>
          <p:cNvPr id="24" name="Text 21"/>
          <p:cNvSpPr txBox="1"/>
          <p:nvPr/>
        </p:nvSpPr>
        <p:spPr>
          <a:xfrm>
            <a:off x="777240" y="5440680"/>
            <a:ext cx="10680192" cy="320040"/>
          </a:xfrm>
          <a:prstGeom prst="rect">
            <a:avLst/>
          </a:prstGeom>
          <a:noFill/>
          <a:ln/>
        </p:spPr>
        <p:txBody>
          <a:bodyPr wrap="square" lIns="0" tIns="0" rIns="0" bIns="0" rtlCol="0" anchor="t"/>
          <a:lstStyle/>
          <a:p>
            <a:pPr algn="l" indent="0" marL="0">
              <a:buNone/>
            </a:pPr>
            <a:r>
              <a:rPr lang="en-US" sz="1300" dirty="0">
                <a:solidFill>
                  <a:schemeClr val="tx1"/>
                </a:solidFill>
              </a:rPr>
              <a:t>Per avanzare bisogna prima inclinarsi: l'inclinazione (o lo ZMP) è l'ingresso virtuale della traslazione. Il PID e l'MPC differiscono nel modo di sceglierla.</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2834640" y="2057400"/>
            <a:ext cx="8595360" cy="1097280"/>
          </a:xfrm>
          <a:prstGeom prst="rect">
            <a:avLst/>
          </a:prstGeom>
          <a:noFill/>
          <a:ln/>
        </p:spPr>
        <p:txBody>
          <a:bodyPr wrap="square" lIns="0" tIns="0" rIns="0" bIns="0" rtlCol="0" anchor="b"/>
          <a:lstStyle/>
          <a:p>
            <a:pPr algn="l" indent="0" marL="0">
              <a:buNone/>
            </a:pPr>
            <a:r>
              <a:rPr lang="en-US" sz="4000" b="1" dirty="0">
                <a:solidFill>
                  <a:schemeClr val="bg1"/>
                </a:solidFill>
              </a:rPr>
              <a:t>Controllo PID con lo ZMP</a:t>
            </a:r>
            <a:endParaRPr lang="en-US" sz="4000" dirty="0"/>
          </a:p>
        </p:txBody>
      </p:sp>
      <p:sp>
        <p:nvSpPr>
          <p:cNvPr id="3" name="Text 0"/>
          <p:cNvSpPr/>
          <p:nvPr>
            <p:ph idx="101" type="body" hasCustomPrompt="1"/>
          </p:nvPr>
        </p:nvSpPr>
        <p:spPr>
          <a:xfrm>
            <a:off x="2834640" y="3291840"/>
            <a:ext cx="8229600" cy="1645920"/>
          </a:xfrm>
          <a:prstGeom prst="rect">
            <a:avLst/>
          </a:prstGeom>
          <a:noFill/>
          <a:ln/>
        </p:spPr>
        <p:txBody>
          <a:bodyPr wrap="square" lIns="0" tIns="0" rIns="0" bIns="0" rtlCol="0" anchor="t"/>
          <a:lstStyle/>
          <a:p>
            <a:pPr algn="l" indent="0" marL="0">
              <a:buNone/>
            </a:pPr>
            <a:r>
              <a:rPr lang="en-US" sz="1800" dirty="0">
                <a:solidFill>
                  <a:schemeClr val="bg2"/>
                </a:solidFill>
              </a:rPr>
              <a:t>rotino_pid: PI sul Capture Point, ZMP come ingresso delle ruote, anteprima LIPM, PID di rotta, PD cartesiano delle gambe e supervisore del salto</a:t>
            </a:r>
            <a:endParaRPr lang="en-US" sz="1800" dirty="0"/>
          </a:p>
        </p:txBody>
      </p:sp>
      <p:sp>
        <p:nvSpPr>
          <p:cNvPr id="4" name="Shape 2"/>
          <p:cNvSpPr/>
          <p:nvPr/>
        </p:nvSpPr>
        <p:spPr>
          <a:xfrm>
            <a:off x="868680" y="2148840"/>
            <a:ext cx="1554480" cy="1554480"/>
          </a:xfrm>
          <a:prstGeom prst="ellipse">
            <a:avLst/>
          </a:prstGeom>
          <a:solidFill>
            <a:schemeClr val="accent1"/>
          </a:solidFill>
          <a:ln w="12700">
            <a:solidFill>
              <a:schemeClr val="accent1"/>
            </a:solidFill>
            <a:prstDash val="solid"/>
          </a:ln>
        </p:spPr>
      </p:sp>
      <p:sp>
        <p:nvSpPr>
          <p:cNvPr id="5" name="Text 3"/>
          <p:cNvSpPr txBox="1"/>
          <p:nvPr/>
        </p:nvSpPr>
        <p:spPr>
          <a:xfrm>
            <a:off x="868680" y="2148840"/>
            <a:ext cx="1554480" cy="1554480"/>
          </a:xfrm>
          <a:prstGeom prst="rect">
            <a:avLst/>
          </a:prstGeom>
          <a:noFill/>
          <a:ln/>
        </p:spPr>
        <p:txBody>
          <a:bodyPr wrap="square" lIns="0" tIns="0" rIns="0" bIns="0" rtlCol="0" anchor="ctr"/>
          <a:lstStyle/>
          <a:p>
            <a:pPr algn="ctr" indent="0" marL="0">
              <a:buNone/>
            </a:pPr>
            <a:r>
              <a:rPr lang="en-US" sz="6000" b="1" dirty="0">
                <a:solidFill>
                  <a:schemeClr val="bg1"/>
                </a:solidFill>
              </a:rPr>
              <a:t>3</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L'idea: lo ZMP come ingresso</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3 · PID con ZMP</a:t>
            </a:r>
            <a:endParaRPr lang="en-US" sz="1200" dirty="0"/>
          </a:p>
        </p:txBody>
      </p:sp>
      <p:pic>
        <p:nvPicPr>
          <p:cNvPr id="5" name="Image 0" descr="Formula: lipm">    </p:cNvPr>
          <p:cNvPicPr>
            <a:picLocks noChangeAspect="1"/>
          </p:cNvPicPr>
          <p:nvPr/>
        </p:nvPicPr>
        <p:blipFill>
          <a:blip r:embed="rId1"/>
          <a:stretch>
            <a:fillRect/>
          </a:stretch>
        </p:blipFill>
        <p:spPr>
          <a:xfrm>
            <a:off x="548640" y="1371600"/>
            <a:ext cx="6217920" cy="557574"/>
          </a:xfrm>
          <a:prstGeom prst="rect">
            <a:avLst/>
          </a:prstGeom>
        </p:spPr>
      </p:pic>
      <p:sp>
        <p:nvSpPr>
          <p:cNvPr id="6" name="Text 3"/>
          <p:cNvSpPr txBox="1"/>
          <p:nvPr/>
        </p:nvSpPr>
        <p:spPr>
          <a:xfrm>
            <a:off x="548640" y="2331720"/>
            <a:ext cx="6217920" cy="292608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Su due ruote il poligono di appoggio è un </a:t>
            </a:r>
            <a:r>
              <a:rPr lang="en-US" sz="1500" b="1" dirty="0">
                <a:solidFill>
                  <a:schemeClr val="tx1"/>
                </a:solidFill>
              </a:rPr>
              <a:t>segmento</a:t>
            </a:r>
            <a:r>
              <a:rPr lang="en-US" sz="1500" dirty="0">
                <a:solidFill>
                  <a:schemeClr val="tx1"/>
                </a:solidFill>
              </a:rPr>
              <a:t>: longitudinalmente lo ZMP coincide con il contatto</a:t>
            </a:r>
            <a:endParaRPr lang="en-US" sz="1500" dirty="0"/>
          </a:p>
          <a:p>
            <a:pPr marL="203200" indent="-203200">
              <a:spcAft>
                <a:spcPts val="900"/>
              </a:spcAft>
              <a:buSzPct val="100000"/>
              <a:buChar char="•"/>
            </a:pPr>
            <a:r>
              <a:rPr lang="en-US" sz="1500" dirty="0">
                <a:solidFill>
                  <a:schemeClr val="tx1"/>
                </a:solidFill>
              </a:rPr>
              <a:t>Le ruote spostano il contatto, quindi </a:t>
            </a:r>
            <a:r>
              <a:rPr lang="en-US" sz="1500" b="1" dirty="0">
                <a:solidFill>
                  <a:schemeClr val="tx1"/>
                </a:solidFill>
              </a:rPr>
              <a:t>spostano lo ZMP</a:t>
            </a:r>
            <a:r>
              <a:rPr lang="en-US" sz="1500" dirty="0">
                <a:solidFill>
                  <a:schemeClr val="tx1"/>
                </a:solidFill>
              </a:rPr>
              <a:t>: è la leva con cui si governa il baricentro</a:t>
            </a:r>
            <a:endParaRPr lang="en-US" sz="1500" dirty="0"/>
          </a:p>
          <a:p>
            <a:pPr marL="203200" indent="-203200">
              <a:spcAft>
                <a:spcPts val="900"/>
              </a:spcAft>
              <a:buSzPct val="100000"/>
              <a:buChar char="•"/>
            </a:pPr>
            <a:r>
              <a:rPr lang="en-US" sz="1500" dirty="0">
                <a:solidFill>
                  <a:schemeClr val="tx1"/>
                </a:solidFill>
              </a:rPr>
              <a:t>ξ è il </a:t>
            </a:r>
            <a:r>
              <a:rPr lang="en-US" sz="1500" b="1" dirty="0">
                <a:solidFill>
                  <a:schemeClr val="tx1"/>
                </a:solidFill>
              </a:rPr>
              <a:t>Capture Point</a:t>
            </a:r>
            <a:r>
              <a:rPr lang="en-US" sz="1500" dirty="0">
                <a:solidFill>
                  <a:schemeClr val="tx1"/>
                </a:solidFill>
              </a:rPr>
              <a:t>: dove dovrebbe stare lo ZMP per fermare il robot</a:t>
            </a:r>
            <a:endParaRPr lang="en-US" sz="1500" dirty="0"/>
          </a:p>
          <a:p>
            <a:pPr marL="203200" indent="-203200">
              <a:spcAft>
                <a:spcPts val="900"/>
              </a:spcAft>
              <a:buSzPct val="100000"/>
              <a:buChar char="•"/>
            </a:pPr>
            <a:r>
              <a:rPr lang="en-US" sz="1500" dirty="0">
                <a:solidFill>
                  <a:schemeClr val="tx1"/>
                </a:solidFill>
              </a:rPr>
              <a:t>Lo stato misurato è il CoM dalla cinematica e dalla posa del torso (ground truth)</a:t>
            </a:r>
            <a:endParaRPr lang="en-US" sz="1500" dirty="0"/>
          </a:p>
        </p:txBody>
      </p:sp>
      <p:sp>
        <p:nvSpPr>
          <p:cNvPr id="7" name="Shape 4"/>
          <p:cNvSpPr/>
          <p:nvPr/>
        </p:nvSpPr>
        <p:spPr>
          <a:xfrm>
            <a:off x="7086600" y="1371600"/>
            <a:ext cx="4553712" cy="4251960"/>
          </a:xfrm>
          <a:prstGeom prst="roundRect">
            <a:avLst>
              <a:gd name="adj" fmla="val 1720"/>
            </a:avLst>
          </a:prstGeom>
          <a:solidFill>
            <a:schemeClr val="bg2"/>
          </a:solidFill>
          <a:ln w="12700">
            <a:solidFill>
              <a:schemeClr val="bg2"/>
            </a:solidFill>
            <a:prstDash val="solid"/>
          </a:ln>
        </p:spPr>
      </p:sp>
      <p:sp>
        <p:nvSpPr>
          <p:cNvPr id="8" name="Shape 5"/>
          <p:cNvSpPr/>
          <p:nvPr/>
        </p:nvSpPr>
        <p:spPr>
          <a:xfrm>
            <a:off x="7315200" y="5120640"/>
            <a:ext cx="4023360" cy="91"/>
          </a:xfrm>
          <a:prstGeom prst="line">
            <a:avLst/>
          </a:prstGeom>
          <a:noFill/>
          <a:ln w="25400">
            <a:solidFill>
              <a:schemeClr val="tx2"/>
            </a:solidFill>
            <a:prstDash val="solid"/>
          </a:ln>
        </p:spPr>
      </p:sp>
      <p:sp>
        <p:nvSpPr>
          <p:cNvPr id="9" name="Shape 6"/>
          <p:cNvSpPr/>
          <p:nvPr/>
        </p:nvSpPr>
        <p:spPr>
          <a:xfrm>
            <a:off x="8412480" y="4389120"/>
            <a:ext cx="731520" cy="731520"/>
          </a:xfrm>
          <a:prstGeom prst="ellipse">
            <a:avLst/>
          </a:prstGeom>
          <a:solidFill>
            <a:schemeClr val="tx1"/>
          </a:solidFill>
          <a:ln w="12700">
            <a:solidFill>
              <a:schemeClr val="tx1"/>
            </a:solidFill>
            <a:prstDash val="solid"/>
          </a:ln>
        </p:spPr>
      </p:sp>
      <p:sp>
        <p:nvSpPr>
          <p:cNvPr id="10" name="Shape 7"/>
          <p:cNvSpPr/>
          <p:nvPr/>
        </p:nvSpPr>
        <p:spPr>
          <a:xfrm flipV="1">
            <a:off x="8778240" y="2377440"/>
            <a:ext cx="731520" cy="2377440"/>
          </a:xfrm>
          <a:prstGeom prst="line">
            <a:avLst/>
          </a:prstGeom>
          <a:noFill/>
          <a:ln w="50800">
            <a:solidFill>
              <a:schemeClr val="accent1"/>
            </a:solidFill>
            <a:prstDash val="solid"/>
          </a:ln>
        </p:spPr>
      </p:sp>
      <p:sp>
        <p:nvSpPr>
          <p:cNvPr id="11" name="Shape 8"/>
          <p:cNvSpPr/>
          <p:nvPr/>
        </p:nvSpPr>
        <p:spPr>
          <a:xfrm>
            <a:off x="9308592" y="2176272"/>
            <a:ext cx="402336" cy="402336"/>
          </a:xfrm>
          <a:prstGeom prst="ellipse">
            <a:avLst/>
          </a:prstGeom>
          <a:solidFill>
            <a:schemeClr val="accent1"/>
          </a:solidFill>
          <a:ln w="12700">
            <a:solidFill>
              <a:schemeClr val="accent1"/>
            </a:solidFill>
            <a:prstDash val="solid"/>
          </a:ln>
        </p:spPr>
      </p:sp>
      <p:sp>
        <p:nvSpPr>
          <p:cNvPr id="12" name="Shape 9"/>
          <p:cNvSpPr/>
          <p:nvPr/>
        </p:nvSpPr>
        <p:spPr>
          <a:xfrm>
            <a:off x="9509760" y="2377440"/>
            <a:ext cx="91" cy="2743200"/>
          </a:xfrm>
          <a:prstGeom prst="line">
            <a:avLst/>
          </a:prstGeom>
          <a:noFill/>
          <a:ln w="12700">
            <a:solidFill>
              <a:schemeClr val="accent4"/>
            </a:solidFill>
            <a:prstDash val="dash"/>
          </a:ln>
        </p:spPr>
      </p:sp>
      <p:sp>
        <p:nvSpPr>
          <p:cNvPr id="13" name="Shape 10"/>
          <p:cNvSpPr/>
          <p:nvPr/>
        </p:nvSpPr>
        <p:spPr>
          <a:xfrm>
            <a:off x="8778240" y="5303520"/>
            <a:ext cx="731520" cy="91"/>
          </a:xfrm>
          <a:prstGeom prst="line">
            <a:avLst/>
          </a:prstGeom>
          <a:noFill/>
          <a:ln w="12700">
            <a:solidFill>
              <a:schemeClr val="accent4"/>
            </a:solidFill>
            <a:prstDash val="solid"/>
            <a:tailEnd type="triangle"/>
          </a:ln>
        </p:spPr>
      </p:sp>
      <p:sp>
        <p:nvSpPr>
          <p:cNvPr id="14" name="Text 11"/>
          <p:cNvSpPr txBox="1"/>
          <p:nvPr/>
        </p:nvSpPr>
        <p:spPr>
          <a:xfrm>
            <a:off x="9784080" y="2194560"/>
            <a:ext cx="365760" cy="365760"/>
          </a:xfrm>
          <a:prstGeom prst="rect">
            <a:avLst/>
          </a:prstGeom>
          <a:noFill/>
          <a:ln/>
        </p:spPr>
        <p:txBody>
          <a:bodyPr wrap="square" lIns="0" tIns="0" rIns="0" bIns="0" rtlCol="0" anchor="t"/>
          <a:lstStyle/>
          <a:p>
            <a:pPr algn="l" indent="0" marL="0">
              <a:buNone/>
            </a:pPr>
            <a:r>
              <a:rPr lang="en-US" sz="1800" b="1" dirty="0">
                <a:solidFill>
                  <a:schemeClr val="accent1"/>
                </a:solidFill>
              </a:rPr>
              <a:t>c</a:t>
            </a:r>
            <a:endParaRPr lang="en-US" sz="1800" dirty="0"/>
          </a:p>
        </p:txBody>
      </p:sp>
      <p:sp>
        <p:nvSpPr>
          <p:cNvPr id="15" name="Text 12"/>
          <p:cNvSpPr txBox="1"/>
          <p:nvPr/>
        </p:nvSpPr>
        <p:spPr>
          <a:xfrm>
            <a:off x="7406640" y="4754880"/>
            <a:ext cx="914400" cy="320040"/>
          </a:xfrm>
          <a:prstGeom prst="rect">
            <a:avLst/>
          </a:prstGeom>
          <a:noFill/>
          <a:ln/>
        </p:spPr>
        <p:txBody>
          <a:bodyPr wrap="square" lIns="0" tIns="0" rIns="0" bIns="0" rtlCol="0" anchor="t"/>
          <a:lstStyle/>
          <a:p>
            <a:pPr algn="r" indent="0" marL="0">
              <a:buNone/>
            </a:pPr>
            <a:r>
              <a:rPr lang="en-US" sz="1300" b="1" dirty="0">
                <a:solidFill>
                  <a:schemeClr val="tx2"/>
                </a:solidFill>
              </a:rPr>
              <a:t>p = ZMP</a:t>
            </a:r>
            <a:endParaRPr lang="en-US" sz="1300" dirty="0"/>
          </a:p>
        </p:txBody>
      </p:sp>
      <p:sp>
        <p:nvSpPr>
          <p:cNvPr id="16" name="Text 13"/>
          <p:cNvSpPr txBox="1"/>
          <p:nvPr/>
        </p:nvSpPr>
        <p:spPr>
          <a:xfrm>
            <a:off x="9601200" y="5175504"/>
            <a:ext cx="1188720" cy="274320"/>
          </a:xfrm>
          <a:prstGeom prst="rect">
            <a:avLst/>
          </a:prstGeom>
          <a:noFill/>
          <a:ln/>
        </p:spPr>
        <p:txBody>
          <a:bodyPr wrap="square" lIns="0" tIns="0" rIns="0" bIns="0" rtlCol="0" anchor="t"/>
          <a:lstStyle/>
          <a:p>
            <a:pPr algn="l" indent="0" marL="0">
              <a:buNone/>
            </a:pPr>
            <a:r>
              <a:rPr lang="en-US" sz="1200" dirty="0">
                <a:solidFill>
                  <a:schemeClr val="accent4"/>
                </a:solidFill>
              </a:rPr>
              <a:t>s = c − p</a:t>
            </a:r>
            <a:endParaRPr lang="en-US" sz="1200" dirty="0"/>
          </a:p>
        </p:txBody>
      </p:sp>
      <p:sp>
        <p:nvSpPr>
          <p:cNvPr id="17" name="Text 14"/>
          <p:cNvSpPr txBox="1"/>
          <p:nvPr/>
        </p:nvSpPr>
        <p:spPr>
          <a:xfrm>
            <a:off x="9601200" y="3566160"/>
            <a:ext cx="1188720" cy="320040"/>
          </a:xfrm>
          <a:prstGeom prst="rect">
            <a:avLst/>
          </a:prstGeom>
          <a:noFill/>
          <a:ln/>
        </p:spPr>
        <p:txBody>
          <a:bodyPr wrap="square" lIns="0" tIns="0" rIns="0" bIns="0" rtlCol="0" anchor="t"/>
          <a:lstStyle/>
          <a:p>
            <a:pPr algn="l" indent="0" marL="0">
              <a:buNone/>
            </a:pPr>
            <a:r>
              <a:rPr lang="en-US" sz="1200" dirty="0">
                <a:solidFill>
                  <a:schemeClr val="accent4"/>
                </a:solidFill>
              </a:rPr>
              <a:t>h ≈ 0,19 m</a:t>
            </a:r>
            <a:endParaRPr lang="en-US" sz="1200" dirty="0"/>
          </a:p>
        </p:txBody>
      </p:sp>
      <p:sp>
        <p:nvSpPr>
          <p:cNvPr id="18" name="Text 15"/>
          <p:cNvSpPr txBox="1"/>
          <p:nvPr/>
        </p:nvSpPr>
        <p:spPr>
          <a:xfrm>
            <a:off x="7315200" y="1508760"/>
            <a:ext cx="4114800" cy="365760"/>
          </a:xfrm>
          <a:prstGeom prst="rect">
            <a:avLst/>
          </a:prstGeom>
          <a:noFill/>
          <a:ln/>
        </p:spPr>
        <p:txBody>
          <a:bodyPr wrap="square" lIns="0" tIns="0" rIns="0" bIns="0" rtlCol="0" anchor="t"/>
          <a:lstStyle/>
          <a:p>
            <a:pPr algn="l" indent="0" marL="0">
              <a:buNone/>
            </a:pPr>
            <a:r>
              <a:rPr lang="en-US" sz="1400" b="1" dirty="0">
                <a:solidFill>
                  <a:schemeClr val="tx2"/>
                </a:solidFill>
              </a:rPr>
              <a:t>ω = √(g/h) ≈ 7,1 rad/s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Architettura degli anelli</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3 · PID con ZMP</a:t>
            </a:r>
            <a:endParaRPr lang="en-US" sz="1200" dirty="0"/>
          </a:p>
        </p:txBody>
      </p:sp>
      <p:sp>
        <p:nvSpPr>
          <p:cNvPr id="5" name="Shape 3"/>
          <p:cNvSpPr/>
          <p:nvPr/>
        </p:nvSpPr>
        <p:spPr>
          <a:xfrm>
            <a:off x="548640" y="1600200"/>
            <a:ext cx="1874520" cy="868680"/>
          </a:xfrm>
          <a:prstGeom prst="roundRect">
            <a:avLst>
              <a:gd name="adj" fmla="val 8421"/>
            </a:avLst>
          </a:prstGeom>
          <a:solidFill>
            <a:schemeClr val="bg2"/>
          </a:solidFill>
          <a:ln w="12700">
            <a:solidFill>
              <a:schemeClr val="bg2"/>
            </a:solidFill>
            <a:prstDash val="solid"/>
          </a:ln>
        </p:spPr>
      </p:sp>
      <p:sp>
        <p:nvSpPr>
          <p:cNvPr id="6" name="Text 4"/>
          <p:cNvSpPr txBox="1"/>
          <p:nvPr/>
        </p:nvSpPr>
        <p:spPr>
          <a:xfrm>
            <a:off x="621792" y="1600200"/>
            <a:ext cx="1728216" cy="868680"/>
          </a:xfrm>
          <a:prstGeom prst="rect">
            <a:avLst/>
          </a:prstGeom>
          <a:noFill/>
          <a:ln/>
        </p:spPr>
        <p:txBody>
          <a:bodyPr wrap="square" lIns="0" tIns="0" rIns="0" bIns="0" rtlCol="0" anchor="ctr"/>
          <a:lstStyle/>
          <a:p>
            <a:pPr algn="ctr" indent="0" marL="0">
              <a:buNone/>
            </a:pPr>
            <a:r>
              <a:rPr lang="en-US" sz="1200" dirty="0">
                <a:solidFill>
                  <a:schemeClr val="tx1"/>
                </a:solidFill>
              </a:rPr>
              <a:t>Percorso pianificato</a:t>
            </a:r>
            <a:endParaRPr lang="en-US" sz="1200" dirty="0"/>
          </a:p>
          <a:p>
            <a:pPr algn="ctr" indent="0" marL="0">
              <a:buNone/>
            </a:pPr>
            <a:r>
              <a:rPr lang="en-US" sz="1200" dirty="0">
                <a:solidFill>
                  <a:schemeClr val="tx1"/>
                </a:solidFill>
              </a:rPr>
              <a:t>(S, trapezio, teleop)</a:t>
            </a:r>
            <a:endParaRPr lang="en-US" sz="1200" dirty="0"/>
          </a:p>
        </p:txBody>
      </p:sp>
      <p:sp>
        <p:nvSpPr>
          <p:cNvPr id="7" name="Shape 5"/>
          <p:cNvSpPr/>
          <p:nvPr/>
        </p:nvSpPr>
        <p:spPr>
          <a:xfrm>
            <a:off x="2743200" y="1600200"/>
            <a:ext cx="1874520" cy="868680"/>
          </a:xfrm>
          <a:prstGeom prst="roundRect">
            <a:avLst>
              <a:gd name="adj" fmla="val 8421"/>
            </a:avLst>
          </a:prstGeom>
          <a:solidFill>
            <a:schemeClr val="bg2"/>
          </a:solidFill>
          <a:ln w="12700">
            <a:solidFill>
              <a:schemeClr val="bg2"/>
            </a:solidFill>
            <a:prstDash val="solid"/>
          </a:ln>
        </p:spPr>
      </p:sp>
      <p:sp>
        <p:nvSpPr>
          <p:cNvPr id="8" name="Text 6"/>
          <p:cNvSpPr txBox="1"/>
          <p:nvPr/>
        </p:nvSpPr>
        <p:spPr>
          <a:xfrm>
            <a:off x="2816352" y="1600200"/>
            <a:ext cx="1728216" cy="868680"/>
          </a:xfrm>
          <a:prstGeom prst="rect">
            <a:avLst/>
          </a:prstGeom>
          <a:noFill/>
          <a:ln/>
        </p:spPr>
        <p:txBody>
          <a:bodyPr wrap="square" lIns="0" tIns="0" rIns="0" bIns="0" rtlCol="0" anchor="ctr"/>
          <a:lstStyle/>
          <a:p>
            <a:pPr algn="ctr" indent="0" marL="0">
              <a:buNone/>
            </a:pPr>
            <a:r>
              <a:rPr lang="en-US" sz="1200" dirty="0">
                <a:solidFill>
                  <a:schemeClr val="tx1"/>
                </a:solidFill>
              </a:rPr>
              <a:t>Anteprima LIPM</a:t>
            </a:r>
            <a:endParaRPr lang="en-US" sz="1200" dirty="0"/>
          </a:p>
          <a:p>
            <a:pPr algn="ctr" indent="0" marL="0">
              <a:buNone/>
            </a:pPr>
            <a:r>
              <a:rPr lang="en-US" sz="1200" dirty="0">
                <a:solidFill>
                  <a:schemeClr val="tx1"/>
                </a:solidFill>
              </a:rPr>
              <a:t>c</a:t>
            </a:r>
            <a:r>
              <a:rPr lang="en-US" sz="1200" baseline="-40000" dirty="0">
                <a:solidFill>
                  <a:schemeClr val="tx1"/>
                </a:solidFill>
              </a:rPr>
              <a:t>ref</a:t>
            </a:r>
            <a:r>
              <a:rPr lang="en-US" sz="1200" dirty="0">
                <a:solidFill>
                  <a:schemeClr val="tx1"/>
                </a:solidFill>
              </a:rPr>
              <a:t>, c̈</a:t>
            </a:r>
            <a:r>
              <a:rPr lang="en-US" sz="1200" baseline="-40000" dirty="0">
                <a:solidFill>
                  <a:schemeClr val="tx1"/>
                </a:solidFill>
              </a:rPr>
              <a:t>ref</a:t>
            </a:r>
            <a:endParaRPr lang="en-US" sz="1200" dirty="0"/>
          </a:p>
        </p:txBody>
      </p:sp>
      <p:sp>
        <p:nvSpPr>
          <p:cNvPr id="9" name="Shape 7"/>
          <p:cNvSpPr/>
          <p:nvPr/>
        </p:nvSpPr>
        <p:spPr>
          <a:xfrm>
            <a:off x="4937760" y="1600200"/>
            <a:ext cx="2103120" cy="868680"/>
          </a:xfrm>
          <a:prstGeom prst="roundRect">
            <a:avLst>
              <a:gd name="adj" fmla="val 8421"/>
            </a:avLst>
          </a:prstGeom>
          <a:solidFill>
            <a:schemeClr val="accent1"/>
          </a:solidFill>
          <a:ln w="12700">
            <a:solidFill>
              <a:schemeClr val="accent1"/>
            </a:solidFill>
            <a:prstDash val="solid"/>
          </a:ln>
        </p:spPr>
      </p:sp>
      <p:sp>
        <p:nvSpPr>
          <p:cNvPr id="10" name="Text 8"/>
          <p:cNvSpPr txBox="1"/>
          <p:nvPr/>
        </p:nvSpPr>
        <p:spPr>
          <a:xfrm>
            <a:off x="5010912" y="1600200"/>
            <a:ext cx="1956816" cy="868680"/>
          </a:xfrm>
          <a:prstGeom prst="rect">
            <a:avLst/>
          </a:prstGeom>
          <a:noFill/>
          <a:ln/>
        </p:spPr>
        <p:txBody>
          <a:bodyPr wrap="square" lIns="0" tIns="0" rIns="0" bIns="0" rtlCol="0" anchor="ctr"/>
          <a:lstStyle/>
          <a:p>
            <a:pPr algn="ctr" indent="0" marL="0">
              <a:buNone/>
            </a:pPr>
            <a:r>
              <a:rPr lang="en-US" sz="1200" b="1" dirty="0">
                <a:solidFill>
                  <a:schemeClr val="bg1"/>
                </a:solidFill>
              </a:rPr>
              <a:t>(A) PI sul Capture Point</a:t>
            </a:r>
            <a:endParaRPr lang="en-US" sz="1200" dirty="0"/>
          </a:p>
          <a:p>
            <a:pPr algn="ctr" indent="0" marL="0">
              <a:buNone/>
            </a:pPr>
            <a:r>
              <a:rPr lang="en-US" sz="1200" b="1" dirty="0">
                <a:solidFill>
                  <a:schemeClr val="bg1"/>
                </a:solidFill>
              </a:rPr>
              <a:t>ρ = 0,4</a:t>
            </a:r>
            <a:endParaRPr lang="en-US" sz="1200" dirty="0"/>
          </a:p>
        </p:txBody>
      </p:sp>
      <p:sp>
        <p:nvSpPr>
          <p:cNvPr id="11" name="Shape 9"/>
          <p:cNvSpPr/>
          <p:nvPr/>
        </p:nvSpPr>
        <p:spPr>
          <a:xfrm>
            <a:off x="7360920" y="1600200"/>
            <a:ext cx="2103120" cy="868680"/>
          </a:xfrm>
          <a:prstGeom prst="roundRect">
            <a:avLst>
              <a:gd name="adj" fmla="val 8421"/>
            </a:avLst>
          </a:prstGeom>
          <a:solidFill>
            <a:schemeClr val="accent1"/>
          </a:solidFill>
          <a:ln w="12700">
            <a:solidFill>
              <a:schemeClr val="accent1"/>
            </a:solidFill>
            <a:prstDash val="solid"/>
          </a:ln>
        </p:spPr>
      </p:sp>
      <p:sp>
        <p:nvSpPr>
          <p:cNvPr id="12" name="Text 10"/>
          <p:cNvSpPr txBox="1"/>
          <p:nvPr/>
        </p:nvSpPr>
        <p:spPr>
          <a:xfrm>
            <a:off x="7434072" y="1600200"/>
            <a:ext cx="1956816" cy="868680"/>
          </a:xfrm>
          <a:prstGeom prst="rect">
            <a:avLst/>
          </a:prstGeom>
          <a:noFill/>
          <a:ln/>
        </p:spPr>
        <p:txBody>
          <a:bodyPr wrap="square" lIns="0" tIns="0" rIns="0" bIns="0" rtlCol="0" anchor="ctr"/>
          <a:lstStyle/>
          <a:p>
            <a:pPr algn="ctr" indent="0" marL="0">
              <a:buNone/>
            </a:pPr>
            <a:r>
              <a:rPr lang="en-US" sz="1200" b="1" dirty="0">
                <a:solidFill>
                  <a:schemeClr val="bg1"/>
                </a:solidFill>
              </a:rPr>
              <a:t>PD sull'offset ZMP</a:t>
            </a:r>
            <a:endParaRPr lang="en-US" sz="1200" dirty="0"/>
          </a:p>
          <a:p>
            <a:pPr algn="ctr" indent="0" marL="0">
              <a:buNone/>
            </a:pPr>
            <a:r>
              <a:rPr lang="en-US" sz="1200" b="1" dirty="0">
                <a:solidFill>
                  <a:schemeClr val="bg1"/>
                </a:solidFill>
              </a:rPr>
              <a:t>+ feedforward VL-WIP</a:t>
            </a:r>
            <a:endParaRPr lang="en-US" sz="1200" dirty="0"/>
          </a:p>
        </p:txBody>
      </p:sp>
      <p:sp>
        <p:nvSpPr>
          <p:cNvPr id="13" name="Shape 11"/>
          <p:cNvSpPr/>
          <p:nvPr/>
        </p:nvSpPr>
        <p:spPr>
          <a:xfrm>
            <a:off x="2423160" y="2034540"/>
            <a:ext cx="320040" cy="91"/>
          </a:xfrm>
          <a:prstGeom prst="line">
            <a:avLst/>
          </a:prstGeom>
          <a:noFill/>
          <a:ln w="19050">
            <a:solidFill>
              <a:schemeClr val="accent4"/>
            </a:solidFill>
            <a:prstDash val="solid"/>
            <a:tailEnd type="triangle"/>
          </a:ln>
        </p:spPr>
      </p:sp>
      <p:sp>
        <p:nvSpPr>
          <p:cNvPr id="14" name="Shape 12"/>
          <p:cNvSpPr/>
          <p:nvPr/>
        </p:nvSpPr>
        <p:spPr>
          <a:xfrm>
            <a:off x="4617720" y="2034540"/>
            <a:ext cx="320040" cy="91"/>
          </a:xfrm>
          <a:prstGeom prst="line">
            <a:avLst/>
          </a:prstGeom>
          <a:noFill/>
          <a:ln w="19050">
            <a:solidFill>
              <a:schemeClr val="accent4"/>
            </a:solidFill>
            <a:prstDash val="solid"/>
            <a:tailEnd type="triangle"/>
          </a:ln>
        </p:spPr>
      </p:sp>
      <p:sp>
        <p:nvSpPr>
          <p:cNvPr id="15" name="Shape 13"/>
          <p:cNvSpPr/>
          <p:nvPr/>
        </p:nvSpPr>
        <p:spPr>
          <a:xfrm>
            <a:off x="7040880" y="2034540"/>
            <a:ext cx="320040" cy="91"/>
          </a:xfrm>
          <a:prstGeom prst="line">
            <a:avLst/>
          </a:prstGeom>
          <a:noFill/>
          <a:ln w="19050">
            <a:solidFill>
              <a:schemeClr val="accent4"/>
            </a:solidFill>
            <a:prstDash val="solid"/>
            <a:tailEnd type="triangle"/>
          </a:ln>
        </p:spPr>
      </p:sp>
      <p:sp>
        <p:nvSpPr>
          <p:cNvPr id="16" name="Shape 14"/>
          <p:cNvSpPr/>
          <p:nvPr/>
        </p:nvSpPr>
        <p:spPr>
          <a:xfrm>
            <a:off x="548640" y="3063240"/>
            <a:ext cx="1874520" cy="868680"/>
          </a:xfrm>
          <a:prstGeom prst="roundRect">
            <a:avLst>
              <a:gd name="adj" fmla="val 8421"/>
            </a:avLst>
          </a:prstGeom>
          <a:solidFill>
            <a:schemeClr val="bg2"/>
          </a:solidFill>
          <a:ln w="12700">
            <a:solidFill>
              <a:schemeClr val="bg2"/>
            </a:solidFill>
            <a:prstDash val="solid"/>
          </a:ln>
        </p:spPr>
      </p:sp>
      <p:sp>
        <p:nvSpPr>
          <p:cNvPr id="17" name="Text 15"/>
          <p:cNvSpPr txBox="1"/>
          <p:nvPr/>
        </p:nvSpPr>
        <p:spPr>
          <a:xfrm>
            <a:off x="621792" y="3063240"/>
            <a:ext cx="1728216" cy="868680"/>
          </a:xfrm>
          <a:prstGeom prst="rect">
            <a:avLst/>
          </a:prstGeom>
          <a:noFill/>
          <a:ln/>
        </p:spPr>
        <p:txBody>
          <a:bodyPr wrap="square" lIns="0" tIns="0" rIns="0" bIns="0" rtlCol="0" anchor="ctr"/>
          <a:lstStyle/>
          <a:p>
            <a:pPr algn="ctr" indent="0" marL="0">
              <a:buNone/>
            </a:pPr>
            <a:r>
              <a:rPr lang="en-US" sz="1200" dirty="0">
                <a:solidFill>
                  <a:schemeClr val="tx1"/>
                </a:solidFill>
              </a:rPr>
              <a:t>Traiettoria planare</a:t>
            </a:r>
            <a:endParaRPr lang="en-US" sz="1200" dirty="0"/>
          </a:p>
        </p:txBody>
      </p:sp>
      <p:sp>
        <p:nvSpPr>
          <p:cNvPr id="18" name="Shape 16"/>
          <p:cNvSpPr/>
          <p:nvPr/>
        </p:nvSpPr>
        <p:spPr>
          <a:xfrm>
            <a:off x="2743200" y="3063240"/>
            <a:ext cx="1874520" cy="868680"/>
          </a:xfrm>
          <a:prstGeom prst="roundRect">
            <a:avLst>
              <a:gd name="adj" fmla="val 8421"/>
            </a:avLst>
          </a:prstGeom>
          <a:solidFill>
            <a:schemeClr val="bg2"/>
          </a:solidFill>
          <a:ln w="15875">
            <a:solidFill>
              <a:schemeClr val="accent1"/>
            </a:solidFill>
            <a:prstDash val="solid"/>
          </a:ln>
        </p:spPr>
      </p:sp>
      <p:sp>
        <p:nvSpPr>
          <p:cNvPr id="19" name="Text 17"/>
          <p:cNvSpPr txBox="1"/>
          <p:nvPr/>
        </p:nvSpPr>
        <p:spPr>
          <a:xfrm>
            <a:off x="2816352" y="3063240"/>
            <a:ext cx="1728216" cy="868680"/>
          </a:xfrm>
          <a:prstGeom prst="rect">
            <a:avLst/>
          </a:prstGeom>
          <a:noFill/>
          <a:ln/>
        </p:spPr>
        <p:txBody>
          <a:bodyPr wrap="square" lIns="0" tIns="0" rIns="0" bIns="0" rtlCol="0" anchor="ctr"/>
          <a:lstStyle/>
          <a:p>
            <a:pPr algn="ctr" indent="0" marL="0">
              <a:buNone/>
            </a:pPr>
            <a:r>
              <a:rPr lang="en-US" sz="1200" dirty="0">
                <a:solidFill>
                  <a:schemeClr val="tx1"/>
                </a:solidFill>
              </a:rPr>
              <a:t>(C) Guida laterale</a:t>
            </a:r>
            <a:endParaRPr lang="en-US" sz="1200" dirty="0"/>
          </a:p>
          <a:p>
            <a:pPr algn="ctr" indent="0" marL="0">
              <a:buNone/>
            </a:pPr>
            <a:r>
              <a:rPr lang="en-US" sz="1200" dirty="0">
                <a:solidFill>
                  <a:schemeClr val="tx1"/>
                </a:solidFill>
              </a:rPr>
              <a:t>ψ</a:t>
            </a:r>
            <a:r>
              <a:rPr lang="en-US" sz="1200" baseline="-40000" dirty="0">
                <a:solidFill>
                  <a:schemeClr val="tx1"/>
                </a:solidFill>
              </a:rPr>
              <a:t>cmd</a:t>
            </a:r>
            <a:endParaRPr lang="en-US" sz="1200" dirty="0"/>
          </a:p>
        </p:txBody>
      </p:sp>
      <p:sp>
        <p:nvSpPr>
          <p:cNvPr id="20" name="Shape 18"/>
          <p:cNvSpPr/>
          <p:nvPr/>
        </p:nvSpPr>
        <p:spPr>
          <a:xfrm>
            <a:off x="4937760" y="3063240"/>
            <a:ext cx="4526280" cy="868680"/>
          </a:xfrm>
          <a:prstGeom prst="roundRect">
            <a:avLst>
              <a:gd name="adj" fmla="val 8421"/>
            </a:avLst>
          </a:prstGeom>
          <a:solidFill>
            <a:schemeClr val="bg2"/>
          </a:solidFill>
          <a:ln w="15875">
            <a:solidFill>
              <a:schemeClr val="accent1"/>
            </a:solidFill>
            <a:prstDash val="solid"/>
          </a:ln>
        </p:spPr>
      </p:sp>
      <p:sp>
        <p:nvSpPr>
          <p:cNvPr id="21" name="Text 19"/>
          <p:cNvSpPr txBox="1"/>
          <p:nvPr/>
        </p:nvSpPr>
        <p:spPr>
          <a:xfrm>
            <a:off x="5010912" y="3063240"/>
            <a:ext cx="4379976" cy="868680"/>
          </a:xfrm>
          <a:prstGeom prst="rect">
            <a:avLst/>
          </a:prstGeom>
          <a:noFill/>
          <a:ln/>
        </p:spPr>
        <p:txBody>
          <a:bodyPr wrap="square" lIns="0" tIns="0" rIns="0" bIns="0" rtlCol="0" anchor="ctr"/>
          <a:lstStyle/>
          <a:p>
            <a:pPr algn="ctr" indent="0" marL="0">
              <a:buNone/>
            </a:pPr>
            <a:r>
              <a:rPr lang="en-US" sz="1200" dirty="0">
                <a:solidFill>
                  <a:schemeClr val="tx1"/>
                </a:solidFill>
              </a:rPr>
              <a:t>(B) PID di rotta + attrito di Coulomb e viscoso</a:t>
            </a:r>
            <a:endParaRPr lang="en-US" sz="1200" dirty="0"/>
          </a:p>
        </p:txBody>
      </p:sp>
      <p:sp>
        <p:nvSpPr>
          <p:cNvPr id="22" name="Shape 20"/>
          <p:cNvSpPr/>
          <p:nvPr/>
        </p:nvSpPr>
        <p:spPr>
          <a:xfrm>
            <a:off x="2423160" y="3497580"/>
            <a:ext cx="320040" cy="91"/>
          </a:xfrm>
          <a:prstGeom prst="line">
            <a:avLst/>
          </a:prstGeom>
          <a:noFill/>
          <a:ln w="19050">
            <a:solidFill>
              <a:schemeClr val="accent4"/>
            </a:solidFill>
            <a:prstDash val="solid"/>
            <a:tailEnd type="triangle"/>
          </a:ln>
        </p:spPr>
      </p:sp>
      <p:sp>
        <p:nvSpPr>
          <p:cNvPr id="23" name="Shape 21"/>
          <p:cNvSpPr/>
          <p:nvPr/>
        </p:nvSpPr>
        <p:spPr>
          <a:xfrm>
            <a:off x="4617720" y="3497580"/>
            <a:ext cx="320040" cy="91"/>
          </a:xfrm>
          <a:prstGeom prst="line">
            <a:avLst/>
          </a:prstGeom>
          <a:noFill/>
          <a:ln w="19050">
            <a:solidFill>
              <a:schemeClr val="accent4"/>
            </a:solidFill>
            <a:prstDash val="solid"/>
            <a:tailEnd type="triangle"/>
          </a:ln>
        </p:spPr>
      </p:sp>
      <p:sp>
        <p:nvSpPr>
          <p:cNvPr id="24" name="Shape 22"/>
          <p:cNvSpPr/>
          <p:nvPr/>
        </p:nvSpPr>
        <p:spPr>
          <a:xfrm>
            <a:off x="548640" y="4526280"/>
            <a:ext cx="1874520" cy="868680"/>
          </a:xfrm>
          <a:prstGeom prst="roundRect">
            <a:avLst>
              <a:gd name="adj" fmla="val 8421"/>
            </a:avLst>
          </a:prstGeom>
          <a:solidFill>
            <a:schemeClr val="bg2"/>
          </a:solidFill>
          <a:ln w="12700">
            <a:solidFill>
              <a:schemeClr val="bg2"/>
            </a:solidFill>
            <a:prstDash val="solid"/>
          </a:ln>
        </p:spPr>
      </p:sp>
      <p:sp>
        <p:nvSpPr>
          <p:cNvPr id="25" name="Text 23"/>
          <p:cNvSpPr txBox="1"/>
          <p:nvPr/>
        </p:nvSpPr>
        <p:spPr>
          <a:xfrm>
            <a:off x="621792" y="4526280"/>
            <a:ext cx="1728216" cy="868680"/>
          </a:xfrm>
          <a:prstGeom prst="rect">
            <a:avLst/>
          </a:prstGeom>
          <a:noFill/>
          <a:ln/>
        </p:spPr>
        <p:txBody>
          <a:bodyPr wrap="square" lIns="0" tIns="0" rIns="0" bIns="0" rtlCol="0" anchor="ctr"/>
          <a:lstStyle/>
          <a:p>
            <a:pPr algn="ctr" indent="0" marL="0">
              <a:buNone/>
            </a:pPr>
            <a:r>
              <a:rPr lang="en-US" sz="1200" dirty="0">
                <a:solidFill>
                  <a:schemeClr val="tx1"/>
                </a:solidFill>
              </a:rPr>
              <a:t>Altezza, salto</a:t>
            </a:r>
            <a:endParaRPr lang="en-US" sz="1200" dirty="0"/>
          </a:p>
          <a:p>
            <a:pPr algn="ctr" indent="0" marL="0">
              <a:buNone/>
            </a:pPr>
            <a:r>
              <a:rPr lang="en-US" sz="1200" dirty="0">
                <a:solidFill>
                  <a:schemeClr val="tx1"/>
                </a:solidFill>
              </a:rPr>
              <a:t>(supervisore 7 stati)</a:t>
            </a:r>
            <a:endParaRPr lang="en-US" sz="1200" dirty="0"/>
          </a:p>
        </p:txBody>
      </p:sp>
      <p:sp>
        <p:nvSpPr>
          <p:cNvPr id="26" name="Shape 24"/>
          <p:cNvSpPr/>
          <p:nvPr/>
        </p:nvSpPr>
        <p:spPr>
          <a:xfrm>
            <a:off x="2743200" y="4526280"/>
            <a:ext cx="6720840" cy="868680"/>
          </a:xfrm>
          <a:prstGeom prst="roundRect">
            <a:avLst>
              <a:gd name="adj" fmla="val 8421"/>
            </a:avLst>
          </a:prstGeom>
          <a:solidFill>
            <a:schemeClr val="bg2"/>
          </a:solidFill>
          <a:ln w="15875">
            <a:solidFill>
              <a:schemeClr val="accent1"/>
            </a:solidFill>
            <a:prstDash val="solid"/>
          </a:ln>
        </p:spPr>
      </p:sp>
      <p:sp>
        <p:nvSpPr>
          <p:cNvPr id="27" name="Text 25"/>
          <p:cNvSpPr txBox="1"/>
          <p:nvPr/>
        </p:nvSpPr>
        <p:spPr>
          <a:xfrm>
            <a:off x="2816352" y="4526280"/>
            <a:ext cx="6574536" cy="868680"/>
          </a:xfrm>
          <a:prstGeom prst="rect">
            <a:avLst/>
          </a:prstGeom>
          <a:noFill/>
          <a:ln/>
        </p:spPr>
        <p:txBody>
          <a:bodyPr wrap="square" lIns="0" tIns="0" rIns="0" bIns="0" rtlCol="0" anchor="ctr"/>
          <a:lstStyle/>
          <a:p>
            <a:pPr algn="ctr" indent="0" marL="0">
              <a:buNone/>
            </a:pPr>
            <a:r>
              <a:rPr lang="en-US" sz="1200" dirty="0">
                <a:solidFill>
                  <a:schemeClr val="tx1"/>
                </a:solidFill>
              </a:rPr>
              <a:t>(D) PD cartesiano ruota-anca con il peso in feedforward → τ</a:t>
            </a:r>
            <a:r>
              <a:rPr lang="en-US" sz="1200" baseline="-40000" dirty="0">
                <a:solidFill>
                  <a:schemeClr val="tx1"/>
                </a:solidFill>
              </a:rPr>
              <a:t>hip</a:t>
            </a:r>
            <a:r>
              <a:rPr lang="en-US" sz="1200" dirty="0">
                <a:solidFill>
                  <a:schemeClr val="tx1"/>
                </a:solidFill>
              </a:rPr>
              <a:t>, τ</a:t>
            </a:r>
            <a:r>
              <a:rPr lang="en-US" sz="1200" baseline="-40000" dirty="0">
                <a:solidFill>
                  <a:schemeClr val="tx1"/>
                </a:solidFill>
              </a:rPr>
              <a:t>knee</a:t>
            </a:r>
            <a:endParaRPr lang="en-US" sz="1200" dirty="0"/>
          </a:p>
        </p:txBody>
      </p:sp>
      <p:sp>
        <p:nvSpPr>
          <p:cNvPr id="28" name="Shape 26"/>
          <p:cNvSpPr/>
          <p:nvPr/>
        </p:nvSpPr>
        <p:spPr>
          <a:xfrm>
            <a:off x="2423160" y="4960620"/>
            <a:ext cx="320040" cy="91"/>
          </a:xfrm>
          <a:prstGeom prst="line">
            <a:avLst/>
          </a:prstGeom>
          <a:noFill/>
          <a:ln w="19050">
            <a:solidFill>
              <a:schemeClr val="accent4"/>
            </a:solidFill>
            <a:prstDash val="solid"/>
            <a:tailEnd type="triangle"/>
          </a:ln>
        </p:spPr>
      </p:sp>
      <p:sp>
        <p:nvSpPr>
          <p:cNvPr id="29" name="Shape 27"/>
          <p:cNvSpPr/>
          <p:nvPr/>
        </p:nvSpPr>
        <p:spPr>
          <a:xfrm>
            <a:off x="9921240" y="1600200"/>
            <a:ext cx="1719072" cy="2331720"/>
          </a:xfrm>
          <a:prstGeom prst="roundRect">
            <a:avLst>
              <a:gd name="adj" fmla="val 4255"/>
            </a:avLst>
          </a:prstGeom>
          <a:solidFill>
            <a:schemeClr val="tx2"/>
          </a:solidFill>
          <a:ln w="12700">
            <a:solidFill>
              <a:schemeClr val="tx2"/>
            </a:solidFill>
            <a:prstDash val="solid"/>
          </a:ln>
        </p:spPr>
      </p:sp>
      <p:sp>
        <p:nvSpPr>
          <p:cNvPr id="30" name="Text 28"/>
          <p:cNvSpPr txBox="1"/>
          <p:nvPr/>
        </p:nvSpPr>
        <p:spPr>
          <a:xfrm>
            <a:off x="9994392" y="1600200"/>
            <a:ext cx="1572768" cy="2331720"/>
          </a:xfrm>
          <a:prstGeom prst="rect">
            <a:avLst/>
          </a:prstGeom>
          <a:noFill/>
          <a:ln/>
        </p:spPr>
        <p:txBody>
          <a:bodyPr wrap="square" lIns="0" tIns="0" rIns="0" bIns="0" rtlCol="0" anchor="ctr"/>
          <a:lstStyle/>
          <a:p>
            <a:pPr algn="ctr" indent="0" marL="0">
              <a:buNone/>
            </a:pPr>
            <a:r>
              <a:rPr lang="en-US" sz="1200" b="1" dirty="0">
                <a:solidFill>
                  <a:schemeClr val="bg1"/>
                </a:solidFill>
              </a:rPr>
              <a:t>τ</a:t>
            </a:r>
            <a:r>
              <a:rPr lang="en-US" sz="1200" b="1" baseline="-40000" dirty="0">
                <a:solidFill>
                  <a:schemeClr val="bg1"/>
                </a:solidFill>
              </a:rPr>
              <a:t>l</a:t>
            </a:r>
            <a:r>
              <a:rPr lang="en-US" sz="1200" b="1" dirty="0">
                <a:solidFill>
                  <a:schemeClr val="bg1"/>
                </a:solidFill>
              </a:rPr>
              <a:t> = τ</a:t>
            </a:r>
            <a:r>
              <a:rPr lang="en-US" sz="1200" b="1" baseline="-40000" dirty="0">
                <a:solidFill>
                  <a:schemeClr val="bg1"/>
                </a:solidFill>
              </a:rPr>
              <a:t>c</a:t>
            </a:r>
            <a:r>
              <a:rPr lang="en-US" sz="1200" b="1" dirty="0">
                <a:solidFill>
                  <a:schemeClr val="bg1"/>
                </a:solidFill>
              </a:rPr>
              <a:t> − τ</a:t>
            </a:r>
            <a:r>
              <a:rPr lang="en-US" sz="1200" b="1" baseline="-40000" dirty="0">
                <a:solidFill>
                  <a:schemeClr val="bg1"/>
                </a:solidFill>
              </a:rPr>
              <a:t>d</a:t>
            </a:r>
            <a:endParaRPr lang="en-US" sz="1200" dirty="0"/>
          </a:p>
          <a:p>
            <a:pPr algn="ctr" indent="0" marL="0">
              <a:buNone/>
            </a:pPr>
            <a:r>
              <a:rPr lang="en-US" sz="1200" b="1" dirty="0">
                <a:solidFill>
                  <a:schemeClr val="bg1"/>
                </a:solidFill>
              </a:rPr>
              <a:t>τ</a:t>
            </a:r>
            <a:r>
              <a:rPr lang="en-US" sz="1200" b="1" baseline="-40000" dirty="0">
                <a:solidFill>
                  <a:schemeClr val="bg1"/>
                </a:solidFill>
              </a:rPr>
              <a:t>r</a:t>
            </a:r>
            <a:r>
              <a:rPr lang="en-US" sz="1200" b="1" dirty="0">
                <a:solidFill>
                  <a:schemeClr val="bg1"/>
                </a:solidFill>
              </a:rPr>
              <a:t> = τ</a:t>
            </a:r>
            <a:r>
              <a:rPr lang="en-US" sz="1200" b="1" baseline="-40000" dirty="0">
                <a:solidFill>
                  <a:schemeClr val="bg1"/>
                </a:solidFill>
              </a:rPr>
              <a:t>c</a:t>
            </a:r>
            <a:r>
              <a:rPr lang="en-US" sz="1200" b="1" dirty="0">
                <a:solidFill>
                  <a:schemeClr val="bg1"/>
                </a:solidFill>
              </a:rPr>
              <a:t> + τ</a:t>
            </a:r>
            <a:r>
              <a:rPr lang="en-US" sz="1200" b="1" baseline="-40000" dirty="0">
                <a:solidFill>
                  <a:schemeClr val="bg1"/>
                </a:solidFill>
              </a:rPr>
              <a:t>d</a:t>
            </a:r>
            <a:endParaRPr lang="en-US" sz="1200" dirty="0"/>
          </a:p>
          <a:p>
            <a:pPr algn="ctr" indent="0" marL="0">
              <a:buNone/>
            </a:pPr>
            <a:r>
              <a:rPr lang="en-US" sz="1200" b="1" dirty="0">
                <a:solidFill>
                  <a:schemeClr val="bg1"/>
                </a:solidFill>
              </a:rPr>
              <a:t> </a:t>
            </a:r>
            <a:endParaRPr lang="en-US" sz="1200" dirty="0"/>
          </a:p>
          <a:p>
            <a:pPr algn="ctr" indent="0" marL="0">
              <a:buNone/>
            </a:pPr>
            <a:r>
              <a:rPr lang="en-US" sz="1200" b="1" dirty="0">
                <a:solidFill>
                  <a:schemeClr val="bg1"/>
                </a:solidFill>
              </a:rPr>
              <a:t>ruote, 10 N·m</a:t>
            </a:r>
            <a:endParaRPr lang="en-US" sz="1200" dirty="0"/>
          </a:p>
        </p:txBody>
      </p:sp>
      <p:sp>
        <p:nvSpPr>
          <p:cNvPr id="31" name="Shape 29"/>
          <p:cNvSpPr/>
          <p:nvPr/>
        </p:nvSpPr>
        <p:spPr>
          <a:xfrm>
            <a:off x="9464040" y="2034540"/>
            <a:ext cx="457200" cy="91"/>
          </a:xfrm>
          <a:prstGeom prst="line">
            <a:avLst/>
          </a:prstGeom>
          <a:noFill/>
          <a:ln w="19050">
            <a:solidFill>
              <a:schemeClr val="accent4"/>
            </a:solidFill>
            <a:prstDash val="solid"/>
            <a:tailEnd type="triangle"/>
          </a:ln>
        </p:spPr>
      </p:sp>
      <p:sp>
        <p:nvSpPr>
          <p:cNvPr id="32" name="Shape 30"/>
          <p:cNvSpPr/>
          <p:nvPr/>
        </p:nvSpPr>
        <p:spPr>
          <a:xfrm>
            <a:off x="9464040" y="3497580"/>
            <a:ext cx="457200" cy="91"/>
          </a:xfrm>
          <a:prstGeom prst="line">
            <a:avLst/>
          </a:prstGeom>
          <a:noFill/>
          <a:ln w="19050">
            <a:solidFill>
              <a:schemeClr val="accent4"/>
            </a:solidFill>
            <a:prstDash val="solid"/>
            <a:tailEnd type="triangle"/>
          </a:ln>
        </p:spPr>
      </p:sp>
      <p:sp>
        <p:nvSpPr>
          <p:cNvPr id="33" name="Text 31"/>
          <p:cNvSpPr txBox="1"/>
          <p:nvPr/>
        </p:nvSpPr>
        <p:spPr>
          <a:xfrm>
            <a:off x="9491472" y="1673352"/>
            <a:ext cx="457200" cy="274320"/>
          </a:xfrm>
          <a:prstGeom prst="rect">
            <a:avLst/>
          </a:prstGeom>
          <a:noFill/>
          <a:ln/>
        </p:spPr>
        <p:txBody>
          <a:bodyPr wrap="square" lIns="0" tIns="0" rIns="0" bIns="0" rtlCol="0" anchor="t"/>
          <a:lstStyle/>
          <a:p>
            <a:pPr algn="l" indent="0" marL="0">
              <a:buNone/>
            </a:pPr>
            <a:r>
              <a:rPr lang="en-US" sz="1100" dirty="0">
                <a:solidFill>
                  <a:schemeClr val="accent4"/>
                </a:solidFill>
              </a:rPr>
              <a:t>τ</a:t>
            </a:r>
            <a:r>
              <a:rPr lang="en-US" sz="1100" baseline="-40000" dirty="0">
                <a:solidFill>
                  <a:schemeClr val="accent4"/>
                </a:solidFill>
              </a:rPr>
              <a:t>c</a:t>
            </a:r>
            <a:endParaRPr lang="en-US" sz="1100" dirty="0"/>
          </a:p>
        </p:txBody>
      </p:sp>
      <p:sp>
        <p:nvSpPr>
          <p:cNvPr id="34" name="Text 32"/>
          <p:cNvSpPr txBox="1"/>
          <p:nvPr/>
        </p:nvSpPr>
        <p:spPr>
          <a:xfrm>
            <a:off x="9491472" y="3136392"/>
            <a:ext cx="457200" cy="274320"/>
          </a:xfrm>
          <a:prstGeom prst="rect">
            <a:avLst/>
          </a:prstGeom>
          <a:noFill/>
          <a:ln/>
        </p:spPr>
        <p:txBody>
          <a:bodyPr wrap="square" lIns="0" tIns="0" rIns="0" bIns="0" rtlCol="0" anchor="t"/>
          <a:lstStyle/>
          <a:p>
            <a:pPr algn="l" indent="0" marL="0">
              <a:buNone/>
            </a:pPr>
            <a:r>
              <a:rPr lang="en-US" sz="1100" dirty="0">
                <a:solidFill>
                  <a:schemeClr val="accent4"/>
                </a:solidFill>
              </a:rPr>
              <a:t>τ</a:t>
            </a:r>
            <a:r>
              <a:rPr lang="en-US" sz="1100" baseline="-40000" dirty="0">
                <a:solidFill>
                  <a:schemeClr val="accent4"/>
                </a:solidFill>
              </a:rPr>
              <a:t>d</a:t>
            </a:r>
            <a:endParaRPr lang="en-US" sz="1100" dirty="0"/>
          </a:p>
        </p:txBody>
      </p:sp>
      <p:sp>
        <p:nvSpPr>
          <p:cNvPr id="35" name="Text 33"/>
          <p:cNvSpPr txBox="1"/>
          <p:nvPr/>
        </p:nvSpPr>
        <p:spPr>
          <a:xfrm>
            <a:off x="548640" y="5715000"/>
            <a:ext cx="11064240" cy="411480"/>
          </a:xfrm>
          <a:prstGeom prst="rect">
            <a:avLst/>
          </a:prstGeom>
          <a:noFill/>
          <a:ln/>
        </p:spPr>
        <p:txBody>
          <a:bodyPr wrap="square" lIns="0" tIns="0" rIns="0" bIns="0" rtlCol="0" anchor="t"/>
          <a:lstStyle/>
          <a:p>
            <a:pPr algn="l" indent="0" marL="0">
              <a:buNone/>
            </a:pPr>
            <a:r>
              <a:rPr lang="en-US" sz="1300" i="1" dirty="0">
                <a:solidFill>
                  <a:schemeClr val="accent4"/>
                </a:solidFill>
              </a:rPr>
              <a:t>Stato: posa del torso da /rotino/odom e cinematica URDF, accoppiati per timestamp a 500 Hz; derivate per differenze finite.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Anello A: Capture Point → ZMP → coppia</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3 · PID con ZMP</a:t>
            </a:r>
            <a:endParaRPr lang="en-US" sz="1200" dirty="0"/>
          </a:p>
        </p:txBody>
      </p:sp>
      <p:pic>
        <p:nvPicPr>
          <p:cNvPr id="5" name="Image 0" descr="Formula: anello_A">    </p:cNvPr>
          <p:cNvPicPr>
            <a:picLocks noChangeAspect="1"/>
          </p:cNvPicPr>
          <p:nvPr/>
        </p:nvPicPr>
        <p:blipFill>
          <a:blip r:embed="rId1"/>
          <a:stretch>
            <a:fillRect/>
          </a:stretch>
        </p:blipFill>
        <p:spPr>
          <a:xfrm>
            <a:off x="548640" y="1371600"/>
            <a:ext cx="7498080" cy="967140"/>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321040" y="1371600"/>
          <a:ext cx="3319272" cy="914400"/>
        </p:xfrm>
        <a:graphic>
          <a:graphicData uri="http://schemas.openxmlformats.org/drawingml/2006/table">
            <a:tbl>
              <a:tblPr/>
              <a:tblGrid>
                <a:gridCol w="1554480"/>
                <a:gridCol w="1764792"/>
              </a:tblGrid>
              <a:tr h="384048">
                <a:tc>
                  <a:txBody>
                    <a:bodyPr/>
                    <a:lstStyle/>
                    <a:p>
                      <a:pPr algn="l" indent="0" marL="0">
                        <a:buNone/>
                      </a:pPr>
                      <a:r>
                        <a:rPr lang="en-US" sz="1200" b="1" dirty="0">
                          <a:solidFill>
                            <a:schemeClr val="bg1"/>
                          </a:solidFill>
                        </a:rPr>
                        <a:t>Guadagno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Valore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1"/>
                    </a:solidFill>
                  </a:tcPr>
                </a:tc>
              </a:tr>
              <a:tr h="384048">
                <a:tc>
                  <a:txBody>
                    <a:bodyPr/>
                    <a:lstStyle/>
                    <a:p>
                      <a:pPr algn="l" indent="0" marL="0">
                        <a:buNone/>
                      </a:pPr>
                      <a:r>
                        <a:rPr lang="en-US" sz="1200" dirty="0">
                          <a:solidFill>
                            <a:schemeClr val="tx1"/>
                          </a:solidFill>
                        </a:rPr>
                        <a:t>K</a:t>
                      </a:r>
                      <a:r>
                        <a:rPr lang="en-US" sz="1200" baseline="-40000" dirty="0">
                          <a:solidFill>
                            <a:schemeClr val="tx1"/>
                          </a:solidFill>
                        </a:rPr>
                        <a:t>s</a:t>
                      </a:r>
                      <a:r>
                        <a:rPr lang="en-US" sz="1200" dirty="0">
                          <a:solidFill>
                            <a:schemeClr val="tx1"/>
                          </a:solidFill>
                        </a:rPr>
                        <a:t>, K</a:t>
                      </a:r>
                      <a:r>
                        <a:rPr lang="en-US" sz="1200" baseline="-40000" dirty="0">
                          <a:solidFill>
                            <a:schemeClr val="tx1"/>
                          </a:solidFill>
                        </a:rPr>
                        <a:t>sd</a:t>
                      </a:r>
                      <a:r>
                        <a:rPr lang="en-US" sz="1200" dirty="0">
                          <a:solidFill>
                            <a:schemeClr val="tx1"/>
                          </a:solidFill>
                        </a:rPr>
                        <a:t> (per ruota)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60 N·m/m · 5 N·m·s/m</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ρ (autorità)</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0,4</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384048">
                <a:tc>
                  <a:txBody>
                    <a:bodyPr/>
                    <a:lstStyle/>
                    <a:p>
                      <a:pPr algn="l" indent="0" marL="0">
                        <a:buNone/>
                      </a:pPr>
                      <a:r>
                        <a:rPr lang="en-US" sz="1200" dirty="0">
                          <a:solidFill>
                            <a:schemeClr val="tx1"/>
                          </a:solidFill>
                        </a:rPr>
                        <a:t>k</a:t>
                      </a:r>
                      <a:r>
                        <a:rPr lang="en-US" sz="1200" baseline="-40000" dirty="0">
                          <a:solidFill>
                            <a:schemeClr val="tx1"/>
                          </a:solidFill>
                        </a:rPr>
                        <a:t>ξ</a:t>
                      </a:r>
                      <a:r>
                        <a:rPr lang="en-US" sz="1200" dirty="0">
                          <a:solidFill>
                            <a:schemeClr val="tx1"/>
                          </a:solidFill>
                        </a:rPr>
                        <a:t>, k</a:t>
                      </a:r>
                      <a:r>
                        <a:rPr lang="en-US" sz="1200" baseline="-40000" dirty="0">
                          <a:solidFill>
                            <a:schemeClr val="tx1"/>
                          </a:solidFill>
                        </a:rPr>
                        <a:t>i</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1,5 s</a:t>
                      </a:r>
                      <a:r>
                        <a:rPr lang="en-US" sz="1200" baseline="30000" dirty="0">
                          <a:solidFill>
                            <a:schemeClr val="tx1"/>
                          </a:solidFill>
                        </a:rPr>
                        <a:t>-1</a:t>
                      </a:r>
                      <a:r>
                        <a:rPr lang="en-US" sz="1200" dirty="0">
                          <a:solidFill>
                            <a:schemeClr val="tx1"/>
                          </a:solidFill>
                        </a:rPr>
                        <a:t> · 0,5 s</a:t>
                      </a:r>
                      <a:r>
                        <a:rPr lang="en-US" sz="1200" baseline="30000" dirty="0">
                          <a:solidFill>
                            <a:schemeClr val="tx1"/>
                          </a:solidFill>
                        </a:rPr>
                        <a:t>-2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a</a:t>
                      </a:r>
                      <a:r>
                        <a:rPr lang="en-US" sz="1200" baseline="-40000" dirty="0">
                          <a:solidFill>
                            <a:schemeClr val="tx1"/>
                          </a:solidFill>
                        </a:rPr>
                        <a:t>max</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3 m/s² → offset ≤ 59 mm</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384048">
                <a:tc>
                  <a:txBody>
                    <a:bodyPr/>
                    <a:lstStyle/>
                    <a:p>
                      <a:pPr algn="l" indent="0" marL="0">
                        <a:buNone/>
                      </a:pPr>
                      <a:r>
                        <a:rPr lang="en-US" sz="1200" dirty="0">
                          <a:solidFill>
                            <a:schemeClr val="tx1"/>
                          </a:solidFill>
                        </a:rPr>
                        <a:t>λ</a:t>
                      </a:r>
                      <a:r>
                        <a:rPr lang="en-US" sz="1200" baseline="-40000" dirty="0">
                          <a:solidFill>
                            <a:schemeClr val="tx1"/>
                          </a:solidFill>
                        </a:rPr>
                        <a:t>s</a:t>
                      </a:r>
                      <a:r>
                        <a:rPr lang="en-US" sz="1200" dirty="0">
                          <a:solidFill>
                            <a:schemeClr val="tx1"/>
                          </a:solidFill>
                        </a:rPr>
                        <a:t> (feedforward)</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21,8 mm per m/s²</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Saturazione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10 N·m per ruota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3200400"/>
            <a:ext cx="2377440" cy="2194560"/>
          </a:xfrm>
          <a:prstGeom prst="roundRect">
            <a:avLst>
              <a:gd name="adj" fmla="val 3333"/>
            </a:avLst>
          </a:prstGeom>
          <a:solidFill>
            <a:schemeClr val="bg2"/>
          </a:solidFill>
          <a:ln w="12700">
            <a:solidFill>
              <a:schemeClr val="bg2"/>
            </a:solidFill>
            <a:prstDash val="solid"/>
          </a:ln>
        </p:spPr>
      </p:sp>
      <p:sp>
        <p:nvSpPr>
          <p:cNvPr id="8" name="Shape 4"/>
          <p:cNvSpPr/>
          <p:nvPr/>
        </p:nvSpPr>
        <p:spPr>
          <a:xfrm>
            <a:off x="731520" y="3383280"/>
            <a:ext cx="420624" cy="420624"/>
          </a:xfrm>
          <a:prstGeom prst="ellipse">
            <a:avLst/>
          </a:prstGeom>
          <a:solidFill>
            <a:schemeClr val="accent1"/>
          </a:solidFill>
          <a:ln w="12700">
            <a:solidFill>
              <a:schemeClr val="accent1"/>
            </a:solidFill>
            <a:prstDash val="solid"/>
          </a:ln>
        </p:spPr>
      </p:sp>
      <p:sp>
        <p:nvSpPr>
          <p:cNvPr id="9" name="Text 5"/>
          <p:cNvSpPr txBox="1"/>
          <p:nvPr/>
        </p:nvSpPr>
        <p:spPr>
          <a:xfrm>
            <a:off x="731520" y="33832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E</a:t>
            </a:r>
            <a:endParaRPr lang="en-US" sz="1300" dirty="0"/>
          </a:p>
        </p:txBody>
      </p:sp>
      <p:sp>
        <p:nvSpPr>
          <p:cNvPr id="10" name="Text 6"/>
          <p:cNvSpPr txBox="1"/>
          <p:nvPr/>
        </p:nvSpPr>
        <p:spPr>
          <a:xfrm>
            <a:off x="1280160" y="3383280"/>
            <a:ext cx="1463040" cy="420624"/>
          </a:xfrm>
          <a:prstGeom prst="rect">
            <a:avLst/>
          </a:prstGeom>
          <a:noFill/>
          <a:ln/>
        </p:spPr>
        <p:txBody>
          <a:bodyPr wrap="square" lIns="0" tIns="0" rIns="0" bIns="0" rtlCol="0" anchor="ctr"/>
          <a:lstStyle/>
          <a:p>
            <a:pPr algn="l" indent="0" marL="0">
              <a:buNone/>
            </a:pPr>
            <a:r>
              <a:rPr lang="en-US" sz="1500" b="1" dirty="0">
                <a:solidFill>
                  <a:schemeClr val="tx2"/>
                </a:solidFill>
              </a:rPr>
              <a:t>Anello esterno</a:t>
            </a:r>
            <a:endParaRPr lang="en-US" sz="1500" dirty="0"/>
          </a:p>
        </p:txBody>
      </p:sp>
      <p:sp>
        <p:nvSpPr>
          <p:cNvPr id="11" name="Text 7"/>
          <p:cNvSpPr txBox="1"/>
          <p:nvPr/>
        </p:nvSpPr>
        <p:spPr>
          <a:xfrm>
            <a:off x="777240" y="3931920"/>
            <a:ext cx="1965960" cy="1325880"/>
          </a:xfrm>
          <a:prstGeom prst="rect">
            <a:avLst/>
          </a:prstGeom>
          <a:noFill/>
          <a:ln/>
        </p:spPr>
        <p:txBody>
          <a:bodyPr wrap="square" lIns="0" tIns="0" rIns="0" bIns="0" rtlCol="0" anchor="t"/>
          <a:lstStyle/>
          <a:p>
            <a:pPr algn="l" indent="0" marL="0">
              <a:buNone/>
            </a:pPr>
            <a:r>
              <a:rPr lang="en-US" sz="1300" dirty="0">
                <a:solidFill>
                  <a:schemeClr val="tx1"/>
                </a:solidFill>
              </a:rPr>
              <a:t>PI sull'errore del Capture Point: dice dove mettere lo ZMP rispetto al CoM.</a:t>
            </a:r>
            <a:endParaRPr lang="en-US" sz="1300" dirty="0"/>
          </a:p>
        </p:txBody>
      </p:sp>
      <p:sp>
        <p:nvSpPr>
          <p:cNvPr id="12" name="Shape 8"/>
          <p:cNvSpPr/>
          <p:nvPr/>
        </p:nvSpPr>
        <p:spPr>
          <a:xfrm>
            <a:off x="3108960" y="3200400"/>
            <a:ext cx="2377440" cy="2194560"/>
          </a:xfrm>
          <a:prstGeom prst="roundRect">
            <a:avLst>
              <a:gd name="adj" fmla="val 3333"/>
            </a:avLst>
          </a:prstGeom>
          <a:solidFill>
            <a:schemeClr val="bg2"/>
          </a:solidFill>
          <a:ln w="12700">
            <a:solidFill>
              <a:schemeClr val="bg2"/>
            </a:solidFill>
            <a:prstDash val="solid"/>
          </a:ln>
        </p:spPr>
      </p:sp>
      <p:sp>
        <p:nvSpPr>
          <p:cNvPr id="13" name="Shape 9"/>
          <p:cNvSpPr/>
          <p:nvPr/>
        </p:nvSpPr>
        <p:spPr>
          <a:xfrm>
            <a:off x="3291840" y="3383280"/>
            <a:ext cx="420624" cy="420624"/>
          </a:xfrm>
          <a:prstGeom prst="ellipse">
            <a:avLst/>
          </a:prstGeom>
          <a:solidFill>
            <a:schemeClr val="accent1"/>
          </a:solidFill>
          <a:ln w="12700">
            <a:solidFill>
              <a:schemeClr val="accent1"/>
            </a:solidFill>
            <a:prstDash val="solid"/>
          </a:ln>
        </p:spPr>
      </p:sp>
      <p:sp>
        <p:nvSpPr>
          <p:cNvPr id="14" name="Text 10"/>
          <p:cNvSpPr txBox="1"/>
          <p:nvPr/>
        </p:nvSpPr>
        <p:spPr>
          <a:xfrm>
            <a:off x="3291840" y="33832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I</a:t>
            </a:r>
            <a:endParaRPr lang="en-US" sz="1300" dirty="0"/>
          </a:p>
        </p:txBody>
      </p:sp>
      <p:sp>
        <p:nvSpPr>
          <p:cNvPr id="15" name="Text 11"/>
          <p:cNvSpPr txBox="1"/>
          <p:nvPr/>
        </p:nvSpPr>
        <p:spPr>
          <a:xfrm>
            <a:off x="3840480" y="3383280"/>
            <a:ext cx="1463040" cy="420624"/>
          </a:xfrm>
          <a:prstGeom prst="rect">
            <a:avLst/>
          </a:prstGeom>
          <a:noFill/>
          <a:ln/>
        </p:spPr>
        <p:txBody>
          <a:bodyPr wrap="square" lIns="0" tIns="0" rIns="0" bIns="0" rtlCol="0" anchor="ctr"/>
          <a:lstStyle/>
          <a:p>
            <a:pPr algn="l" indent="0" marL="0">
              <a:buNone/>
            </a:pPr>
            <a:r>
              <a:rPr lang="en-US" sz="1500" b="1" dirty="0">
                <a:solidFill>
                  <a:schemeClr val="tx2"/>
                </a:solidFill>
              </a:rPr>
              <a:t>Anello interno</a:t>
            </a:r>
            <a:endParaRPr lang="en-US" sz="1500" dirty="0"/>
          </a:p>
        </p:txBody>
      </p:sp>
      <p:sp>
        <p:nvSpPr>
          <p:cNvPr id="16" name="Text 12"/>
          <p:cNvSpPr txBox="1"/>
          <p:nvPr/>
        </p:nvSpPr>
        <p:spPr>
          <a:xfrm>
            <a:off x="3337560" y="3931920"/>
            <a:ext cx="1965960" cy="1325880"/>
          </a:xfrm>
          <a:prstGeom prst="rect">
            <a:avLst/>
          </a:prstGeom>
          <a:noFill/>
          <a:ln/>
        </p:spPr>
        <p:txBody>
          <a:bodyPr wrap="square" lIns="0" tIns="0" rIns="0" bIns="0" rtlCol="0" anchor="t"/>
          <a:lstStyle/>
          <a:p>
            <a:pPr algn="l" indent="0" marL="0">
              <a:buNone/>
            </a:pPr>
            <a:r>
              <a:rPr lang="en-US" sz="1300" dirty="0">
                <a:solidFill>
                  <a:schemeClr val="tx1"/>
                </a:solidFill>
              </a:rPr>
              <a:t>PD sull'offset s: le ruote portano il contatto dove serve.</a:t>
            </a:r>
            <a:endParaRPr lang="en-US" sz="1300" dirty="0"/>
          </a:p>
        </p:txBody>
      </p:sp>
      <p:sp>
        <p:nvSpPr>
          <p:cNvPr id="17" name="Shape 13"/>
          <p:cNvSpPr/>
          <p:nvPr/>
        </p:nvSpPr>
        <p:spPr>
          <a:xfrm>
            <a:off x="5669280" y="3200400"/>
            <a:ext cx="2377440" cy="2194560"/>
          </a:xfrm>
          <a:prstGeom prst="roundRect">
            <a:avLst>
              <a:gd name="adj" fmla="val 3333"/>
            </a:avLst>
          </a:prstGeom>
          <a:solidFill>
            <a:schemeClr val="bg2"/>
          </a:solidFill>
          <a:ln w="12700">
            <a:solidFill>
              <a:schemeClr val="bg2"/>
            </a:solidFill>
            <a:prstDash val="solid"/>
          </a:ln>
        </p:spPr>
      </p:sp>
      <p:sp>
        <p:nvSpPr>
          <p:cNvPr id="18" name="Shape 14"/>
          <p:cNvSpPr/>
          <p:nvPr/>
        </p:nvSpPr>
        <p:spPr>
          <a:xfrm>
            <a:off x="5852160" y="3383280"/>
            <a:ext cx="420624" cy="420624"/>
          </a:xfrm>
          <a:prstGeom prst="ellipse">
            <a:avLst/>
          </a:prstGeom>
          <a:solidFill>
            <a:schemeClr val="accent1"/>
          </a:solidFill>
          <a:ln w="12700">
            <a:solidFill>
              <a:schemeClr val="accent1"/>
            </a:solidFill>
            <a:prstDash val="solid"/>
          </a:ln>
        </p:spPr>
      </p:sp>
      <p:sp>
        <p:nvSpPr>
          <p:cNvPr id="19" name="Text 15"/>
          <p:cNvSpPr txBox="1"/>
          <p:nvPr/>
        </p:nvSpPr>
        <p:spPr>
          <a:xfrm>
            <a:off x="5852160" y="3383280"/>
            <a:ext cx="420624" cy="420624"/>
          </a:xfrm>
          <a:prstGeom prst="rect">
            <a:avLst/>
          </a:prstGeom>
          <a:noFill/>
          <a:ln/>
        </p:spPr>
        <p:txBody>
          <a:bodyPr wrap="square" lIns="0" tIns="0" rIns="0" bIns="0" rtlCol="0" anchor="ctr"/>
          <a:lstStyle/>
          <a:p>
            <a:pPr algn="ctr" indent="0" marL="0">
              <a:buNone/>
            </a:pPr>
            <a:r>
              <a:rPr lang="en-US" sz="1100" b="1" dirty="0">
                <a:solidFill>
                  <a:schemeClr val="bg1"/>
                </a:solidFill>
              </a:rPr>
              <a:t>FF</a:t>
            </a:r>
            <a:endParaRPr lang="en-US" sz="1100" dirty="0"/>
          </a:p>
        </p:txBody>
      </p:sp>
      <p:sp>
        <p:nvSpPr>
          <p:cNvPr id="20" name="Text 16"/>
          <p:cNvSpPr txBox="1"/>
          <p:nvPr/>
        </p:nvSpPr>
        <p:spPr>
          <a:xfrm>
            <a:off x="6400800" y="3383280"/>
            <a:ext cx="1463040" cy="420624"/>
          </a:xfrm>
          <a:prstGeom prst="rect">
            <a:avLst/>
          </a:prstGeom>
          <a:noFill/>
          <a:ln/>
        </p:spPr>
        <p:txBody>
          <a:bodyPr wrap="square" lIns="0" tIns="0" rIns="0" bIns="0" rtlCol="0" anchor="ctr"/>
          <a:lstStyle/>
          <a:p>
            <a:pPr algn="l" indent="0" marL="0">
              <a:buNone/>
            </a:pPr>
            <a:r>
              <a:rPr lang="en-US" sz="1500" b="1" dirty="0">
                <a:solidFill>
                  <a:schemeClr val="tx2"/>
                </a:solidFill>
              </a:rPr>
              <a:t>Feedforward</a:t>
            </a:r>
            <a:endParaRPr lang="en-US" sz="1500" dirty="0"/>
          </a:p>
        </p:txBody>
      </p:sp>
      <p:sp>
        <p:nvSpPr>
          <p:cNvPr id="21" name="Text 17"/>
          <p:cNvSpPr txBox="1"/>
          <p:nvPr/>
        </p:nvSpPr>
        <p:spPr>
          <a:xfrm>
            <a:off x="5897880" y="3931920"/>
            <a:ext cx="1965960" cy="1325880"/>
          </a:xfrm>
          <a:prstGeom prst="rect">
            <a:avLst/>
          </a:prstGeom>
          <a:noFill/>
          <a:ln/>
        </p:spPr>
        <p:txBody>
          <a:bodyPr wrap="square" lIns="0" tIns="0" rIns="0" bIns="0" rtlCol="0" anchor="t"/>
          <a:lstStyle/>
          <a:p>
            <a:pPr algn="l" indent="0" marL="0">
              <a:buNone/>
            </a:pPr>
            <a:r>
              <a:rPr lang="en-US" sz="1300" dirty="0">
                <a:solidFill>
                  <a:schemeClr val="tx1"/>
                </a:solidFill>
              </a:rPr>
              <a:t>Dal VL-WIP: inclinazione e coppia che tengono c̈</a:t>
            </a:r>
            <a:r>
              <a:rPr lang="en-US" sz="1300" baseline="-40000" dirty="0">
                <a:solidFill>
                  <a:schemeClr val="tx1"/>
                </a:solidFill>
              </a:rPr>
              <a:t>ref</a:t>
            </a:r>
            <a:r>
              <a:rPr lang="en-US" sz="1300" dirty="0">
                <a:solidFill>
                  <a:schemeClr val="tx1"/>
                </a:solidFill>
              </a:rPr>
              <a:t> a regime.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Anteprima LIPM: inclinarsi prima</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3 · PID con ZMP</a:t>
            </a:r>
            <a:endParaRPr lang="en-US" sz="1200" dirty="0"/>
          </a:p>
        </p:txBody>
      </p:sp>
      <p:pic>
        <p:nvPicPr>
          <p:cNvPr id="5" name="Image 0" descr="Formula: anteprima">    </p:cNvPr>
          <p:cNvPicPr>
            <a:picLocks noChangeAspect="1"/>
          </p:cNvPicPr>
          <p:nvPr/>
        </p:nvPicPr>
        <p:blipFill>
          <a:blip r:embed="rId1"/>
          <a:stretch>
            <a:fillRect/>
          </a:stretch>
        </p:blipFill>
        <p:spPr>
          <a:xfrm>
            <a:off x="548640" y="1371600"/>
            <a:ext cx="5486400" cy="535426"/>
          </a:xfrm>
          <a:prstGeom prst="rect">
            <a:avLst/>
          </a:prstGeom>
        </p:spPr>
      </p:pic>
      <p:sp>
        <p:nvSpPr>
          <p:cNvPr id="6" name="Text 3"/>
          <p:cNvSpPr txBox="1"/>
          <p:nvPr/>
        </p:nvSpPr>
        <p:spPr>
          <a:xfrm>
            <a:off x="548640" y="2606040"/>
            <a:ext cx="5394960" cy="329184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Il riferimento del CoM è la soluzione </a:t>
            </a:r>
            <a:r>
              <a:rPr lang="en-US" sz="1500" b="1" dirty="0">
                <a:solidFill>
                  <a:schemeClr val="tx1"/>
                </a:solidFill>
              </a:rPr>
              <a:t>limitata</a:t>
            </a:r>
            <a:r>
              <a:rPr lang="en-US" sz="1500" dirty="0">
                <a:solidFill>
                  <a:schemeClr val="tx1"/>
                </a:solidFill>
              </a:rPr>
              <a:t> di c̈ = ω²(c − p</a:t>
            </a:r>
            <a:r>
              <a:rPr lang="en-US" sz="1500" baseline="-40000" dirty="0">
                <a:solidFill>
                  <a:schemeClr val="tx1"/>
                </a:solidFill>
              </a:rPr>
              <a:t>ref</a:t>
            </a:r>
            <a:r>
              <a:rPr lang="en-US" sz="1500" dirty="0">
                <a:solidFill>
                  <a:schemeClr val="tx1"/>
                </a:solidFill>
              </a:rPr>
              <a:t>)</a:t>
            </a:r>
            <a:endParaRPr lang="en-US" sz="1500" dirty="0"/>
          </a:p>
          <a:p>
            <a:pPr marL="203200" indent="-203200">
              <a:spcAft>
                <a:spcPts val="1000"/>
              </a:spcAft>
              <a:buSzPct val="100000"/>
              <a:buChar char="•"/>
            </a:pPr>
            <a:r>
              <a:rPr lang="en-US" sz="1500" dirty="0">
                <a:solidFill>
                  <a:schemeClr val="tx1"/>
                </a:solidFill>
              </a:rPr>
              <a:t>Si ottiene filtrando il percorso con un nucleo simmetrico: guarda nel </a:t>
            </a:r>
            <a:r>
              <a:rPr lang="en-US" sz="1500" b="1" dirty="0">
                <a:solidFill>
                  <a:schemeClr val="tx1"/>
                </a:solidFill>
              </a:rPr>
              <a:t>futuro</a:t>
            </a:r>
            <a:r>
              <a:rPr lang="en-US" sz="1500" dirty="0">
                <a:solidFill>
                  <a:schemeClr val="tx1"/>
                </a:solidFill>
              </a:rPr>
              <a:t> per circa 1/ω</a:t>
            </a:r>
            <a:endParaRPr lang="en-US" sz="1500" dirty="0"/>
          </a:p>
          <a:p>
            <a:pPr marL="203200" indent="-203200">
              <a:spcAft>
                <a:spcPts val="1000"/>
              </a:spcAft>
              <a:buSzPct val="100000"/>
              <a:buChar char="•"/>
            </a:pPr>
            <a:r>
              <a:rPr lang="en-US" sz="1500" dirty="0">
                <a:solidFill>
                  <a:schemeClr val="tx1"/>
                </a:solidFill>
              </a:rPr>
              <a:t>Il robot si inclina </a:t>
            </a:r>
            <a:r>
              <a:rPr lang="en-US" sz="1500" b="1" dirty="0">
                <a:solidFill>
                  <a:schemeClr val="tx1"/>
                </a:solidFill>
              </a:rPr>
              <a:t>prima</a:t>
            </a:r>
            <a:r>
              <a:rPr lang="en-US" sz="1500" dirty="0">
                <a:solidFill>
                  <a:schemeClr val="tx1"/>
                </a:solidFill>
              </a:rPr>
              <a:t> del gradino di accelerazione, come richiede la fase non minima</a:t>
            </a:r>
            <a:endParaRPr lang="en-US" sz="1500" dirty="0"/>
          </a:p>
          <a:p>
            <a:pPr marL="203200" indent="-203200">
              <a:spcAft>
                <a:spcPts val="1000"/>
              </a:spcAft>
              <a:buSzPct val="100000"/>
              <a:buChar char="•"/>
            </a:pPr>
            <a:r>
              <a:rPr lang="en-US" sz="1500" dirty="0">
                <a:solidFill>
                  <a:schemeClr val="tx1"/>
                </a:solidFill>
              </a:rPr>
              <a:t>Con i comandi da dashboard il futuro non è noto: si usa l'accelerazione corrente filtrata (0,1 s)</a:t>
            </a:r>
            <a:endParaRPr lang="en-US" sz="1500" dirty="0"/>
          </a:p>
        </p:txBody>
      </p:sp>
      <p:pic>
        <p:nvPicPr>
          <p:cNvPr id="7" name="Image 1" descr="Trapezio 1 m/s: velocità, ZMP desiderato ed effettivo, inclinazione del CoM">    </p:cNvPr>
          <p:cNvPicPr>
            <a:picLocks noChangeAspect="1"/>
          </p:cNvPicPr>
          <p:nvPr/>
        </p:nvPicPr>
        <p:blipFill>
          <a:blip r:embed="rId2"/>
          <a:stretch>
            <a:fillRect/>
          </a:stretch>
        </p:blipFill>
        <p:spPr>
          <a:xfrm>
            <a:off x="6217920" y="1293368"/>
            <a:ext cx="5422392" cy="4819904"/>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Progetto robusto dei guadagni</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3 · PID con ZMP</a:t>
            </a:r>
            <a:endParaRPr lang="en-US" sz="1200" dirty="0"/>
          </a:p>
        </p:txBody>
      </p:sp>
      <p:sp>
        <p:nvSpPr>
          <p:cNvPr id="5" name="Shape 3"/>
          <p:cNvSpPr/>
          <p:nvPr/>
        </p:nvSpPr>
        <p:spPr>
          <a:xfrm>
            <a:off x="548640" y="1371600"/>
            <a:ext cx="5760720" cy="2286000"/>
          </a:xfrm>
          <a:prstGeom prst="roundRect">
            <a:avLst>
              <a:gd name="adj" fmla="val 3200"/>
            </a:avLst>
          </a:prstGeom>
          <a:solidFill>
            <a:schemeClr val="bg2"/>
          </a:solidFill>
          <a:ln w="12700">
            <a:solidFill>
              <a:schemeClr val="bg2"/>
            </a:solidFill>
            <a:prstDash val="solid"/>
          </a:ln>
        </p:spPr>
      </p:sp>
      <p:sp>
        <p:nvSpPr>
          <p:cNvPr id="6" name="Shape 4"/>
          <p:cNvSpPr/>
          <p:nvPr/>
        </p:nvSpPr>
        <p:spPr>
          <a:xfrm>
            <a:off x="731520" y="1554480"/>
            <a:ext cx="420624" cy="420624"/>
          </a:xfrm>
          <a:prstGeom prst="ellipse">
            <a:avLst/>
          </a:prstGeom>
          <a:solidFill>
            <a:schemeClr val="accent1"/>
          </a:solidFill>
          <a:ln w="12700">
            <a:solidFill>
              <a:schemeClr val="accent1"/>
            </a:solidFill>
            <a:prstDash val="solid"/>
          </a:ln>
        </p:spPr>
      </p:sp>
      <p:sp>
        <p:nvSpPr>
          <p:cNvPr id="7" name="Text 5"/>
          <p:cNvSpPr txBox="1"/>
          <p:nvPr/>
        </p:nvSpPr>
        <p:spPr>
          <a:xfrm>
            <a:off x="731520" y="15544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ρ</a:t>
            </a:r>
            <a:endParaRPr lang="en-US" sz="1300" dirty="0"/>
          </a:p>
        </p:txBody>
      </p:sp>
      <p:sp>
        <p:nvSpPr>
          <p:cNvPr id="8" name="Text 6"/>
          <p:cNvSpPr txBox="1"/>
          <p:nvPr/>
        </p:nvSpPr>
        <p:spPr>
          <a:xfrm>
            <a:off x="1280160" y="1554480"/>
            <a:ext cx="4846320" cy="420624"/>
          </a:xfrm>
          <a:prstGeom prst="rect">
            <a:avLst/>
          </a:prstGeom>
          <a:noFill/>
          <a:ln/>
        </p:spPr>
        <p:txBody>
          <a:bodyPr wrap="square" lIns="0" tIns="0" rIns="0" bIns="0" rtlCol="0" anchor="ctr"/>
          <a:lstStyle/>
          <a:p>
            <a:pPr algn="l" indent="0" marL="0">
              <a:buNone/>
            </a:pPr>
            <a:r>
              <a:rPr lang="en-US" sz="1500" b="1" dirty="0">
                <a:solidFill>
                  <a:schemeClr val="tx2"/>
                </a:solidFill>
              </a:rPr>
              <a:t>Perché un'autorità ρ = 0,4</a:t>
            </a:r>
            <a:endParaRPr lang="en-US" sz="1500" dirty="0"/>
          </a:p>
        </p:txBody>
      </p:sp>
      <p:sp>
        <p:nvSpPr>
          <p:cNvPr id="9" name="Text 7"/>
          <p:cNvSpPr txBox="1"/>
          <p:nvPr/>
        </p:nvSpPr>
        <p:spPr>
          <a:xfrm>
            <a:off x="777240" y="2103120"/>
            <a:ext cx="5349240" cy="1417320"/>
          </a:xfrm>
          <a:prstGeom prst="rect">
            <a:avLst/>
          </a:prstGeom>
          <a:noFill/>
          <a:ln/>
        </p:spPr>
        <p:txBody>
          <a:bodyPr wrap="square" lIns="0" tIns="0" rIns="0" bIns="0" rtlCol="0" anchor="t"/>
          <a:lstStyle/>
          <a:p>
            <a:pPr algn="l" indent="0" marL="0">
              <a:buNone/>
            </a:pPr>
            <a:r>
              <a:rPr lang="en-US" sz="1300" dirty="0">
                <a:solidFill>
                  <a:schemeClr val="tx1"/>
                </a:solidFill>
              </a:rPr>
              <a:t>La cascata LIPM pura assume un anello interno infinitamente veloce. A 500 Hz, con 1–2 campioni di ritardo e il modo pendolo-ruote a circa 10 rad/s, il termine ċ/ω a piena autorità diventa retroazione positiva sulla velocità delle ruote.</a:t>
            </a:r>
            <a:endParaRPr lang="en-US" sz="1300" dirty="0"/>
          </a:p>
        </p:txBody>
      </p:sp>
      <p:sp>
        <p:nvSpPr>
          <p:cNvPr id="10" name="Shape 8"/>
          <p:cNvSpPr/>
          <p:nvPr/>
        </p:nvSpPr>
        <p:spPr>
          <a:xfrm>
            <a:off x="548640" y="3840480"/>
            <a:ext cx="5760720" cy="2011680"/>
          </a:xfrm>
          <a:prstGeom prst="roundRect">
            <a:avLst>
              <a:gd name="adj" fmla="val 3636"/>
            </a:avLst>
          </a:prstGeom>
          <a:solidFill>
            <a:schemeClr val="bg2"/>
          </a:solidFill>
          <a:ln w="12700">
            <a:solidFill>
              <a:schemeClr val="bg2"/>
            </a:solidFill>
            <a:prstDash val="solid"/>
          </a:ln>
        </p:spPr>
      </p:sp>
      <p:sp>
        <p:nvSpPr>
          <p:cNvPr id="11" name="Shape 9"/>
          <p:cNvSpPr/>
          <p:nvPr/>
        </p:nvSpPr>
        <p:spPr>
          <a:xfrm>
            <a:off x="731520" y="4023360"/>
            <a:ext cx="420624" cy="420624"/>
          </a:xfrm>
          <a:prstGeom prst="ellipse">
            <a:avLst/>
          </a:prstGeom>
          <a:solidFill>
            <a:schemeClr val="accent1"/>
          </a:solidFill>
          <a:ln w="12700">
            <a:solidFill>
              <a:schemeClr val="accent1"/>
            </a:solidFill>
            <a:prstDash val="solid"/>
          </a:ln>
        </p:spPr>
      </p:sp>
      <p:sp>
        <p:nvSpPr>
          <p:cNvPr id="12" name="Text 10"/>
          <p:cNvSpPr txBox="1"/>
          <p:nvPr/>
        </p:nvSpPr>
        <p:spPr>
          <a:xfrm>
            <a:off x="731520" y="4023360"/>
            <a:ext cx="420624" cy="420624"/>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13" name="Text 11"/>
          <p:cNvSpPr txBox="1"/>
          <p:nvPr/>
        </p:nvSpPr>
        <p:spPr>
          <a:xfrm>
            <a:off x="1280160" y="4023360"/>
            <a:ext cx="4846320" cy="420624"/>
          </a:xfrm>
          <a:prstGeom prst="rect">
            <a:avLst/>
          </a:prstGeom>
          <a:noFill/>
          <a:ln/>
        </p:spPr>
        <p:txBody>
          <a:bodyPr wrap="square" lIns="0" tIns="0" rIns="0" bIns="0" rtlCol="0" anchor="ctr"/>
          <a:lstStyle/>
          <a:p>
            <a:pPr algn="l" indent="0" marL="0">
              <a:buNone/>
            </a:pPr>
            <a:r>
              <a:rPr lang="en-US" sz="1500" b="1" dirty="0">
                <a:solidFill>
                  <a:schemeClr val="tx2"/>
                </a:solidFill>
              </a:rPr>
              <a:t>Dieci casi di robustezza</a:t>
            </a:r>
            <a:endParaRPr lang="en-US" sz="1500" dirty="0"/>
          </a:p>
        </p:txBody>
      </p:sp>
      <p:sp>
        <p:nvSpPr>
          <p:cNvPr id="14" name="Text 12"/>
          <p:cNvSpPr txBox="1"/>
          <p:nvPr/>
        </p:nvSpPr>
        <p:spPr>
          <a:xfrm>
            <a:off x="777240" y="4572000"/>
            <a:ext cx="5349240" cy="114300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chemeClr val="tx1"/>
                </a:solidFill>
              </a:rPr>
              <a:t>massa ±20 %, anca ±0,3 rad (CoM da accosciato a esteso)</a:t>
            </a:r>
            <a:endParaRPr lang="en-US" sz="1300" dirty="0"/>
          </a:p>
          <a:p>
            <a:pPr marL="203200" indent="-203200">
              <a:spcAft>
                <a:spcPts val="400"/>
              </a:spcAft>
              <a:buSzPct val="100000"/>
              <a:buChar char="•"/>
            </a:pPr>
            <a:r>
              <a:rPr lang="en-US" sz="1300" dirty="0">
                <a:solidFill>
                  <a:schemeClr val="tx1"/>
                </a:solidFill>
              </a:rPr>
              <a:t>ritardo di 1 o 2 campioni, modello discretizzato a 500 Hz</a:t>
            </a:r>
            <a:endParaRPr lang="en-US" sz="1300" dirty="0"/>
          </a:p>
        </p:txBody>
      </p:sp>
      <p:sp>
        <p:nvSpPr>
          <p:cNvPr id="15" name="Text 13"/>
          <p:cNvSpPr txBox="1"/>
          <p:nvPr/>
        </p:nvSpPr>
        <p:spPr>
          <a:xfrm>
            <a:off x="6766560" y="1371600"/>
            <a:ext cx="4846320" cy="685800"/>
          </a:xfrm>
          <a:prstGeom prst="rect">
            <a:avLst/>
          </a:prstGeom>
          <a:noFill/>
          <a:ln/>
        </p:spPr>
        <p:txBody>
          <a:bodyPr wrap="square" lIns="0" tIns="0" rIns="0" bIns="0" rtlCol="0" anchor="b"/>
          <a:lstStyle/>
          <a:p>
            <a:pPr algn="l" indent="0" marL="0">
              <a:buNone/>
            </a:pPr>
            <a:r>
              <a:rPr lang="en-US" sz="4000" b="1" dirty="0">
                <a:solidFill>
                  <a:schemeClr val="accent1"/>
                </a:solidFill>
                <a:latin typeface="Cambria" pitchFamily="34" charset="0"/>
                <a:ea typeface="Cambria" pitchFamily="34" charset="-122"/>
                <a:cs typeface="Cambria" pitchFamily="34" charset="-120"/>
              </a:rPr>
              <a:t>0,69</a:t>
            </a:r>
            <a:endParaRPr lang="en-US" sz="4000" dirty="0"/>
          </a:p>
        </p:txBody>
      </p:sp>
      <p:sp>
        <p:nvSpPr>
          <p:cNvPr id="16" name="Text 14"/>
          <p:cNvSpPr txBox="1"/>
          <p:nvPr/>
        </p:nvSpPr>
        <p:spPr>
          <a:xfrm>
            <a:off x="6766560" y="2103120"/>
            <a:ext cx="4846320" cy="640080"/>
          </a:xfrm>
          <a:prstGeom prst="rect">
            <a:avLst/>
          </a:prstGeom>
          <a:noFill/>
          <a:ln/>
        </p:spPr>
        <p:txBody>
          <a:bodyPr wrap="square" lIns="0" tIns="0" rIns="0" bIns="0" rtlCol="0" anchor="t"/>
          <a:lstStyle/>
          <a:p>
            <a:pPr algn="l" indent="0" marL="0">
              <a:buNone/>
            </a:pPr>
            <a:r>
              <a:rPr lang="en-US" sz="1200" dirty="0">
                <a:solidFill>
                  <a:schemeClr val="accent4"/>
                </a:solidFill>
              </a:rPr>
              <a:t>smorzamento minimo su tutti i casi</a:t>
            </a:r>
            <a:endParaRPr lang="en-US" sz="1200" dirty="0"/>
          </a:p>
        </p:txBody>
      </p:sp>
      <p:sp>
        <p:nvSpPr>
          <p:cNvPr id="17" name="Text 15"/>
          <p:cNvSpPr txBox="1"/>
          <p:nvPr/>
        </p:nvSpPr>
        <p:spPr>
          <a:xfrm>
            <a:off x="6766560" y="2743200"/>
            <a:ext cx="4846320" cy="685800"/>
          </a:xfrm>
          <a:prstGeom prst="rect">
            <a:avLst/>
          </a:prstGeom>
          <a:noFill/>
          <a:ln/>
        </p:spPr>
        <p:txBody>
          <a:bodyPr wrap="square" lIns="0" tIns="0" rIns="0" bIns="0" rtlCol="0" anchor="b"/>
          <a:lstStyle/>
          <a:p>
            <a:pPr algn="l" indent="0" marL="0">
              <a:buNone/>
            </a:pPr>
            <a:r>
              <a:rPr lang="en-US" sz="2000" b="1" dirty="0">
                <a:solidFill>
                  <a:schemeClr val="accent1"/>
                </a:solidFill>
                <a:latin typeface="Cambria" pitchFamily="34" charset="0"/>
                <a:ea typeface="Cambria" pitchFamily="34" charset="-122"/>
                <a:cs typeface="Cambria" pitchFamily="34" charset="-120"/>
              </a:rPr>
              <a:t>−0,5 · −2,3±0,2j · −9,8 · −52</a:t>
            </a:r>
            <a:endParaRPr lang="en-US" sz="2000" dirty="0"/>
          </a:p>
        </p:txBody>
      </p:sp>
      <p:sp>
        <p:nvSpPr>
          <p:cNvPr id="18" name="Text 16"/>
          <p:cNvSpPr txBox="1"/>
          <p:nvPr/>
        </p:nvSpPr>
        <p:spPr>
          <a:xfrm>
            <a:off x="6766560" y="3474720"/>
            <a:ext cx="4846320" cy="640080"/>
          </a:xfrm>
          <a:prstGeom prst="rect">
            <a:avLst/>
          </a:prstGeom>
          <a:noFill/>
          <a:ln/>
        </p:spPr>
        <p:txBody>
          <a:bodyPr wrap="square" lIns="0" tIns="0" rIns="0" bIns="0" rtlCol="0" anchor="t"/>
          <a:lstStyle/>
          <a:p>
            <a:pPr algn="l" indent="0" marL="0">
              <a:buNone/>
            </a:pPr>
            <a:r>
              <a:rPr lang="en-US" sz="1200" dirty="0">
                <a:solidFill>
                  <a:schemeClr val="accent4"/>
                </a:solidFill>
              </a:rPr>
              <a:t>poli nominali ad anello chiuso [s</a:t>
            </a:r>
            <a:r>
              <a:rPr lang="en-US" sz="1200" baseline="30000" dirty="0">
                <a:solidFill>
                  <a:schemeClr val="accent4"/>
                </a:solidFill>
              </a:rPr>
              <a:t>-1</a:t>
            </a:r>
            <a:r>
              <a:rPr lang="en-US" sz="1200" dirty="0">
                <a:solidFill>
                  <a:schemeClr val="accent4"/>
                </a:solidFill>
              </a:rPr>
              <a:t>]</a:t>
            </a:r>
            <a:endParaRPr lang="en-US" sz="1200" dirty="0"/>
          </a:p>
        </p:txBody>
      </p:sp>
      <p:sp>
        <p:nvSpPr>
          <p:cNvPr id="19" name="Text 17"/>
          <p:cNvSpPr txBox="1"/>
          <p:nvPr/>
        </p:nvSpPr>
        <p:spPr>
          <a:xfrm>
            <a:off x="6766560" y="4114800"/>
            <a:ext cx="4846320" cy="685800"/>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16 test</a:t>
            </a:r>
            <a:endParaRPr lang="en-US" sz="3200" dirty="0"/>
          </a:p>
        </p:txBody>
      </p:sp>
      <p:sp>
        <p:nvSpPr>
          <p:cNvPr id="20" name="Text 18"/>
          <p:cNvSpPr txBox="1"/>
          <p:nvPr/>
        </p:nvSpPr>
        <p:spPr>
          <a:xfrm>
            <a:off x="6766560" y="4846320"/>
            <a:ext cx="4846320" cy="822960"/>
          </a:xfrm>
          <a:prstGeom prst="rect">
            <a:avLst/>
          </a:prstGeom>
          <a:noFill/>
          <a:ln/>
        </p:spPr>
        <p:txBody>
          <a:bodyPr wrap="square" lIns="0" tIns="0" rIns="0" bIns="0" rtlCol="0" anchor="t"/>
          <a:lstStyle/>
          <a:p>
            <a:pPr algn="l" indent="0" marL="0">
              <a:buNone/>
            </a:pPr>
            <a:r>
              <a:rPr lang="en-US" sz="1200" dirty="0">
                <a:solidFill>
                  <a:schemeClr val="accent4"/>
                </a:solidFill>
              </a:rPr>
              <a:t>pytest offline: recupero robusto, trapezio &lt; 1 cm, spinta 2,7 N·s, integrale, anteprima</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Rotta, guida laterale e gambe</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3 · PID con ZMP</a:t>
            </a:r>
            <a:endParaRPr lang="en-US" sz="1200" dirty="0"/>
          </a:p>
        </p:txBody>
      </p:sp>
      <p:pic>
        <p:nvPicPr>
          <p:cNvPr id="5" name="Image 0" descr="Formula: imbardata_pid">    </p:cNvPr>
          <p:cNvPicPr>
            <a:picLocks noChangeAspect="1"/>
          </p:cNvPicPr>
          <p:nvPr/>
        </p:nvPicPr>
        <p:blipFill>
          <a:blip r:embed="rId1"/>
          <a:stretch>
            <a:fillRect/>
          </a:stretch>
        </p:blipFill>
        <p:spPr>
          <a:xfrm>
            <a:off x="548640" y="1371600"/>
            <a:ext cx="11064240" cy="617438"/>
          </a:xfrm>
          <a:prstGeom prst="rect">
            <a:avLst/>
          </a:prstGeom>
        </p:spPr>
      </p:pic>
      <p:pic>
        <p:nvPicPr>
          <p:cNvPr id="6" name="Image 1" descr="Formula: gambe_pd">    </p:cNvPr>
          <p:cNvPicPr>
            <a:picLocks noChangeAspect="1"/>
          </p:cNvPicPr>
          <p:nvPr/>
        </p:nvPicPr>
        <p:blipFill>
          <a:blip r:embed="rId2"/>
          <a:stretch>
            <a:fillRect/>
          </a:stretch>
        </p:blipFill>
        <p:spPr>
          <a:xfrm>
            <a:off x="2243084" y="2286000"/>
            <a:ext cx="7675353" cy="550653"/>
          </a:xfrm>
          <a:prstGeom prst="rect">
            <a:avLst/>
          </a:prstGeom>
        </p:spPr>
      </p:pic>
      <p:sp>
        <p:nvSpPr>
          <p:cNvPr id="7" name="Shape 3"/>
          <p:cNvSpPr/>
          <p:nvPr/>
        </p:nvSpPr>
        <p:spPr>
          <a:xfrm>
            <a:off x="548640" y="3200400"/>
            <a:ext cx="5394960" cy="2651760"/>
          </a:xfrm>
          <a:prstGeom prst="roundRect">
            <a:avLst>
              <a:gd name="adj" fmla="val 2759"/>
            </a:avLst>
          </a:prstGeom>
          <a:solidFill>
            <a:schemeClr val="bg2"/>
          </a:solidFill>
          <a:ln w="12700">
            <a:solidFill>
              <a:schemeClr val="bg2"/>
            </a:solidFill>
            <a:prstDash val="solid"/>
          </a:ln>
        </p:spPr>
      </p:sp>
      <p:sp>
        <p:nvSpPr>
          <p:cNvPr id="8" name="Shape 4"/>
          <p:cNvSpPr/>
          <p:nvPr/>
        </p:nvSpPr>
        <p:spPr>
          <a:xfrm>
            <a:off x="731520" y="3383280"/>
            <a:ext cx="420624" cy="420624"/>
          </a:xfrm>
          <a:prstGeom prst="ellipse">
            <a:avLst/>
          </a:prstGeom>
          <a:solidFill>
            <a:schemeClr val="accent1"/>
          </a:solidFill>
          <a:ln w="12700">
            <a:solidFill>
              <a:schemeClr val="accent1"/>
            </a:solidFill>
            <a:prstDash val="solid"/>
          </a:ln>
        </p:spPr>
      </p:sp>
      <p:sp>
        <p:nvSpPr>
          <p:cNvPr id="9" name="Text 5"/>
          <p:cNvSpPr txBox="1"/>
          <p:nvPr/>
        </p:nvSpPr>
        <p:spPr>
          <a:xfrm>
            <a:off x="731520" y="33832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0" name="Text 6"/>
          <p:cNvSpPr txBox="1"/>
          <p:nvPr/>
        </p:nvSpPr>
        <p:spPr>
          <a:xfrm>
            <a:off x="1280160" y="3383280"/>
            <a:ext cx="4480560" cy="420624"/>
          </a:xfrm>
          <a:prstGeom prst="rect">
            <a:avLst/>
          </a:prstGeom>
          <a:noFill/>
          <a:ln/>
        </p:spPr>
        <p:txBody>
          <a:bodyPr wrap="square" lIns="0" tIns="0" rIns="0" bIns="0" rtlCol="0" anchor="ctr"/>
          <a:lstStyle/>
          <a:p>
            <a:pPr algn="l" indent="0" marL="0">
              <a:buNone/>
            </a:pPr>
            <a:r>
              <a:rPr lang="en-US" sz="1500" b="1" dirty="0">
                <a:solidFill>
                  <a:schemeClr val="tx2"/>
                </a:solidFill>
              </a:rPr>
              <a:t>Rotta (B) e guida (C)</a:t>
            </a:r>
            <a:endParaRPr lang="en-US" sz="1500" dirty="0"/>
          </a:p>
        </p:txBody>
      </p:sp>
      <p:sp>
        <p:nvSpPr>
          <p:cNvPr id="11" name="Text 7"/>
          <p:cNvSpPr txBox="1"/>
          <p:nvPr/>
        </p:nvSpPr>
        <p:spPr>
          <a:xfrm>
            <a:off x="777240" y="3931920"/>
            <a:ext cx="4983480" cy="178308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chemeClr val="tx1"/>
                </a:solidFill>
              </a:rPr>
              <a:t>K</a:t>
            </a:r>
            <a:r>
              <a:rPr lang="en-US" sz="1300" baseline="-40000" dirty="0">
                <a:solidFill>
                  <a:schemeClr val="tx1"/>
                </a:solidFill>
              </a:rPr>
              <a:t>ψ</a:t>
            </a:r>
            <a:r>
              <a:rPr lang="en-US" sz="1300" dirty="0">
                <a:solidFill>
                  <a:schemeClr val="tx1"/>
                </a:solidFill>
              </a:rPr>
              <a:t> = 1,8 N·m/rad, K</a:t>
            </a:r>
            <a:r>
              <a:rPr lang="en-US" sz="1300" baseline="-40000" dirty="0">
                <a:solidFill>
                  <a:schemeClr val="tx1"/>
                </a:solidFill>
              </a:rPr>
              <a:t>ω</a:t>
            </a:r>
            <a:r>
              <a:rPr lang="en-US" sz="1300" dirty="0">
                <a:solidFill>
                  <a:schemeClr val="tx1"/>
                </a:solidFill>
              </a:rPr>
              <a:t> = 0,45, K</a:t>
            </a:r>
            <a:r>
              <a:rPr lang="en-US" sz="1300" baseline="-40000" dirty="0">
                <a:solidFill>
                  <a:schemeClr val="tx1"/>
                </a:solidFill>
              </a:rPr>
              <a:t>I</a:t>
            </a:r>
            <a:r>
              <a:rPr lang="en-US" sz="1300" dirty="0">
                <a:solidFill>
                  <a:schemeClr val="tx1"/>
                </a:solidFill>
              </a:rPr>
              <a:t> = 0,6; saturazione 2,7 N·m</a:t>
            </a:r>
            <a:endParaRPr lang="en-US" sz="1300" dirty="0"/>
          </a:p>
          <a:p>
            <a:pPr marL="203200" indent="-203200">
              <a:spcAft>
                <a:spcPts val="400"/>
              </a:spcAft>
              <a:buSzPct val="100000"/>
              <a:buChar char="•"/>
            </a:pPr>
            <a:r>
              <a:rPr lang="en-US" sz="1300" dirty="0">
                <a:solidFill>
                  <a:schemeClr val="tx1"/>
                </a:solidFill>
              </a:rPr>
              <a:t>Attrito di strisciamento identificato in Gazebo: 0,25 N·m + 0,10 N·m·s/rad</a:t>
            </a:r>
            <a:endParaRPr lang="en-US" sz="1300" dirty="0"/>
          </a:p>
          <a:p>
            <a:pPr marL="203200" indent="-203200">
              <a:spcAft>
                <a:spcPts val="400"/>
              </a:spcAft>
              <a:buSzPct val="100000"/>
              <a:buChar char="•"/>
            </a:pPr>
            <a:r>
              <a:rPr lang="en-US" sz="1300" dirty="0">
                <a:solidFill>
                  <a:schemeClr val="tx1"/>
                </a:solidFill>
              </a:rPr>
              <a:t>Senza attrito il robot girava a scatti (stick-slip)</a:t>
            </a:r>
            <a:endParaRPr lang="en-US" sz="1300" dirty="0"/>
          </a:p>
        </p:txBody>
      </p:sp>
      <p:sp>
        <p:nvSpPr>
          <p:cNvPr id="12" name="Shape 8"/>
          <p:cNvSpPr/>
          <p:nvPr/>
        </p:nvSpPr>
        <p:spPr>
          <a:xfrm>
            <a:off x="6245352" y="3200400"/>
            <a:ext cx="5394960" cy="2651760"/>
          </a:xfrm>
          <a:prstGeom prst="roundRect">
            <a:avLst>
              <a:gd name="adj" fmla="val 2759"/>
            </a:avLst>
          </a:prstGeom>
          <a:solidFill>
            <a:schemeClr val="bg2"/>
          </a:solidFill>
          <a:ln w="12700">
            <a:solidFill>
              <a:schemeClr val="bg2"/>
            </a:solidFill>
            <a:prstDash val="solid"/>
          </a:ln>
        </p:spPr>
      </p:sp>
      <p:sp>
        <p:nvSpPr>
          <p:cNvPr id="13" name="Shape 9"/>
          <p:cNvSpPr/>
          <p:nvPr/>
        </p:nvSpPr>
        <p:spPr>
          <a:xfrm>
            <a:off x="6428232" y="3383280"/>
            <a:ext cx="420624" cy="420624"/>
          </a:xfrm>
          <a:prstGeom prst="ellipse">
            <a:avLst/>
          </a:prstGeom>
          <a:solidFill>
            <a:schemeClr val="accent1"/>
          </a:solidFill>
          <a:ln w="12700">
            <a:solidFill>
              <a:schemeClr val="accent1"/>
            </a:solidFill>
            <a:prstDash val="solid"/>
          </a:ln>
        </p:spPr>
      </p:sp>
      <p:sp>
        <p:nvSpPr>
          <p:cNvPr id="14" name="Text 10"/>
          <p:cNvSpPr txBox="1"/>
          <p:nvPr/>
        </p:nvSpPr>
        <p:spPr>
          <a:xfrm>
            <a:off x="6428232" y="33832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5" name="Text 11"/>
          <p:cNvSpPr txBox="1"/>
          <p:nvPr/>
        </p:nvSpPr>
        <p:spPr>
          <a:xfrm>
            <a:off x="6976872" y="3383280"/>
            <a:ext cx="4480560" cy="420624"/>
          </a:xfrm>
          <a:prstGeom prst="rect">
            <a:avLst/>
          </a:prstGeom>
          <a:noFill/>
          <a:ln/>
        </p:spPr>
        <p:txBody>
          <a:bodyPr wrap="square" lIns="0" tIns="0" rIns="0" bIns="0" rtlCol="0" anchor="ctr"/>
          <a:lstStyle/>
          <a:p>
            <a:pPr algn="l" indent="0" marL="0">
              <a:buNone/>
            </a:pPr>
            <a:r>
              <a:rPr lang="en-US" sz="1500" b="1" dirty="0">
                <a:solidFill>
                  <a:schemeClr val="tx2"/>
                </a:solidFill>
              </a:rPr>
              <a:t>Gambe (D)</a:t>
            </a:r>
            <a:endParaRPr lang="en-US" sz="1500" dirty="0"/>
          </a:p>
        </p:txBody>
      </p:sp>
      <p:sp>
        <p:nvSpPr>
          <p:cNvPr id="16" name="Text 12"/>
          <p:cNvSpPr txBox="1"/>
          <p:nvPr/>
        </p:nvSpPr>
        <p:spPr>
          <a:xfrm>
            <a:off x="6473952" y="3931920"/>
            <a:ext cx="4983480" cy="178308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chemeClr val="tx1"/>
                </a:solidFill>
              </a:rPr>
              <a:t>Appoggio: K</a:t>
            </a:r>
            <a:r>
              <a:rPr lang="en-US" sz="1300" baseline="-40000" dirty="0">
                <a:solidFill>
                  <a:schemeClr val="tx1"/>
                </a:solidFill>
              </a:rPr>
              <a:t>p</a:t>
            </a:r>
            <a:r>
              <a:rPr lang="en-US" sz="1300" dirty="0">
                <a:solidFill>
                  <a:schemeClr val="tx1"/>
                </a:solidFill>
              </a:rPr>
              <a:t> = diag(1500, 5000) N/m, K</a:t>
            </a:r>
            <a:r>
              <a:rPr lang="en-US" sz="1300" baseline="-40000" dirty="0">
                <a:solidFill>
                  <a:schemeClr val="tx1"/>
                </a:solidFill>
              </a:rPr>
              <a:t>d</a:t>
            </a:r>
            <a:r>
              <a:rPr lang="en-US" sz="1300" dirty="0">
                <a:solidFill>
                  <a:schemeClr val="tx1"/>
                </a:solidFill>
              </a:rPr>
              <a:t> = diag(40, 80) N·s/m</a:t>
            </a:r>
            <a:endParaRPr lang="en-US" sz="1300" dirty="0"/>
          </a:p>
          <a:p>
            <a:pPr marL="203200" indent="-203200">
              <a:spcAft>
                <a:spcPts val="400"/>
              </a:spcAft>
              <a:buSzPct val="100000"/>
              <a:buChar char="•"/>
            </a:pPr>
            <a:r>
              <a:rPr lang="en-US" sz="1300" dirty="0">
                <a:solidFill>
                  <a:schemeClr val="tx1"/>
                </a:solidFill>
              </a:rPr>
              <a:t>Salto (3000, 4000), volo (800, 800) senza sostegno</a:t>
            </a:r>
            <a:endParaRPr lang="en-US" sz="1300" dirty="0"/>
          </a:p>
          <a:p>
            <a:pPr marL="203200" indent="-203200">
              <a:spcAft>
                <a:spcPts val="400"/>
              </a:spcAft>
              <a:buSzPct val="100000"/>
              <a:buChar char="•"/>
            </a:pPr>
            <a:r>
              <a:rPr lang="en-US" sz="1300" dirty="0">
                <a:solidFill>
                  <a:schemeClr val="tx1"/>
                </a:solidFill>
              </a:rPr>
              <a:t>Sostituisce il PD di giunto (160–200 N·m/rad) che a 500 Hz andava in ciclo limite bang-bang</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Supervisore del salto</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3 · PID con ZMP</a:t>
            </a:r>
            <a:endParaRPr lang="en-US" sz="1200" dirty="0"/>
          </a:p>
        </p:txBody>
      </p:sp>
      <p:sp>
        <p:nvSpPr>
          <p:cNvPr id="5" name="Shape 3"/>
          <p:cNvSpPr/>
          <p:nvPr/>
        </p:nvSpPr>
        <p:spPr>
          <a:xfrm>
            <a:off x="548640" y="1463040"/>
            <a:ext cx="1389888" cy="640080"/>
          </a:xfrm>
          <a:prstGeom prst="roundRect">
            <a:avLst>
              <a:gd name="adj" fmla="val 11429"/>
            </a:avLst>
          </a:prstGeom>
          <a:solidFill>
            <a:schemeClr val="tx2"/>
          </a:solidFill>
          <a:ln w="12700">
            <a:solidFill>
              <a:schemeClr val="tx2"/>
            </a:solidFill>
            <a:prstDash val="solid"/>
          </a:ln>
        </p:spPr>
      </p:sp>
      <p:sp>
        <p:nvSpPr>
          <p:cNvPr id="6" name="Text 4"/>
          <p:cNvSpPr txBox="1"/>
          <p:nvPr/>
        </p:nvSpPr>
        <p:spPr>
          <a:xfrm>
            <a:off x="621792" y="1463040"/>
            <a:ext cx="1243584" cy="640080"/>
          </a:xfrm>
          <a:prstGeom prst="rect">
            <a:avLst/>
          </a:prstGeom>
          <a:noFill/>
          <a:ln/>
        </p:spPr>
        <p:txBody>
          <a:bodyPr wrap="square" lIns="0" tIns="0" rIns="0" bIns="0" rtlCol="0" anchor="ctr"/>
          <a:lstStyle/>
          <a:p>
            <a:pPr algn="ctr" indent="0" marL="0">
              <a:buNone/>
            </a:pPr>
            <a:r>
              <a:rPr lang="en-US" sz="1200" b="1" dirty="0">
                <a:solidFill>
                  <a:schemeClr val="bg1"/>
                </a:solidFill>
              </a:rPr>
              <a:t>BALANCE</a:t>
            </a:r>
            <a:endParaRPr lang="en-US" sz="1200" dirty="0"/>
          </a:p>
        </p:txBody>
      </p:sp>
      <p:sp>
        <p:nvSpPr>
          <p:cNvPr id="7" name="Shape 5"/>
          <p:cNvSpPr/>
          <p:nvPr/>
        </p:nvSpPr>
        <p:spPr>
          <a:xfrm>
            <a:off x="1938528" y="1783080"/>
            <a:ext cx="228600" cy="91"/>
          </a:xfrm>
          <a:prstGeom prst="line">
            <a:avLst/>
          </a:prstGeom>
          <a:noFill/>
          <a:ln w="19050">
            <a:solidFill>
              <a:schemeClr val="accent4"/>
            </a:solidFill>
            <a:prstDash val="solid"/>
            <a:tailEnd type="triangle"/>
          </a:ln>
        </p:spPr>
      </p:sp>
      <p:sp>
        <p:nvSpPr>
          <p:cNvPr id="8" name="Shape 6"/>
          <p:cNvSpPr/>
          <p:nvPr/>
        </p:nvSpPr>
        <p:spPr>
          <a:xfrm>
            <a:off x="2167128" y="1463040"/>
            <a:ext cx="1389888" cy="640080"/>
          </a:xfrm>
          <a:prstGeom prst="roundRect">
            <a:avLst>
              <a:gd name="adj" fmla="val 11429"/>
            </a:avLst>
          </a:prstGeom>
          <a:solidFill>
            <a:schemeClr val="accent1"/>
          </a:solidFill>
          <a:ln w="12700">
            <a:solidFill>
              <a:schemeClr val="accent1"/>
            </a:solidFill>
            <a:prstDash val="solid"/>
          </a:ln>
        </p:spPr>
      </p:sp>
      <p:sp>
        <p:nvSpPr>
          <p:cNvPr id="9" name="Text 7"/>
          <p:cNvSpPr txBox="1"/>
          <p:nvPr/>
        </p:nvSpPr>
        <p:spPr>
          <a:xfrm>
            <a:off x="2240280" y="1463040"/>
            <a:ext cx="1243584" cy="640080"/>
          </a:xfrm>
          <a:prstGeom prst="rect">
            <a:avLst/>
          </a:prstGeom>
          <a:noFill/>
          <a:ln/>
        </p:spPr>
        <p:txBody>
          <a:bodyPr wrap="square" lIns="0" tIns="0" rIns="0" bIns="0" rtlCol="0" anchor="ctr"/>
          <a:lstStyle/>
          <a:p>
            <a:pPr algn="ctr" indent="0" marL="0">
              <a:buNone/>
            </a:pPr>
            <a:r>
              <a:rPr lang="en-US" sz="1200" b="1" dirty="0">
                <a:solidFill>
                  <a:schemeClr val="bg1"/>
                </a:solidFill>
              </a:rPr>
              <a:t>PRELOAD</a:t>
            </a:r>
            <a:endParaRPr lang="en-US" sz="1200" dirty="0"/>
          </a:p>
        </p:txBody>
      </p:sp>
      <p:sp>
        <p:nvSpPr>
          <p:cNvPr id="10" name="Shape 8"/>
          <p:cNvSpPr/>
          <p:nvPr/>
        </p:nvSpPr>
        <p:spPr>
          <a:xfrm>
            <a:off x="3557016" y="1783080"/>
            <a:ext cx="228600" cy="91"/>
          </a:xfrm>
          <a:prstGeom prst="line">
            <a:avLst/>
          </a:prstGeom>
          <a:noFill/>
          <a:ln w="19050">
            <a:solidFill>
              <a:schemeClr val="accent4"/>
            </a:solidFill>
            <a:prstDash val="solid"/>
            <a:tailEnd type="triangle"/>
          </a:ln>
        </p:spPr>
      </p:sp>
      <p:sp>
        <p:nvSpPr>
          <p:cNvPr id="11" name="Shape 9"/>
          <p:cNvSpPr/>
          <p:nvPr/>
        </p:nvSpPr>
        <p:spPr>
          <a:xfrm>
            <a:off x="3785616" y="1463040"/>
            <a:ext cx="1389888" cy="640080"/>
          </a:xfrm>
          <a:prstGeom prst="roundRect">
            <a:avLst>
              <a:gd name="adj" fmla="val 11429"/>
            </a:avLst>
          </a:prstGeom>
          <a:solidFill>
            <a:schemeClr val="accent1"/>
          </a:solidFill>
          <a:ln w="12700">
            <a:solidFill>
              <a:schemeClr val="accent1"/>
            </a:solidFill>
            <a:prstDash val="solid"/>
          </a:ln>
        </p:spPr>
      </p:sp>
      <p:sp>
        <p:nvSpPr>
          <p:cNvPr id="12" name="Text 10"/>
          <p:cNvSpPr txBox="1"/>
          <p:nvPr/>
        </p:nvSpPr>
        <p:spPr>
          <a:xfrm>
            <a:off x="3858768" y="1463040"/>
            <a:ext cx="1243584" cy="640080"/>
          </a:xfrm>
          <a:prstGeom prst="rect">
            <a:avLst/>
          </a:prstGeom>
          <a:noFill/>
          <a:ln/>
        </p:spPr>
        <p:txBody>
          <a:bodyPr wrap="square" lIns="0" tIns="0" rIns="0" bIns="0" rtlCol="0" anchor="ctr"/>
          <a:lstStyle/>
          <a:p>
            <a:pPr algn="ctr" indent="0" marL="0">
              <a:buNone/>
            </a:pPr>
            <a:r>
              <a:rPr lang="en-US" sz="1200" b="1" dirty="0">
                <a:solidFill>
                  <a:schemeClr val="bg1"/>
                </a:solidFill>
              </a:rPr>
              <a:t>THRUST</a:t>
            </a:r>
            <a:endParaRPr lang="en-US" sz="1200" dirty="0"/>
          </a:p>
        </p:txBody>
      </p:sp>
      <p:sp>
        <p:nvSpPr>
          <p:cNvPr id="13" name="Shape 11"/>
          <p:cNvSpPr/>
          <p:nvPr/>
        </p:nvSpPr>
        <p:spPr>
          <a:xfrm>
            <a:off x="5175504" y="1783080"/>
            <a:ext cx="228600" cy="91"/>
          </a:xfrm>
          <a:prstGeom prst="line">
            <a:avLst/>
          </a:prstGeom>
          <a:noFill/>
          <a:ln w="19050">
            <a:solidFill>
              <a:schemeClr val="accent4"/>
            </a:solidFill>
            <a:prstDash val="solid"/>
            <a:tailEnd type="triangle"/>
          </a:ln>
        </p:spPr>
      </p:sp>
      <p:sp>
        <p:nvSpPr>
          <p:cNvPr id="14" name="Shape 12"/>
          <p:cNvSpPr/>
          <p:nvPr/>
        </p:nvSpPr>
        <p:spPr>
          <a:xfrm>
            <a:off x="5404104" y="1463040"/>
            <a:ext cx="1389888" cy="640080"/>
          </a:xfrm>
          <a:prstGeom prst="roundRect">
            <a:avLst>
              <a:gd name="adj" fmla="val 11429"/>
            </a:avLst>
          </a:prstGeom>
          <a:solidFill>
            <a:schemeClr val="accent1"/>
          </a:solidFill>
          <a:ln w="12700">
            <a:solidFill>
              <a:schemeClr val="accent1"/>
            </a:solidFill>
            <a:prstDash val="solid"/>
          </a:ln>
        </p:spPr>
      </p:sp>
      <p:sp>
        <p:nvSpPr>
          <p:cNvPr id="15" name="Text 13"/>
          <p:cNvSpPr txBox="1"/>
          <p:nvPr/>
        </p:nvSpPr>
        <p:spPr>
          <a:xfrm>
            <a:off x="5477256" y="1463040"/>
            <a:ext cx="1243584" cy="640080"/>
          </a:xfrm>
          <a:prstGeom prst="rect">
            <a:avLst/>
          </a:prstGeom>
          <a:noFill/>
          <a:ln/>
        </p:spPr>
        <p:txBody>
          <a:bodyPr wrap="square" lIns="0" tIns="0" rIns="0" bIns="0" rtlCol="0" anchor="ctr"/>
          <a:lstStyle/>
          <a:p>
            <a:pPr algn="ctr" indent="0" marL="0">
              <a:buNone/>
            </a:pPr>
            <a:r>
              <a:rPr lang="en-US" sz="1200" b="1" dirty="0">
                <a:solidFill>
                  <a:schemeClr val="bg1"/>
                </a:solidFill>
              </a:rPr>
              <a:t>FLIGHT</a:t>
            </a:r>
            <a:endParaRPr lang="en-US" sz="1200" dirty="0"/>
          </a:p>
        </p:txBody>
      </p:sp>
      <p:sp>
        <p:nvSpPr>
          <p:cNvPr id="16" name="Shape 14"/>
          <p:cNvSpPr/>
          <p:nvPr/>
        </p:nvSpPr>
        <p:spPr>
          <a:xfrm>
            <a:off x="6793992" y="1783080"/>
            <a:ext cx="228600" cy="91"/>
          </a:xfrm>
          <a:prstGeom prst="line">
            <a:avLst/>
          </a:prstGeom>
          <a:noFill/>
          <a:ln w="19050">
            <a:solidFill>
              <a:schemeClr val="accent4"/>
            </a:solidFill>
            <a:prstDash val="solid"/>
            <a:tailEnd type="triangle"/>
          </a:ln>
        </p:spPr>
      </p:sp>
      <p:sp>
        <p:nvSpPr>
          <p:cNvPr id="17" name="Shape 15"/>
          <p:cNvSpPr/>
          <p:nvPr/>
        </p:nvSpPr>
        <p:spPr>
          <a:xfrm>
            <a:off x="7022592" y="1463040"/>
            <a:ext cx="1389888" cy="640080"/>
          </a:xfrm>
          <a:prstGeom prst="roundRect">
            <a:avLst>
              <a:gd name="adj" fmla="val 11429"/>
            </a:avLst>
          </a:prstGeom>
          <a:solidFill>
            <a:schemeClr val="accent1"/>
          </a:solidFill>
          <a:ln w="12700">
            <a:solidFill>
              <a:schemeClr val="accent1"/>
            </a:solidFill>
            <a:prstDash val="solid"/>
          </a:ln>
        </p:spPr>
      </p:sp>
      <p:sp>
        <p:nvSpPr>
          <p:cNvPr id="18" name="Text 16"/>
          <p:cNvSpPr txBox="1"/>
          <p:nvPr/>
        </p:nvSpPr>
        <p:spPr>
          <a:xfrm>
            <a:off x="7095744" y="1463040"/>
            <a:ext cx="1243584" cy="640080"/>
          </a:xfrm>
          <a:prstGeom prst="rect">
            <a:avLst/>
          </a:prstGeom>
          <a:noFill/>
          <a:ln/>
        </p:spPr>
        <p:txBody>
          <a:bodyPr wrap="square" lIns="0" tIns="0" rIns="0" bIns="0" rtlCol="0" anchor="ctr"/>
          <a:lstStyle/>
          <a:p>
            <a:pPr algn="ctr" indent="0" marL="0">
              <a:buNone/>
            </a:pPr>
            <a:r>
              <a:rPr lang="en-US" sz="1200" b="1" dirty="0">
                <a:solidFill>
                  <a:schemeClr val="bg1"/>
                </a:solidFill>
              </a:rPr>
              <a:t>LANDING</a:t>
            </a:r>
            <a:endParaRPr lang="en-US" sz="1200" dirty="0"/>
          </a:p>
        </p:txBody>
      </p:sp>
      <p:sp>
        <p:nvSpPr>
          <p:cNvPr id="19" name="Shape 17"/>
          <p:cNvSpPr/>
          <p:nvPr/>
        </p:nvSpPr>
        <p:spPr>
          <a:xfrm>
            <a:off x="8412480" y="1783080"/>
            <a:ext cx="228600" cy="91"/>
          </a:xfrm>
          <a:prstGeom prst="line">
            <a:avLst/>
          </a:prstGeom>
          <a:noFill/>
          <a:ln w="19050">
            <a:solidFill>
              <a:schemeClr val="accent4"/>
            </a:solidFill>
            <a:prstDash val="solid"/>
            <a:tailEnd type="triangle"/>
          </a:ln>
        </p:spPr>
      </p:sp>
      <p:sp>
        <p:nvSpPr>
          <p:cNvPr id="20" name="Shape 18"/>
          <p:cNvSpPr/>
          <p:nvPr/>
        </p:nvSpPr>
        <p:spPr>
          <a:xfrm>
            <a:off x="8641080" y="1463040"/>
            <a:ext cx="1389888" cy="640080"/>
          </a:xfrm>
          <a:prstGeom prst="roundRect">
            <a:avLst>
              <a:gd name="adj" fmla="val 11429"/>
            </a:avLst>
          </a:prstGeom>
          <a:solidFill>
            <a:schemeClr val="accent1"/>
          </a:solidFill>
          <a:ln w="12700">
            <a:solidFill>
              <a:schemeClr val="accent1"/>
            </a:solidFill>
            <a:prstDash val="solid"/>
          </a:ln>
        </p:spPr>
      </p:sp>
      <p:sp>
        <p:nvSpPr>
          <p:cNvPr id="21" name="Text 19"/>
          <p:cNvSpPr txBox="1"/>
          <p:nvPr/>
        </p:nvSpPr>
        <p:spPr>
          <a:xfrm>
            <a:off x="8714232" y="1463040"/>
            <a:ext cx="1243584" cy="640080"/>
          </a:xfrm>
          <a:prstGeom prst="rect">
            <a:avLst/>
          </a:prstGeom>
          <a:noFill/>
          <a:ln/>
        </p:spPr>
        <p:txBody>
          <a:bodyPr wrap="square" lIns="0" tIns="0" rIns="0" bIns="0" rtlCol="0" anchor="ctr"/>
          <a:lstStyle/>
          <a:p>
            <a:pPr algn="ctr" indent="0" marL="0">
              <a:buNone/>
            </a:pPr>
            <a:r>
              <a:rPr lang="en-US" sz="1200" b="1" dirty="0">
                <a:solidFill>
                  <a:schemeClr val="bg1"/>
                </a:solidFill>
              </a:rPr>
              <a:t>RECOVERY</a:t>
            </a:r>
            <a:endParaRPr lang="en-US" sz="1200" dirty="0"/>
          </a:p>
        </p:txBody>
      </p:sp>
      <p:sp>
        <p:nvSpPr>
          <p:cNvPr id="22" name="Shape 20"/>
          <p:cNvSpPr/>
          <p:nvPr/>
        </p:nvSpPr>
        <p:spPr>
          <a:xfrm>
            <a:off x="10030968" y="1783080"/>
            <a:ext cx="228600" cy="91"/>
          </a:xfrm>
          <a:prstGeom prst="line">
            <a:avLst/>
          </a:prstGeom>
          <a:noFill/>
          <a:ln w="19050">
            <a:solidFill>
              <a:schemeClr val="accent4"/>
            </a:solidFill>
            <a:prstDash val="solid"/>
            <a:tailEnd type="triangle"/>
          </a:ln>
        </p:spPr>
      </p:sp>
      <p:sp>
        <p:nvSpPr>
          <p:cNvPr id="23" name="Shape 21"/>
          <p:cNvSpPr/>
          <p:nvPr/>
        </p:nvSpPr>
        <p:spPr>
          <a:xfrm>
            <a:off x="10259568" y="1463040"/>
            <a:ext cx="1389888" cy="640080"/>
          </a:xfrm>
          <a:prstGeom prst="roundRect">
            <a:avLst>
              <a:gd name="adj" fmla="val 11429"/>
            </a:avLst>
          </a:prstGeom>
          <a:solidFill>
            <a:schemeClr val="accent1"/>
          </a:solidFill>
          <a:ln w="12700">
            <a:solidFill>
              <a:schemeClr val="accent1"/>
            </a:solidFill>
            <a:prstDash val="solid"/>
          </a:ln>
        </p:spPr>
      </p:sp>
      <p:sp>
        <p:nvSpPr>
          <p:cNvPr id="24" name="Text 22"/>
          <p:cNvSpPr txBox="1"/>
          <p:nvPr/>
        </p:nvSpPr>
        <p:spPr>
          <a:xfrm>
            <a:off x="10332720" y="1463040"/>
            <a:ext cx="1243584" cy="640080"/>
          </a:xfrm>
          <a:prstGeom prst="rect">
            <a:avLst/>
          </a:prstGeom>
          <a:noFill/>
          <a:ln/>
        </p:spPr>
        <p:txBody>
          <a:bodyPr wrap="square" lIns="0" tIns="0" rIns="0" bIns="0" rtlCol="0" anchor="ctr"/>
          <a:lstStyle/>
          <a:p>
            <a:pPr algn="ctr" indent="0" marL="0">
              <a:buNone/>
            </a:pPr>
            <a:r>
              <a:rPr lang="en-US" sz="1200" b="1" dirty="0">
                <a:solidFill>
                  <a:schemeClr val="bg1"/>
                </a:solidFill>
              </a:rPr>
              <a:t>SETTLE</a:t>
            </a:r>
            <a:endParaRPr lang="en-US" sz="1200" dirty="0"/>
          </a:p>
        </p:txBody>
      </p:sp>
      <p:sp>
        <p:nvSpPr>
          <p:cNvPr id="25" name="Shape 23"/>
          <p:cNvSpPr/>
          <p:nvPr/>
        </p:nvSpPr>
        <p:spPr>
          <a:xfrm>
            <a:off x="10954512" y="2103120"/>
            <a:ext cx="91" cy="274320"/>
          </a:xfrm>
          <a:prstGeom prst="line">
            <a:avLst/>
          </a:prstGeom>
          <a:noFill/>
          <a:ln w="19050">
            <a:solidFill>
              <a:schemeClr val="accent4"/>
            </a:solidFill>
            <a:prstDash val="solid"/>
          </a:ln>
        </p:spPr>
      </p:sp>
      <p:sp>
        <p:nvSpPr>
          <p:cNvPr id="26" name="Shape 24"/>
          <p:cNvSpPr/>
          <p:nvPr/>
        </p:nvSpPr>
        <p:spPr>
          <a:xfrm>
            <a:off x="1243584" y="2377440"/>
            <a:ext cx="9710928" cy="91"/>
          </a:xfrm>
          <a:prstGeom prst="line">
            <a:avLst/>
          </a:prstGeom>
          <a:noFill/>
          <a:ln w="19050">
            <a:solidFill>
              <a:schemeClr val="accent4"/>
            </a:solidFill>
            <a:prstDash val="solid"/>
          </a:ln>
        </p:spPr>
      </p:sp>
      <p:sp>
        <p:nvSpPr>
          <p:cNvPr id="27" name="Shape 25"/>
          <p:cNvSpPr/>
          <p:nvPr/>
        </p:nvSpPr>
        <p:spPr>
          <a:xfrm>
            <a:off x="1243584" y="2103120"/>
            <a:ext cx="91" cy="274320"/>
          </a:xfrm>
          <a:prstGeom prst="line">
            <a:avLst/>
          </a:prstGeom>
          <a:noFill/>
          <a:ln w="19050">
            <a:solidFill>
              <a:schemeClr val="accent4"/>
            </a:solidFill>
            <a:prstDash val="solid"/>
            <a:headEnd type="triangle"/>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7223760" cy="914400"/>
        </p:xfrm>
        <a:graphic>
          <a:graphicData uri="http://schemas.openxmlformats.org/drawingml/2006/table">
            <a:tbl>
              <a:tblPr/>
              <a:tblGrid>
                <a:gridCol w="1737360"/>
                <a:gridCol w="3749040"/>
                <a:gridCol w="1737360"/>
              </a:tblGrid>
              <a:tr h="438912">
                <a:tc>
                  <a:txBody>
                    <a:bodyPr/>
                    <a:lstStyle/>
                    <a:p>
                      <a:pPr algn="l" indent="0" marL="0">
                        <a:buNone/>
                      </a:pPr>
                      <a:r>
                        <a:rPr lang="en-US" sz="1200" b="1" dirty="0">
                          <a:solidFill>
                            <a:schemeClr val="bg1"/>
                          </a:solidFill>
                        </a:rPr>
                        <a:t>Stato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Riferimento (anca, ginocchio) [rad]</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Uscita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1"/>
                    </a:solidFill>
                  </a:tcPr>
                </a:tc>
              </a:tr>
              <a:tr h="438912">
                <a:tc>
                  <a:txBody>
                    <a:bodyPr/>
                    <a:lstStyle/>
                    <a:p>
                      <a:pPr algn="l" indent="0" marL="0">
                        <a:buNone/>
                      </a:pPr>
                      <a:r>
                        <a:rPr lang="en-US" sz="1200" dirty="0">
                          <a:solidFill>
                            <a:schemeClr val="tx1"/>
                          </a:solidFill>
                        </a:rPr>
                        <a:t>PRELOAD</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(0, 0) → (+0,12, −0,22) in 0,80 s, smoothstep</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dopo 0,80 s</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438912">
                <a:tc>
                  <a:txBody>
                    <a:bodyPr/>
                    <a:lstStyle/>
                    <a:p>
                      <a:pPr algn="l" indent="0" marL="0">
                        <a:buNone/>
                      </a:pPr>
                      <a:r>
                        <a:rPr lang="en-US" sz="1200" dirty="0">
                          <a:solidFill>
                            <a:schemeClr val="tx1"/>
                          </a:solidFill>
                        </a:rPr>
                        <a:t>THRUST</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 (−0,27, +0,44) in 0,02 s, 1 − (1 − τ)³</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decollo, o LANDING dopo 0,16 s</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438912">
                <a:tc>
                  <a:txBody>
                    <a:bodyPr/>
                    <a:lstStyle/>
                    <a:p>
                      <a:pPr algn="l" indent="0" marL="0">
                        <a:buNone/>
                      </a:pPr>
                      <a:r>
                        <a:rPr lang="en-US" sz="1200" dirty="0">
                          <a:solidFill>
                            <a:schemeClr val="tx1"/>
                          </a:solidFill>
                        </a:rPr>
                        <a:t>FLIGHT</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posa congelata al decollo, ruote smorzate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contatto confermato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438912">
                <a:tc>
                  <a:txBody>
                    <a:bodyPr/>
                    <a:lstStyle/>
                    <a:p>
                      <a:pPr algn="l" indent="0" marL="0">
                        <a:buNone/>
                      </a:pPr>
                      <a:r>
                        <a:rPr lang="en-US" sz="1200" dirty="0">
                          <a:solidFill>
                            <a:schemeClr val="tx1"/>
                          </a:solidFill>
                        </a:rPr>
                        <a:t>LANDING</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 (+0,08, −0,20) in 0,80 s, gambe cedevoli</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dopo 0,80 s</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438912">
                <a:tc>
                  <a:txBody>
                    <a:bodyPr/>
                    <a:lstStyle/>
                    <a:p>
                      <a:pPr algn="l" indent="0" marL="0">
                        <a:buNone/>
                      </a:pPr>
                      <a:r>
                        <a:rPr lang="en-US" sz="1200" dirty="0">
                          <a:solidFill>
                            <a:schemeClr val="tx1"/>
                          </a:solidFill>
                        </a:rPr>
                        <a:t>RECOVERY / SETTLE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ritorno a (0, 0) in 2,0 s, poi assestamento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0,30 s fermo, o 12 s</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bl>
          </a:graphicData>
        </a:graphic>
      </p:graphicFrame>
      <p:sp>
        <p:nvSpPr>
          <p:cNvPr id="29" name="Shape 26"/>
          <p:cNvSpPr/>
          <p:nvPr/>
        </p:nvSpPr>
        <p:spPr>
          <a:xfrm>
            <a:off x="8092440" y="2743200"/>
            <a:ext cx="3547872" cy="3108960"/>
          </a:xfrm>
          <a:prstGeom prst="roundRect">
            <a:avLst>
              <a:gd name="adj" fmla="val 2353"/>
            </a:avLst>
          </a:prstGeom>
          <a:solidFill>
            <a:schemeClr val="bg2"/>
          </a:solidFill>
          <a:ln w="12700">
            <a:solidFill>
              <a:schemeClr val="bg2"/>
            </a:solidFill>
            <a:prstDash val="solid"/>
          </a:ln>
        </p:spPr>
      </p:sp>
      <p:sp>
        <p:nvSpPr>
          <p:cNvPr id="30" name="Shape 27"/>
          <p:cNvSpPr/>
          <p:nvPr/>
        </p:nvSpPr>
        <p:spPr>
          <a:xfrm>
            <a:off x="8275320" y="2926080"/>
            <a:ext cx="420624" cy="420624"/>
          </a:xfrm>
          <a:prstGeom prst="ellipse">
            <a:avLst/>
          </a:prstGeom>
          <a:solidFill>
            <a:schemeClr val="accent1"/>
          </a:solidFill>
          <a:ln w="12700">
            <a:solidFill>
              <a:schemeClr val="accent1"/>
            </a:solidFill>
            <a:prstDash val="solid"/>
          </a:ln>
        </p:spPr>
      </p:sp>
      <p:sp>
        <p:nvSpPr>
          <p:cNvPr id="31" name="Text 28"/>
          <p:cNvSpPr txBox="1"/>
          <p:nvPr/>
        </p:nvSpPr>
        <p:spPr>
          <a:xfrm>
            <a:off x="8275320" y="29260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32" name="Text 29"/>
          <p:cNvSpPr txBox="1"/>
          <p:nvPr/>
        </p:nvSpPr>
        <p:spPr>
          <a:xfrm>
            <a:off x="8823960" y="2926080"/>
            <a:ext cx="2633472" cy="420624"/>
          </a:xfrm>
          <a:prstGeom prst="rect">
            <a:avLst/>
          </a:prstGeom>
          <a:noFill/>
          <a:ln/>
        </p:spPr>
        <p:txBody>
          <a:bodyPr wrap="square" lIns="0" tIns="0" rIns="0" bIns="0" rtlCol="0" anchor="ctr"/>
          <a:lstStyle/>
          <a:p>
            <a:pPr algn="l" indent="0" marL="0">
              <a:buNone/>
            </a:pPr>
            <a:r>
              <a:rPr lang="en-US" sz="1500" b="1" dirty="0">
                <a:solidFill>
                  <a:schemeClr val="tx2"/>
                </a:solidFill>
              </a:rPr>
              <a:t>Decollo confermato se</a:t>
            </a:r>
            <a:endParaRPr lang="en-US" sz="1500" dirty="0"/>
          </a:p>
        </p:txBody>
      </p:sp>
      <p:sp>
        <p:nvSpPr>
          <p:cNvPr id="33" name="Text 30"/>
          <p:cNvSpPr txBox="1"/>
          <p:nvPr/>
        </p:nvSpPr>
        <p:spPr>
          <a:xfrm>
            <a:off x="8321040" y="3474720"/>
            <a:ext cx="3136392" cy="224028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chemeClr val="tx1"/>
                </a:solidFill>
              </a:rPr>
              <a:t>contatto perso (isteresi, 4 ms)</a:t>
            </a:r>
            <a:endParaRPr lang="en-US" sz="1300" dirty="0"/>
          </a:p>
          <a:p>
            <a:pPr marL="203200" indent="-203200">
              <a:spcAft>
                <a:spcPts val="400"/>
              </a:spcAft>
              <a:buSzPct val="100000"/>
              <a:buChar char="•"/>
            </a:pPr>
            <a:r>
              <a:rPr lang="en-US" sz="1300" dirty="0">
                <a:solidFill>
                  <a:schemeClr val="tx1"/>
                </a:solidFill>
              </a:rPr>
              <a:t>forza sotto soglia</a:t>
            </a:r>
            <a:endParaRPr lang="en-US" sz="1300" dirty="0"/>
          </a:p>
          <a:p>
            <a:pPr marL="203200" indent="-203200">
              <a:spcAft>
                <a:spcPts val="400"/>
              </a:spcAft>
              <a:buSzPct val="100000"/>
              <a:buChar char="•"/>
            </a:pPr>
            <a:r>
              <a:rPr lang="en-US" sz="1300" dirty="0">
                <a:solidFill>
                  <a:schemeClr val="tx1"/>
                </a:solidFill>
              </a:rPr>
              <a:t>ruota staccata dal suolo</a:t>
            </a:r>
            <a:endParaRPr lang="en-US" sz="1300" dirty="0"/>
          </a:p>
          <a:p>
            <a:pPr marL="203200" indent="-203200">
              <a:spcAft>
                <a:spcPts val="400"/>
              </a:spcAft>
              <a:buSzPct val="100000"/>
              <a:buChar char="•"/>
            </a:pPr>
            <a:r>
              <a:rPr lang="en-US" sz="1300" dirty="0">
                <a:solidFill>
                  <a:schemeClr val="tx1"/>
                </a:solidFill>
              </a:rPr>
              <a:t>v</a:t>
            </a:r>
            <a:r>
              <a:rPr lang="en-US" sz="1300" baseline="-40000" dirty="0">
                <a:solidFill>
                  <a:schemeClr val="tx1"/>
                </a:solidFill>
              </a:rPr>
              <a:t>z</a:t>
            </a:r>
            <a:r>
              <a:rPr lang="en-US" sz="1300" dirty="0">
                <a:solidFill>
                  <a:schemeClr val="tx1"/>
                </a:solidFill>
              </a:rPr>
              <a:t> del CoM &gt; 0,08 m/s</a:t>
            </a:r>
            <a:endParaRPr lang="en-US" sz="1300" dirty="0"/>
          </a:p>
          <a:p>
            <a:pPr marL="203200" indent="-203200">
              <a:spcAft>
                <a:spcPts val="400"/>
              </a:spcAft>
              <a:buSzPct val="100000"/>
              <a:buChar char="•"/>
            </a:pPr>
            <a:r>
              <a:rPr lang="en-US" sz="1300" dirty="0">
                <a:solidFill>
                  <a:schemeClr val="tx1"/>
                </a:solidFill>
              </a:rPr>
              <a:t>Correzione del Capture Point scalata per fase, integrale congelato</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Valutazioni sul PID</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3 · PID con ZMP</a:t>
            </a:r>
            <a:endParaRPr lang="en-US" sz="1200" dirty="0"/>
          </a:p>
        </p:txBody>
      </p:sp>
      <p:sp>
        <p:nvSpPr>
          <p:cNvPr id="5" name="Shape 3"/>
          <p:cNvSpPr/>
          <p:nvPr/>
        </p:nvSpPr>
        <p:spPr>
          <a:xfrm>
            <a:off x="548640" y="1371600"/>
            <a:ext cx="5394960" cy="4206240"/>
          </a:xfrm>
          <a:prstGeom prst="roundRect">
            <a:avLst>
              <a:gd name="adj" fmla="val 1739"/>
            </a:avLst>
          </a:prstGeom>
          <a:solidFill>
            <a:schemeClr val="bg2"/>
          </a:solidFill>
          <a:ln w="12700">
            <a:solidFill>
              <a:schemeClr val="bg2"/>
            </a:solidFill>
            <a:prstDash val="solid"/>
          </a:ln>
        </p:spPr>
      </p:sp>
      <p:sp>
        <p:nvSpPr>
          <p:cNvPr id="6" name="Text 4"/>
          <p:cNvSpPr txBox="1"/>
          <p:nvPr/>
        </p:nvSpPr>
        <p:spPr>
          <a:xfrm>
            <a:off x="777240" y="1508760"/>
            <a:ext cx="4937760" cy="411480"/>
          </a:xfrm>
          <a:prstGeom prst="rect">
            <a:avLst/>
          </a:prstGeom>
          <a:noFill/>
          <a:ln/>
        </p:spPr>
        <p:txBody>
          <a:bodyPr wrap="square" lIns="0" tIns="0" rIns="0" bIns="0" rtlCol="0" anchor="t"/>
          <a:lstStyle/>
          <a:p>
            <a:pPr algn="l" indent="0" marL="0">
              <a:buNone/>
            </a:pPr>
            <a:r>
              <a:rPr lang="en-US" sz="1800" b="1" dirty="0">
                <a:solidFill>
                  <a:schemeClr val="accent2"/>
                </a:solidFill>
              </a:rPr>
              <a:t>Punti di forza</a:t>
            </a:r>
            <a:endParaRPr lang="en-US" sz="1800" dirty="0"/>
          </a:p>
        </p:txBody>
      </p:sp>
      <p:sp>
        <p:nvSpPr>
          <p:cNvPr id="7" name="Text 5"/>
          <p:cNvSpPr txBox="1"/>
          <p:nvPr/>
        </p:nvSpPr>
        <p:spPr>
          <a:xfrm>
            <a:off x="777240" y="2057400"/>
            <a:ext cx="4983480" cy="33832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Anteprima LIPM: con riferimenti noti il robot si inclina in anticipo e insegue senza sovraelongazioni</a:t>
            </a:r>
            <a:endParaRPr lang="en-US" sz="1500" dirty="0"/>
          </a:p>
          <a:p>
            <a:pPr marL="203200" indent="-203200">
              <a:spcAft>
                <a:spcPts val="1000"/>
              </a:spcAft>
              <a:buSzPct val="100000"/>
              <a:buChar char="•"/>
            </a:pPr>
            <a:r>
              <a:rPr lang="en-US" sz="1500" dirty="0">
                <a:solidFill>
                  <a:schemeClr val="tx1"/>
                </a:solidFill>
              </a:rPr>
              <a:t>Integrale sul Capture Point: annulla un offset del CoM che il modello non conosce</a:t>
            </a:r>
            <a:endParaRPr lang="en-US" sz="1500" dirty="0"/>
          </a:p>
          <a:p>
            <a:pPr marL="203200" indent="-203200">
              <a:spcAft>
                <a:spcPts val="1000"/>
              </a:spcAft>
              <a:buSzPct val="100000"/>
              <a:buChar char="•"/>
            </a:pPr>
            <a:r>
              <a:rPr lang="en-US" sz="1500" dirty="0">
                <a:solidFill>
                  <a:schemeClr val="tx1"/>
                </a:solidFill>
              </a:rPr>
              <a:t>Legge pura, separata dal nodo ROS, testata offline su casi di robustezza</a:t>
            </a:r>
            <a:endParaRPr lang="en-US" sz="1500" dirty="0"/>
          </a:p>
          <a:p>
            <a:pPr marL="203200" indent="-203200">
              <a:spcAft>
                <a:spcPts val="1000"/>
              </a:spcAft>
              <a:buSzPct val="100000"/>
              <a:buChar char="•"/>
            </a:pPr>
            <a:r>
              <a:rPr lang="en-US" sz="1500" dirty="0">
                <a:solidFill>
                  <a:schemeClr val="tx1"/>
                </a:solidFill>
              </a:rPr>
              <a:t>Guadagni da modello (poli robusti) e non da tentativi in simulazione</a:t>
            </a:r>
            <a:endParaRPr lang="en-US" sz="1500" dirty="0"/>
          </a:p>
        </p:txBody>
      </p:sp>
      <p:sp>
        <p:nvSpPr>
          <p:cNvPr id="8" name="Shape 6"/>
          <p:cNvSpPr/>
          <p:nvPr/>
        </p:nvSpPr>
        <p:spPr>
          <a:xfrm>
            <a:off x="6245352" y="1371600"/>
            <a:ext cx="5394960" cy="4206240"/>
          </a:xfrm>
          <a:prstGeom prst="roundRect">
            <a:avLst>
              <a:gd name="adj" fmla="val 1739"/>
            </a:avLst>
          </a:prstGeom>
          <a:solidFill>
            <a:schemeClr val="bg2"/>
          </a:solidFill>
          <a:ln w="12700">
            <a:solidFill>
              <a:schemeClr val="bg2"/>
            </a:solidFill>
            <a:prstDash val="solid"/>
          </a:ln>
        </p:spPr>
      </p:sp>
      <p:sp>
        <p:nvSpPr>
          <p:cNvPr id="9" name="Text 7"/>
          <p:cNvSpPr txBox="1"/>
          <p:nvPr/>
        </p:nvSpPr>
        <p:spPr>
          <a:xfrm>
            <a:off x="6473952" y="1508760"/>
            <a:ext cx="4937760" cy="411480"/>
          </a:xfrm>
          <a:prstGeom prst="rect">
            <a:avLst/>
          </a:prstGeom>
          <a:noFill/>
          <a:ln/>
        </p:spPr>
        <p:txBody>
          <a:bodyPr wrap="square" lIns="0" tIns="0" rIns="0" bIns="0" rtlCol="0" anchor="t"/>
          <a:lstStyle/>
          <a:p>
            <a:pPr algn="l" indent="0" marL="0">
              <a:buNone/>
            </a:pPr>
            <a:r>
              <a:rPr lang="en-US" sz="1800" b="1" dirty="0">
                <a:solidFill>
                  <a:schemeClr val="accent1"/>
                </a:solidFill>
              </a:rPr>
              <a:t>Limiti e spunti</a:t>
            </a:r>
            <a:endParaRPr lang="en-US" sz="1800" dirty="0"/>
          </a:p>
        </p:txBody>
      </p:sp>
      <p:sp>
        <p:nvSpPr>
          <p:cNvPr id="10" name="Text 8"/>
          <p:cNvSpPr txBox="1"/>
          <p:nvPr/>
        </p:nvSpPr>
        <p:spPr>
          <a:xfrm>
            <a:off x="6473952" y="2057400"/>
            <a:ext cx="4983480" cy="34747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Stato dalla ground truth del simulatore: non disponibile su un robot reale</a:t>
            </a:r>
            <a:endParaRPr lang="en-US" sz="1500" dirty="0"/>
          </a:p>
          <a:p>
            <a:pPr marL="203200" indent="-203200">
              <a:spcAft>
                <a:spcPts val="800"/>
              </a:spcAft>
              <a:buSzPct val="100000"/>
              <a:buChar char="•"/>
            </a:pPr>
            <a:r>
              <a:rPr lang="en-US" sz="1500" dirty="0">
                <a:solidFill>
                  <a:schemeClr val="tx1"/>
                </a:solidFill>
              </a:rPr>
              <a:t>ρ = 0,4 fisso: poca autorità contro le spinte. Spunto: ρ schedulato nei transitori</a:t>
            </a:r>
            <a:endParaRPr lang="en-US" sz="1500" dirty="0"/>
          </a:p>
          <a:p>
            <a:pPr marL="203200" indent="-203200">
              <a:spcAft>
                <a:spcPts val="800"/>
              </a:spcAft>
              <a:buSzPct val="100000"/>
              <a:buChar char="•"/>
            </a:pPr>
            <a:r>
              <a:rPr lang="en-US" sz="1500" dirty="0">
                <a:solidFill>
                  <a:schemeClr val="tx1"/>
                </a:solidFill>
              </a:rPr>
              <a:t>Vincoli solo come saturazione (a</a:t>
            </a:r>
            <a:r>
              <a:rPr lang="en-US" sz="1500" baseline="-40000" dirty="0">
                <a:solidFill>
                  <a:schemeClr val="tx1"/>
                </a:solidFill>
              </a:rPr>
              <a:t>max</a:t>
            </a:r>
            <a:r>
              <a:rPr lang="en-US" sz="1500" dirty="0">
                <a:solidFill>
                  <a:schemeClr val="tx1"/>
                </a:solidFill>
              </a:rPr>
              <a:t>); l'anti-windup non vede il limite 10 − |τ</a:t>
            </a:r>
            <a:r>
              <a:rPr lang="en-US" sz="1500" baseline="-40000" dirty="0">
                <a:solidFill>
                  <a:schemeClr val="tx1"/>
                </a:solidFill>
              </a:rPr>
              <a:t>d</a:t>
            </a:r>
            <a:r>
              <a:rPr lang="en-US" sz="1500" dirty="0">
                <a:solidFill>
                  <a:schemeClr val="tx1"/>
                </a:solidFill>
              </a:rPr>
              <a:t>| in curva</a:t>
            </a:r>
            <a:endParaRPr lang="en-US" sz="1500" dirty="0"/>
          </a:p>
          <a:p>
            <a:pPr marL="203200" indent="-203200">
              <a:spcAft>
                <a:spcPts val="800"/>
              </a:spcAft>
              <a:buSzPct val="100000"/>
              <a:buChar char="•"/>
            </a:pPr>
            <a:r>
              <a:rPr lang="en-US" sz="1500" dirty="0">
                <a:solidFill>
                  <a:schemeClr val="tx1"/>
                </a:solidFill>
              </a:rPr>
              <a:t>Telemetria: z</a:t>
            </a:r>
            <a:r>
              <a:rPr lang="en-US" sz="1500" baseline="-40000" dirty="0">
                <a:solidFill>
                  <a:schemeClr val="tx1"/>
                </a:solidFill>
              </a:rPr>
              <a:t>ref</a:t>
            </a:r>
            <a:r>
              <a:rPr lang="en-US" sz="1500" dirty="0">
                <a:solidFill>
                  <a:schemeClr val="tx1"/>
                </a:solidFill>
              </a:rPr>
              <a:t> = z in /rotino/wbr_state, quindi l'errore di quota del benchmark non è significativo</a:t>
            </a:r>
            <a:endParaRPr lang="en-US" sz="1500" dirty="0"/>
          </a:p>
          <a:p>
            <a:pPr marL="203200" indent="-203200">
              <a:spcAft>
                <a:spcPts val="800"/>
              </a:spcAft>
              <a:buSzPct val="100000"/>
              <a:buChar char="•"/>
            </a:pPr>
            <a:r>
              <a:rPr lang="en-US" sz="1500" dirty="0">
                <a:solidFill>
                  <a:schemeClr val="tx1"/>
                </a:solidFill>
              </a:rPr>
              <a:t>Compensazione laterale spenta: la ruota cilindrica salta di spigolo al flesso della 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2834640" y="2057400"/>
            <a:ext cx="8595360" cy="1097280"/>
          </a:xfrm>
          <a:prstGeom prst="rect">
            <a:avLst/>
          </a:prstGeom>
          <a:noFill/>
          <a:ln/>
        </p:spPr>
        <p:txBody>
          <a:bodyPr wrap="square" lIns="0" tIns="0" rIns="0" bIns="0" rtlCol="0" anchor="b"/>
          <a:lstStyle/>
          <a:p>
            <a:pPr algn="l" indent="0" marL="0">
              <a:buNone/>
            </a:pPr>
            <a:r>
              <a:rPr lang="en-US" sz="4000" b="1" dirty="0">
                <a:solidFill>
                  <a:schemeClr val="bg1"/>
                </a:solidFill>
              </a:rPr>
              <a:t>MPC + TV-LQR + VMC</a:t>
            </a:r>
            <a:endParaRPr lang="en-US" sz="4000" dirty="0"/>
          </a:p>
        </p:txBody>
      </p:sp>
      <p:sp>
        <p:nvSpPr>
          <p:cNvPr id="3" name="Text 0"/>
          <p:cNvSpPr/>
          <p:nvPr>
            <p:ph idx="101" type="body" hasCustomPrompt="1"/>
          </p:nvPr>
        </p:nvSpPr>
        <p:spPr>
          <a:xfrm>
            <a:off x="2834640" y="3291840"/>
            <a:ext cx="8229600" cy="1645920"/>
          </a:xfrm>
          <a:prstGeom prst="rect">
            <a:avLst/>
          </a:prstGeom>
          <a:noFill/>
          <a:ln/>
        </p:spPr>
        <p:txBody>
          <a:bodyPr wrap="square" lIns="0" tIns="0" rIns="0" bIns="0" rtlCol="0" anchor="t"/>
          <a:lstStyle/>
          <a:p>
            <a:pPr algn="l" indent="0" marL="0">
              <a:buNone/>
            </a:pPr>
            <a:r>
              <a:rPr lang="en-US" sz="1800" dirty="0">
                <a:solidFill>
                  <a:schemeClr val="bg2"/>
                </a:solidFill>
              </a:rPr>
              <a:t>rotino_mpc: architettura di Cui et al. (Fig. 4). Equilibrio con LQR schedulato sulla lunghezza, corpo superiore con MPC vincolato, gambe con controllo a modello virtuale, stato con filtro di Kalman</a:t>
            </a:r>
            <a:endParaRPr lang="en-US" sz="1800" dirty="0"/>
          </a:p>
        </p:txBody>
      </p:sp>
      <p:sp>
        <p:nvSpPr>
          <p:cNvPr id="4" name="Shape 2"/>
          <p:cNvSpPr/>
          <p:nvPr/>
        </p:nvSpPr>
        <p:spPr>
          <a:xfrm>
            <a:off x="868680" y="2148840"/>
            <a:ext cx="1554480" cy="1554480"/>
          </a:xfrm>
          <a:prstGeom prst="ellipse">
            <a:avLst/>
          </a:prstGeom>
          <a:solidFill>
            <a:schemeClr val="accent2"/>
          </a:solidFill>
          <a:ln w="12700">
            <a:solidFill>
              <a:schemeClr val="accent2"/>
            </a:solidFill>
            <a:prstDash val="solid"/>
          </a:ln>
        </p:spPr>
      </p:sp>
      <p:sp>
        <p:nvSpPr>
          <p:cNvPr id="5" name="Text 3"/>
          <p:cNvSpPr txBox="1"/>
          <p:nvPr/>
        </p:nvSpPr>
        <p:spPr>
          <a:xfrm>
            <a:off x="868680" y="2148840"/>
            <a:ext cx="1554480" cy="1554480"/>
          </a:xfrm>
          <a:prstGeom prst="rect">
            <a:avLst/>
          </a:prstGeom>
          <a:noFill/>
          <a:ln/>
        </p:spPr>
        <p:txBody>
          <a:bodyPr wrap="square" lIns="0" tIns="0" rIns="0" bIns="0" rtlCol="0" anchor="ctr"/>
          <a:lstStyle/>
          <a:p>
            <a:pPr algn="ctr" indent="0" marL="0">
              <a:buNone/>
            </a:pPr>
            <a:r>
              <a:rPr lang="en-US" sz="6000" b="1" dirty="0">
                <a:solidFill>
                  <a:schemeClr val="bg1"/>
                </a:solidFill>
              </a:rPr>
              <a:t>4</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Perché questa architettura</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4 · MPC + TV-LQR</a:t>
            </a:r>
            <a:endParaRPr lang="en-US" sz="1200" dirty="0"/>
          </a:p>
        </p:txBody>
      </p:sp>
      <p:sp>
        <p:nvSpPr>
          <p:cNvPr id="5" name="Shape 3"/>
          <p:cNvSpPr/>
          <p:nvPr/>
        </p:nvSpPr>
        <p:spPr>
          <a:xfrm>
            <a:off x="548640" y="1463040"/>
            <a:ext cx="2377440" cy="914400"/>
          </a:xfrm>
          <a:prstGeom prst="roundRect">
            <a:avLst>
              <a:gd name="adj" fmla="val 8000"/>
            </a:avLst>
          </a:prstGeom>
          <a:solidFill>
            <a:schemeClr val="bg2"/>
          </a:solidFill>
          <a:ln w="12700">
            <a:solidFill>
              <a:schemeClr val="bg2"/>
            </a:solidFill>
            <a:prstDash val="solid"/>
          </a:ln>
        </p:spPr>
      </p:sp>
      <p:sp>
        <p:nvSpPr>
          <p:cNvPr id="6" name="Text 4"/>
          <p:cNvSpPr txBox="1"/>
          <p:nvPr/>
        </p:nvSpPr>
        <p:spPr>
          <a:xfrm>
            <a:off x="621792" y="1463040"/>
            <a:ext cx="2231136" cy="914400"/>
          </a:xfrm>
          <a:prstGeom prst="rect">
            <a:avLst/>
          </a:prstGeom>
          <a:noFill/>
          <a:ln/>
        </p:spPr>
        <p:txBody>
          <a:bodyPr wrap="square" lIns="0" tIns="0" rIns="0" bIns="0" rtlCol="0" anchor="ctr"/>
          <a:lstStyle/>
          <a:p>
            <a:pPr algn="ctr" indent="0" marL="0">
              <a:buNone/>
            </a:pPr>
            <a:r>
              <a:rPr lang="en-US" sz="1200" dirty="0">
                <a:solidFill>
                  <a:schemeClr val="tx1"/>
                </a:solidFill>
              </a:rPr>
              <a:t>Riferimenti s, ṡ, z, ż</a:t>
            </a:r>
            <a:endParaRPr lang="en-US" sz="1200" dirty="0"/>
          </a:p>
          <a:p>
            <a:pPr algn="ctr" indent="0" marL="0">
              <a:buNone/>
            </a:pPr>
            <a:r>
              <a:rPr lang="en-US" sz="1200" dirty="0">
                <a:solidFill>
                  <a:schemeClr val="tx1"/>
                </a:solidFill>
              </a:rPr>
              <a:t>sull'orizzonte (0,5 s)</a:t>
            </a:r>
            <a:endParaRPr lang="en-US" sz="1200" dirty="0"/>
          </a:p>
        </p:txBody>
      </p:sp>
      <p:sp>
        <p:nvSpPr>
          <p:cNvPr id="7" name="Shape 5"/>
          <p:cNvSpPr/>
          <p:nvPr/>
        </p:nvSpPr>
        <p:spPr>
          <a:xfrm>
            <a:off x="3291840" y="1463040"/>
            <a:ext cx="2468880" cy="914400"/>
          </a:xfrm>
          <a:prstGeom prst="roundRect">
            <a:avLst>
              <a:gd name="adj" fmla="val 8000"/>
            </a:avLst>
          </a:prstGeom>
          <a:solidFill>
            <a:schemeClr val="accent2"/>
          </a:solidFill>
          <a:ln w="12700">
            <a:solidFill>
              <a:schemeClr val="accent2"/>
            </a:solidFill>
            <a:prstDash val="solid"/>
          </a:ln>
        </p:spPr>
      </p:sp>
      <p:sp>
        <p:nvSpPr>
          <p:cNvPr id="8" name="Text 6"/>
          <p:cNvSpPr txBox="1"/>
          <p:nvPr/>
        </p:nvSpPr>
        <p:spPr>
          <a:xfrm>
            <a:off x="3364992" y="1463040"/>
            <a:ext cx="2322576" cy="914400"/>
          </a:xfrm>
          <a:prstGeom prst="rect">
            <a:avLst/>
          </a:prstGeom>
          <a:noFill/>
          <a:ln/>
        </p:spPr>
        <p:txBody>
          <a:bodyPr wrap="square" lIns="0" tIns="0" rIns="0" bIns="0" rtlCol="0" anchor="ctr"/>
          <a:lstStyle/>
          <a:p>
            <a:pPr algn="ctr" indent="0" marL="0">
              <a:buNone/>
            </a:pPr>
            <a:r>
              <a:rPr lang="en-US" sz="1200" b="1" dirty="0">
                <a:solidFill>
                  <a:schemeClr val="bg1"/>
                </a:solidFill>
              </a:rPr>
              <a:t>MPC corpo superiore</a:t>
            </a:r>
            <a:endParaRPr lang="en-US" sz="1200" dirty="0"/>
          </a:p>
          <a:p>
            <a:pPr algn="ctr" indent="0" marL="0">
              <a:buNone/>
            </a:pPr>
            <a:r>
              <a:rPr lang="en-US" sz="1200" b="1" dirty="0">
                <a:solidFill>
                  <a:schemeClr val="bg1"/>
                </a:solidFill>
              </a:rPr>
              <a:t>100 Hz</a:t>
            </a:r>
            <a:endParaRPr lang="en-US" sz="1200" dirty="0"/>
          </a:p>
        </p:txBody>
      </p:sp>
      <p:sp>
        <p:nvSpPr>
          <p:cNvPr id="9" name="Shape 7"/>
          <p:cNvSpPr/>
          <p:nvPr/>
        </p:nvSpPr>
        <p:spPr>
          <a:xfrm>
            <a:off x="6400800" y="1463040"/>
            <a:ext cx="2468880" cy="914400"/>
          </a:xfrm>
          <a:prstGeom prst="roundRect">
            <a:avLst>
              <a:gd name="adj" fmla="val 8000"/>
            </a:avLst>
          </a:prstGeom>
          <a:solidFill>
            <a:schemeClr val="accent2"/>
          </a:solidFill>
          <a:ln w="12700">
            <a:solidFill>
              <a:schemeClr val="accent2"/>
            </a:solidFill>
            <a:prstDash val="solid"/>
          </a:ln>
        </p:spPr>
      </p:sp>
      <p:sp>
        <p:nvSpPr>
          <p:cNvPr id="10" name="Text 8"/>
          <p:cNvSpPr txBox="1"/>
          <p:nvPr/>
        </p:nvSpPr>
        <p:spPr>
          <a:xfrm>
            <a:off x="6473952" y="1463040"/>
            <a:ext cx="2322576" cy="914400"/>
          </a:xfrm>
          <a:prstGeom prst="rect">
            <a:avLst/>
          </a:prstGeom>
          <a:noFill/>
          <a:ln/>
        </p:spPr>
        <p:txBody>
          <a:bodyPr wrap="square" lIns="0" tIns="0" rIns="0" bIns="0" rtlCol="0" anchor="ctr"/>
          <a:lstStyle/>
          <a:p>
            <a:pPr algn="ctr" indent="0" marL="0">
              <a:buNone/>
            </a:pPr>
            <a:r>
              <a:rPr lang="en-US" sz="1200" b="1" dirty="0">
                <a:solidFill>
                  <a:schemeClr val="bg1"/>
                </a:solidFill>
              </a:rPr>
              <a:t>TV-LQR K(l)</a:t>
            </a:r>
            <a:endParaRPr lang="en-US" sz="1200" dirty="0"/>
          </a:p>
          <a:p>
            <a:pPr algn="ctr" indent="0" marL="0">
              <a:buNone/>
            </a:pPr>
            <a:r>
              <a:rPr lang="en-US" sz="1200" b="1" dirty="0">
                <a:solidFill>
                  <a:schemeClr val="bg1"/>
                </a:solidFill>
              </a:rPr>
              <a:t>500 Hz</a:t>
            </a:r>
            <a:endParaRPr lang="en-US" sz="1200" dirty="0"/>
          </a:p>
        </p:txBody>
      </p:sp>
      <p:sp>
        <p:nvSpPr>
          <p:cNvPr id="11" name="Shape 9"/>
          <p:cNvSpPr/>
          <p:nvPr/>
        </p:nvSpPr>
        <p:spPr>
          <a:xfrm>
            <a:off x="9235440" y="1463040"/>
            <a:ext cx="2404872" cy="914400"/>
          </a:xfrm>
          <a:prstGeom prst="roundRect">
            <a:avLst>
              <a:gd name="adj" fmla="val 8000"/>
            </a:avLst>
          </a:prstGeom>
          <a:solidFill>
            <a:schemeClr val="tx2"/>
          </a:solidFill>
          <a:ln w="12700">
            <a:solidFill>
              <a:schemeClr val="tx2"/>
            </a:solidFill>
            <a:prstDash val="solid"/>
          </a:ln>
        </p:spPr>
      </p:sp>
      <p:sp>
        <p:nvSpPr>
          <p:cNvPr id="12" name="Text 10"/>
          <p:cNvSpPr txBox="1"/>
          <p:nvPr/>
        </p:nvSpPr>
        <p:spPr>
          <a:xfrm>
            <a:off x="9308592" y="1463040"/>
            <a:ext cx="2258568" cy="914400"/>
          </a:xfrm>
          <a:prstGeom prst="rect">
            <a:avLst/>
          </a:prstGeom>
          <a:noFill/>
          <a:ln/>
        </p:spPr>
        <p:txBody>
          <a:bodyPr wrap="square" lIns="0" tIns="0" rIns="0" bIns="0" rtlCol="0" anchor="ctr"/>
          <a:lstStyle/>
          <a:p>
            <a:pPr algn="ctr" indent="0" marL="0">
              <a:buNone/>
            </a:pPr>
            <a:r>
              <a:rPr lang="en-US" sz="1200" b="1" dirty="0">
                <a:solidFill>
                  <a:schemeClr val="bg1"/>
                </a:solidFill>
              </a:rPr>
              <a:t>Ruote τ</a:t>
            </a:r>
            <a:r>
              <a:rPr lang="en-US" sz="1200" b="1" baseline="-40000" dirty="0">
                <a:solidFill>
                  <a:schemeClr val="bg1"/>
                </a:solidFill>
              </a:rPr>
              <a:t>l</a:t>
            </a:r>
            <a:r>
              <a:rPr lang="en-US" sz="1200" b="1" dirty="0">
                <a:solidFill>
                  <a:schemeClr val="bg1"/>
                </a:solidFill>
              </a:rPr>
              <a:t>, τ</a:t>
            </a:r>
            <a:r>
              <a:rPr lang="en-US" sz="1200" b="1" baseline="-40000" dirty="0">
                <a:solidFill>
                  <a:schemeClr val="bg1"/>
                </a:solidFill>
              </a:rPr>
              <a:t>r</a:t>
            </a:r>
            <a:endParaRPr lang="en-US" sz="1200" dirty="0"/>
          </a:p>
        </p:txBody>
      </p:sp>
      <p:sp>
        <p:nvSpPr>
          <p:cNvPr id="13" name="Shape 11"/>
          <p:cNvSpPr/>
          <p:nvPr/>
        </p:nvSpPr>
        <p:spPr>
          <a:xfrm>
            <a:off x="6400800" y="2743200"/>
            <a:ext cx="2468880" cy="914400"/>
          </a:xfrm>
          <a:prstGeom prst="roundRect">
            <a:avLst>
              <a:gd name="adj" fmla="val 8000"/>
            </a:avLst>
          </a:prstGeom>
          <a:solidFill>
            <a:schemeClr val="accent2"/>
          </a:solidFill>
          <a:ln w="12700">
            <a:solidFill>
              <a:schemeClr val="accent2"/>
            </a:solidFill>
            <a:prstDash val="solid"/>
          </a:ln>
        </p:spPr>
      </p:sp>
      <p:sp>
        <p:nvSpPr>
          <p:cNvPr id="14" name="Text 12"/>
          <p:cNvSpPr txBox="1"/>
          <p:nvPr/>
        </p:nvSpPr>
        <p:spPr>
          <a:xfrm>
            <a:off x="6473952" y="2743200"/>
            <a:ext cx="2322576" cy="914400"/>
          </a:xfrm>
          <a:prstGeom prst="rect">
            <a:avLst/>
          </a:prstGeom>
          <a:noFill/>
          <a:ln/>
        </p:spPr>
        <p:txBody>
          <a:bodyPr wrap="square" lIns="0" tIns="0" rIns="0" bIns="0" rtlCol="0" anchor="ctr"/>
          <a:lstStyle/>
          <a:p>
            <a:pPr algn="ctr" indent="0" marL="0">
              <a:buNone/>
            </a:pPr>
            <a:r>
              <a:rPr lang="en-US" sz="1200" b="1" dirty="0">
                <a:solidFill>
                  <a:schemeClr val="bg1"/>
                </a:solidFill>
              </a:rPr>
              <a:t>VMC gambe</a:t>
            </a:r>
            <a:endParaRPr lang="en-US" sz="1200" dirty="0"/>
          </a:p>
          <a:p>
            <a:pPr algn="ctr" indent="0" marL="0">
              <a:buNone/>
            </a:pPr>
            <a:r>
              <a:rPr lang="en-US" sz="1200" b="1" dirty="0">
                <a:solidFill>
                  <a:schemeClr val="bg1"/>
                </a:solidFill>
              </a:rPr>
              <a:t>500 Hz</a:t>
            </a:r>
            <a:endParaRPr lang="en-US" sz="1200" dirty="0"/>
          </a:p>
        </p:txBody>
      </p:sp>
      <p:sp>
        <p:nvSpPr>
          <p:cNvPr id="15" name="Shape 13"/>
          <p:cNvSpPr/>
          <p:nvPr/>
        </p:nvSpPr>
        <p:spPr>
          <a:xfrm>
            <a:off x="9235440" y="2743200"/>
            <a:ext cx="2404872" cy="914400"/>
          </a:xfrm>
          <a:prstGeom prst="roundRect">
            <a:avLst>
              <a:gd name="adj" fmla="val 8000"/>
            </a:avLst>
          </a:prstGeom>
          <a:solidFill>
            <a:schemeClr val="tx2"/>
          </a:solidFill>
          <a:ln w="12700">
            <a:solidFill>
              <a:schemeClr val="tx2"/>
            </a:solidFill>
            <a:prstDash val="solid"/>
          </a:ln>
        </p:spPr>
      </p:sp>
      <p:sp>
        <p:nvSpPr>
          <p:cNvPr id="16" name="Text 14"/>
          <p:cNvSpPr txBox="1"/>
          <p:nvPr/>
        </p:nvSpPr>
        <p:spPr>
          <a:xfrm>
            <a:off x="9308592" y="2743200"/>
            <a:ext cx="2258568" cy="914400"/>
          </a:xfrm>
          <a:prstGeom prst="rect">
            <a:avLst/>
          </a:prstGeom>
          <a:noFill/>
          <a:ln/>
        </p:spPr>
        <p:txBody>
          <a:bodyPr wrap="square" lIns="0" tIns="0" rIns="0" bIns="0" rtlCol="0" anchor="ctr"/>
          <a:lstStyle/>
          <a:p>
            <a:pPr algn="ctr" indent="0" marL="0">
              <a:buNone/>
            </a:pPr>
            <a:r>
              <a:rPr lang="en-US" sz="1200" b="1" dirty="0">
                <a:solidFill>
                  <a:schemeClr val="bg1"/>
                </a:solidFill>
              </a:rPr>
              <a:t>Gambe τ</a:t>
            </a:r>
            <a:r>
              <a:rPr lang="en-US" sz="1200" b="1" baseline="-40000" dirty="0">
                <a:solidFill>
                  <a:schemeClr val="bg1"/>
                </a:solidFill>
              </a:rPr>
              <a:t>hip</a:t>
            </a:r>
            <a:r>
              <a:rPr lang="en-US" sz="1200" b="1" dirty="0">
                <a:solidFill>
                  <a:schemeClr val="bg1"/>
                </a:solidFill>
              </a:rPr>
              <a:t>, τ</a:t>
            </a:r>
            <a:r>
              <a:rPr lang="en-US" sz="1200" b="1" baseline="-40000" dirty="0">
                <a:solidFill>
                  <a:schemeClr val="bg1"/>
                </a:solidFill>
              </a:rPr>
              <a:t>knee</a:t>
            </a:r>
            <a:endParaRPr lang="en-US" sz="1200" dirty="0"/>
          </a:p>
        </p:txBody>
      </p:sp>
      <p:sp>
        <p:nvSpPr>
          <p:cNvPr id="17" name="Shape 15"/>
          <p:cNvSpPr/>
          <p:nvPr/>
        </p:nvSpPr>
        <p:spPr>
          <a:xfrm>
            <a:off x="3291840" y="2743200"/>
            <a:ext cx="2468880" cy="914400"/>
          </a:xfrm>
          <a:prstGeom prst="roundRect">
            <a:avLst>
              <a:gd name="adj" fmla="val 8000"/>
            </a:avLst>
          </a:prstGeom>
          <a:solidFill>
            <a:schemeClr val="bg2"/>
          </a:solidFill>
          <a:ln w="15875">
            <a:solidFill>
              <a:schemeClr val="accent2"/>
            </a:solidFill>
            <a:prstDash val="solid"/>
          </a:ln>
        </p:spPr>
      </p:sp>
      <p:sp>
        <p:nvSpPr>
          <p:cNvPr id="18" name="Text 16"/>
          <p:cNvSpPr txBox="1"/>
          <p:nvPr/>
        </p:nvSpPr>
        <p:spPr>
          <a:xfrm>
            <a:off x="3364992" y="2743200"/>
            <a:ext cx="2322576" cy="914400"/>
          </a:xfrm>
          <a:prstGeom prst="rect">
            <a:avLst/>
          </a:prstGeom>
          <a:noFill/>
          <a:ln/>
        </p:spPr>
        <p:txBody>
          <a:bodyPr wrap="square" lIns="0" tIns="0" rIns="0" bIns="0" rtlCol="0" anchor="ctr"/>
          <a:lstStyle/>
          <a:p>
            <a:pPr algn="ctr" indent="0" marL="0">
              <a:buNone/>
            </a:pPr>
            <a:r>
              <a:rPr lang="en-US" sz="1200" dirty="0">
                <a:solidFill>
                  <a:schemeClr val="tx1"/>
                </a:solidFill>
              </a:rPr>
              <a:t>IMU + encoder</a:t>
            </a:r>
            <a:endParaRPr lang="en-US" sz="1200" dirty="0"/>
          </a:p>
          <a:p>
            <a:pPr algn="ctr" indent="0" marL="0">
              <a:buNone/>
            </a:pPr>
            <a:r>
              <a:rPr lang="en-US" sz="1200" dirty="0">
                <a:solidFill>
                  <a:schemeClr val="tx1"/>
                </a:solidFill>
              </a:rPr>
              <a:t>→ Kalman</a:t>
            </a:r>
            <a:endParaRPr lang="en-US" sz="1200" dirty="0"/>
          </a:p>
        </p:txBody>
      </p:sp>
      <p:sp>
        <p:nvSpPr>
          <p:cNvPr id="19" name="Shape 17"/>
          <p:cNvSpPr/>
          <p:nvPr/>
        </p:nvSpPr>
        <p:spPr>
          <a:xfrm>
            <a:off x="2926080" y="1920240"/>
            <a:ext cx="365760" cy="91"/>
          </a:xfrm>
          <a:prstGeom prst="line">
            <a:avLst/>
          </a:prstGeom>
          <a:noFill/>
          <a:ln w="19050">
            <a:solidFill>
              <a:schemeClr val="accent4"/>
            </a:solidFill>
            <a:prstDash val="solid"/>
            <a:tailEnd type="triangle"/>
          </a:ln>
        </p:spPr>
      </p:sp>
      <p:sp>
        <p:nvSpPr>
          <p:cNvPr id="20" name="Shape 18"/>
          <p:cNvSpPr/>
          <p:nvPr/>
        </p:nvSpPr>
        <p:spPr>
          <a:xfrm>
            <a:off x="5760720" y="1920240"/>
            <a:ext cx="640080" cy="91"/>
          </a:xfrm>
          <a:prstGeom prst="line">
            <a:avLst/>
          </a:prstGeom>
          <a:noFill/>
          <a:ln w="19050">
            <a:solidFill>
              <a:schemeClr val="accent4"/>
            </a:solidFill>
            <a:prstDash val="solid"/>
            <a:tailEnd type="triangle"/>
          </a:ln>
        </p:spPr>
      </p:sp>
      <p:sp>
        <p:nvSpPr>
          <p:cNvPr id="21" name="Shape 19"/>
          <p:cNvSpPr/>
          <p:nvPr/>
        </p:nvSpPr>
        <p:spPr>
          <a:xfrm>
            <a:off x="8869680" y="1920240"/>
            <a:ext cx="365760" cy="91"/>
          </a:xfrm>
          <a:prstGeom prst="line">
            <a:avLst/>
          </a:prstGeom>
          <a:noFill/>
          <a:ln w="19050">
            <a:solidFill>
              <a:schemeClr val="accent4"/>
            </a:solidFill>
            <a:prstDash val="solid"/>
            <a:tailEnd type="triangle"/>
          </a:ln>
        </p:spPr>
      </p:sp>
      <p:sp>
        <p:nvSpPr>
          <p:cNvPr id="22" name="Shape 20"/>
          <p:cNvSpPr/>
          <p:nvPr/>
        </p:nvSpPr>
        <p:spPr>
          <a:xfrm>
            <a:off x="8869680" y="3200400"/>
            <a:ext cx="365760" cy="91"/>
          </a:xfrm>
          <a:prstGeom prst="line">
            <a:avLst/>
          </a:prstGeom>
          <a:noFill/>
          <a:ln w="19050">
            <a:solidFill>
              <a:schemeClr val="accent4"/>
            </a:solidFill>
            <a:prstDash val="solid"/>
            <a:tailEnd type="triangle"/>
          </a:ln>
        </p:spPr>
      </p:sp>
      <p:sp>
        <p:nvSpPr>
          <p:cNvPr id="23" name="Shape 21"/>
          <p:cNvSpPr/>
          <p:nvPr/>
        </p:nvSpPr>
        <p:spPr>
          <a:xfrm>
            <a:off x="5760720" y="3200400"/>
            <a:ext cx="640080" cy="91"/>
          </a:xfrm>
          <a:prstGeom prst="line">
            <a:avLst/>
          </a:prstGeom>
          <a:noFill/>
          <a:ln w="19050">
            <a:solidFill>
              <a:schemeClr val="accent4"/>
            </a:solidFill>
            <a:prstDash val="solid"/>
            <a:tailEnd type="triangle"/>
          </a:ln>
        </p:spPr>
      </p:sp>
      <p:sp>
        <p:nvSpPr>
          <p:cNvPr id="24" name="Shape 22"/>
          <p:cNvSpPr/>
          <p:nvPr/>
        </p:nvSpPr>
        <p:spPr>
          <a:xfrm>
            <a:off x="6035040" y="1920240"/>
            <a:ext cx="91" cy="1005840"/>
          </a:xfrm>
          <a:prstGeom prst="line">
            <a:avLst/>
          </a:prstGeom>
          <a:noFill/>
          <a:ln w="19050">
            <a:solidFill>
              <a:schemeClr val="accent4"/>
            </a:solidFill>
            <a:prstDash val="solid"/>
          </a:ln>
        </p:spPr>
      </p:sp>
      <p:sp>
        <p:nvSpPr>
          <p:cNvPr id="25" name="Shape 23"/>
          <p:cNvSpPr/>
          <p:nvPr/>
        </p:nvSpPr>
        <p:spPr>
          <a:xfrm>
            <a:off x="6035040" y="2926080"/>
            <a:ext cx="365760" cy="91"/>
          </a:xfrm>
          <a:prstGeom prst="line">
            <a:avLst/>
          </a:prstGeom>
          <a:noFill/>
          <a:ln w="19050">
            <a:solidFill>
              <a:schemeClr val="accent4"/>
            </a:solidFill>
            <a:prstDash val="solid"/>
            <a:tailEnd type="triangle"/>
          </a:ln>
        </p:spPr>
      </p:sp>
      <p:sp>
        <p:nvSpPr>
          <p:cNvPr id="26" name="Text 24"/>
          <p:cNvSpPr txBox="1"/>
          <p:nvPr/>
        </p:nvSpPr>
        <p:spPr>
          <a:xfrm>
            <a:off x="5394960" y="1097280"/>
            <a:ext cx="1828800" cy="274320"/>
          </a:xfrm>
          <a:prstGeom prst="rect">
            <a:avLst/>
          </a:prstGeom>
          <a:noFill/>
          <a:ln/>
        </p:spPr>
        <p:txBody>
          <a:bodyPr wrap="square" lIns="0" tIns="0" rIns="0" bIns="0" rtlCol="0" anchor="t"/>
          <a:lstStyle/>
          <a:p>
            <a:pPr algn="ctr" indent="0" marL="0">
              <a:buNone/>
            </a:pPr>
            <a:r>
              <a:rPr lang="en-US" sz="1100" dirty="0">
                <a:solidFill>
                  <a:schemeClr val="accent4"/>
                </a:solidFill>
              </a:rPr>
              <a:t>Δs, F</a:t>
            </a:r>
            <a:r>
              <a:rPr lang="en-US" sz="1100" baseline="-40000" dirty="0">
                <a:solidFill>
                  <a:schemeClr val="accent4"/>
                </a:solidFill>
              </a:rPr>
              <a:t>z</a:t>
            </a:r>
            <a:r>
              <a:rPr lang="en-US" sz="1100" dirty="0">
                <a:solidFill>
                  <a:schemeClr val="accent4"/>
                </a:solidFill>
              </a:rPr>
              <a:t>, piano CoM</a:t>
            </a:r>
            <a:endParaRPr lang="en-US" sz="1100" dirty="0"/>
          </a:p>
        </p:txBody>
      </p:sp>
      <p:sp>
        <p:nvSpPr>
          <p:cNvPr id="27" name="Shape 25"/>
          <p:cNvSpPr/>
          <p:nvPr/>
        </p:nvSpPr>
        <p:spPr>
          <a:xfrm>
            <a:off x="548640" y="4023360"/>
            <a:ext cx="3520440" cy="1828800"/>
          </a:xfrm>
          <a:prstGeom prst="roundRect">
            <a:avLst>
              <a:gd name="adj" fmla="val 4000"/>
            </a:avLst>
          </a:prstGeom>
          <a:solidFill>
            <a:schemeClr val="bg2"/>
          </a:solidFill>
          <a:ln w="12700">
            <a:solidFill>
              <a:schemeClr val="bg2"/>
            </a:solidFill>
            <a:prstDash val="solid"/>
          </a:ln>
        </p:spPr>
      </p:sp>
      <p:sp>
        <p:nvSpPr>
          <p:cNvPr id="28" name="Shape 26"/>
          <p:cNvSpPr/>
          <p:nvPr/>
        </p:nvSpPr>
        <p:spPr>
          <a:xfrm>
            <a:off x="731520" y="4206240"/>
            <a:ext cx="420624" cy="420624"/>
          </a:xfrm>
          <a:prstGeom prst="ellipse">
            <a:avLst/>
          </a:prstGeom>
          <a:solidFill>
            <a:schemeClr val="accent2"/>
          </a:solidFill>
          <a:ln w="12700">
            <a:solidFill>
              <a:schemeClr val="accent2"/>
            </a:solidFill>
            <a:prstDash val="solid"/>
          </a:ln>
        </p:spPr>
      </p:sp>
      <p:sp>
        <p:nvSpPr>
          <p:cNvPr id="29" name="Text 27"/>
          <p:cNvSpPr txBox="1"/>
          <p:nvPr/>
        </p:nvSpPr>
        <p:spPr>
          <a:xfrm>
            <a:off x="731520" y="42062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30" name="Text 28"/>
          <p:cNvSpPr txBox="1"/>
          <p:nvPr/>
        </p:nvSpPr>
        <p:spPr>
          <a:xfrm>
            <a:off x="1280160" y="420624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Equilibrio: veloce e instabile</a:t>
            </a:r>
            <a:endParaRPr lang="en-US" sz="1500" dirty="0"/>
          </a:p>
        </p:txBody>
      </p:sp>
      <p:sp>
        <p:nvSpPr>
          <p:cNvPr id="31" name="Text 29"/>
          <p:cNvSpPr txBox="1"/>
          <p:nvPr/>
        </p:nvSpPr>
        <p:spPr>
          <a:xfrm>
            <a:off x="777240" y="4754880"/>
            <a:ext cx="3108960" cy="960120"/>
          </a:xfrm>
          <a:prstGeom prst="rect">
            <a:avLst/>
          </a:prstGeom>
          <a:noFill/>
          <a:ln/>
        </p:spPr>
        <p:txBody>
          <a:bodyPr wrap="square" lIns="0" tIns="0" rIns="0" bIns="0" rtlCol="0" anchor="t"/>
          <a:lstStyle/>
          <a:p>
            <a:pPr algn="l" indent="0" marL="0">
              <a:buNone/>
            </a:pPr>
            <a:r>
              <a:rPr lang="en-US" sz="1300" dirty="0">
                <a:solidFill>
                  <a:schemeClr val="tx1"/>
                </a:solidFill>
              </a:rPr>
              <a:t>Modello lineare a parametri variabili (l): LQR ricalcolato in l, una moltiplicazione matrice-vettore.</a:t>
            </a:r>
            <a:endParaRPr lang="en-US" sz="1300" dirty="0"/>
          </a:p>
        </p:txBody>
      </p:sp>
      <p:sp>
        <p:nvSpPr>
          <p:cNvPr id="32" name="Shape 30"/>
          <p:cNvSpPr/>
          <p:nvPr/>
        </p:nvSpPr>
        <p:spPr>
          <a:xfrm>
            <a:off x="4325112" y="4023360"/>
            <a:ext cx="3520440" cy="1828800"/>
          </a:xfrm>
          <a:prstGeom prst="roundRect">
            <a:avLst>
              <a:gd name="adj" fmla="val 4000"/>
            </a:avLst>
          </a:prstGeom>
          <a:solidFill>
            <a:schemeClr val="bg2"/>
          </a:solidFill>
          <a:ln w="12700">
            <a:solidFill>
              <a:schemeClr val="bg2"/>
            </a:solidFill>
            <a:prstDash val="solid"/>
          </a:ln>
        </p:spPr>
      </p:sp>
      <p:sp>
        <p:nvSpPr>
          <p:cNvPr id="33" name="Shape 31"/>
          <p:cNvSpPr/>
          <p:nvPr/>
        </p:nvSpPr>
        <p:spPr>
          <a:xfrm>
            <a:off x="4507992" y="4206240"/>
            <a:ext cx="420624" cy="420624"/>
          </a:xfrm>
          <a:prstGeom prst="ellipse">
            <a:avLst/>
          </a:prstGeom>
          <a:solidFill>
            <a:schemeClr val="accent2"/>
          </a:solidFill>
          <a:ln w="12700">
            <a:solidFill>
              <a:schemeClr val="accent2"/>
            </a:solidFill>
            <a:prstDash val="solid"/>
          </a:ln>
        </p:spPr>
      </p:sp>
      <p:sp>
        <p:nvSpPr>
          <p:cNvPr id="34" name="Text 32"/>
          <p:cNvSpPr txBox="1"/>
          <p:nvPr/>
        </p:nvSpPr>
        <p:spPr>
          <a:xfrm>
            <a:off x="4507992" y="42062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P</a:t>
            </a:r>
            <a:endParaRPr lang="en-US" sz="1400" dirty="0"/>
          </a:p>
        </p:txBody>
      </p:sp>
      <p:sp>
        <p:nvSpPr>
          <p:cNvPr id="35" name="Text 33"/>
          <p:cNvSpPr txBox="1"/>
          <p:nvPr/>
        </p:nvSpPr>
        <p:spPr>
          <a:xfrm>
            <a:off x="5056632" y="420624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Postura: lenta e vincolata</a:t>
            </a:r>
            <a:endParaRPr lang="en-US" sz="1500" dirty="0"/>
          </a:p>
        </p:txBody>
      </p:sp>
      <p:sp>
        <p:nvSpPr>
          <p:cNvPr id="36" name="Text 34"/>
          <p:cNvSpPr txBox="1"/>
          <p:nvPr/>
        </p:nvSpPr>
        <p:spPr>
          <a:xfrm>
            <a:off x="4553712" y="4754880"/>
            <a:ext cx="3108960" cy="960120"/>
          </a:xfrm>
          <a:prstGeom prst="rect">
            <a:avLst/>
          </a:prstGeom>
          <a:noFill/>
          <a:ln/>
        </p:spPr>
        <p:txBody>
          <a:bodyPr wrap="square" lIns="0" tIns="0" rIns="0" bIns="0" rtlCol="0" anchor="t"/>
          <a:lstStyle/>
          <a:p>
            <a:pPr algn="l" indent="0" marL="0">
              <a:buNone/>
            </a:pPr>
            <a:r>
              <a:rPr lang="en-US" sz="1300" dirty="0">
                <a:solidFill>
                  <a:schemeClr val="tx1"/>
                </a:solidFill>
              </a:rPr>
              <a:t>Dove mettere il CoM e quanta forza chiedere alle gambe: vincoli di attrito, area di lavoro, F</a:t>
            </a:r>
            <a:r>
              <a:rPr lang="en-US" sz="1300" baseline="-40000" dirty="0">
                <a:solidFill>
                  <a:schemeClr val="tx1"/>
                </a:solidFill>
              </a:rPr>
              <a:t>z</a:t>
            </a:r>
            <a:r>
              <a:rPr lang="en-US" sz="1300" dirty="0">
                <a:solidFill>
                  <a:schemeClr val="tx1"/>
                </a:solidFill>
              </a:rPr>
              <a:t>.</a:t>
            </a:r>
            <a:endParaRPr lang="en-US" sz="1300" dirty="0"/>
          </a:p>
        </p:txBody>
      </p:sp>
      <p:sp>
        <p:nvSpPr>
          <p:cNvPr id="37" name="Shape 35"/>
          <p:cNvSpPr/>
          <p:nvPr/>
        </p:nvSpPr>
        <p:spPr>
          <a:xfrm>
            <a:off x="8101584" y="4023360"/>
            <a:ext cx="3520440" cy="1828800"/>
          </a:xfrm>
          <a:prstGeom prst="roundRect">
            <a:avLst>
              <a:gd name="adj" fmla="val 4000"/>
            </a:avLst>
          </a:prstGeom>
          <a:solidFill>
            <a:schemeClr val="bg2"/>
          </a:solidFill>
          <a:ln w="12700">
            <a:solidFill>
              <a:schemeClr val="bg2"/>
            </a:solidFill>
            <a:prstDash val="solid"/>
          </a:ln>
        </p:spPr>
      </p:sp>
      <p:sp>
        <p:nvSpPr>
          <p:cNvPr id="38" name="Shape 36"/>
          <p:cNvSpPr/>
          <p:nvPr/>
        </p:nvSpPr>
        <p:spPr>
          <a:xfrm>
            <a:off x="8284464" y="4206240"/>
            <a:ext cx="420624" cy="420624"/>
          </a:xfrm>
          <a:prstGeom prst="ellipse">
            <a:avLst/>
          </a:prstGeom>
          <a:solidFill>
            <a:schemeClr val="accent2"/>
          </a:solidFill>
          <a:ln w="12700">
            <a:solidFill>
              <a:schemeClr val="accent2"/>
            </a:solidFill>
            <a:prstDash val="solid"/>
          </a:ln>
        </p:spPr>
      </p:sp>
      <p:sp>
        <p:nvSpPr>
          <p:cNvPr id="39" name="Text 37"/>
          <p:cNvSpPr txBox="1"/>
          <p:nvPr/>
        </p:nvSpPr>
        <p:spPr>
          <a:xfrm>
            <a:off x="8284464" y="420624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V</a:t>
            </a:r>
            <a:endParaRPr lang="en-US" sz="1300" dirty="0"/>
          </a:p>
        </p:txBody>
      </p:sp>
      <p:sp>
        <p:nvSpPr>
          <p:cNvPr id="40" name="Text 38"/>
          <p:cNvSpPr txBox="1"/>
          <p:nvPr/>
        </p:nvSpPr>
        <p:spPr>
          <a:xfrm>
            <a:off x="8833104" y="420624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Gambe: modello virtuale</a:t>
            </a:r>
            <a:endParaRPr lang="en-US" sz="1500" dirty="0"/>
          </a:p>
        </p:txBody>
      </p:sp>
      <p:sp>
        <p:nvSpPr>
          <p:cNvPr id="41" name="Text 39"/>
          <p:cNvSpPr txBox="1"/>
          <p:nvPr/>
        </p:nvSpPr>
        <p:spPr>
          <a:xfrm>
            <a:off x="8330184" y="4754880"/>
            <a:ext cx="3108960" cy="960120"/>
          </a:xfrm>
          <a:prstGeom prst="rect">
            <a:avLst/>
          </a:prstGeom>
          <a:noFill/>
          <a:ln/>
        </p:spPr>
        <p:txBody>
          <a:bodyPr wrap="square" lIns="0" tIns="0" rIns="0" bIns="0" rtlCol="0" anchor="t"/>
          <a:lstStyle/>
          <a:p>
            <a:pPr algn="l" indent="0" marL="0">
              <a:buNone/>
            </a:pPr>
            <a:r>
              <a:rPr lang="en-US" sz="1300" dirty="0">
                <a:solidFill>
                  <a:schemeClr val="tx1"/>
                </a:solidFill>
              </a:rPr>
              <a:t>Molla-smorzatore virtuale al piede più forza verticale: niente dinamica inversa in appoggio.</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TV-LQR: pesi letti alla Bryson</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4 · MPC + TV-LQR</a:t>
            </a:r>
            <a:endParaRPr lang="en-US" sz="1200" dirty="0"/>
          </a:p>
        </p:txBody>
      </p:sp>
      <p:pic>
        <p:nvPicPr>
          <p:cNvPr id="5" name="Image 0" descr="Formula: lqr">    </p:cNvPr>
          <p:cNvPicPr>
            <a:picLocks noChangeAspect="1"/>
          </p:cNvPicPr>
          <p:nvPr/>
        </p:nvPicPr>
        <p:blipFill>
          <a:blip r:embed="rId1"/>
          <a:stretch>
            <a:fillRect/>
          </a:stretch>
        </p:blipFill>
        <p:spPr>
          <a:xfrm>
            <a:off x="548640" y="1371600"/>
            <a:ext cx="5394960" cy="944095"/>
          </a:xfrm>
          <a:prstGeom prst="rect">
            <a:avLst/>
          </a:prstGeom>
        </p:spPr>
      </p:pic>
      <p:pic>
        <p:nvPicPr>
          <p:cNvPr id="6" name="Image 1" descr="Formula: pesi_lqr">    </p:cNvPr>
          <p:cNvPicPr>
            <a:picLocks noChangeAspect="1"/>
          </p:cNvPicPr>
          <p:nvPr/>
        </p:nvPicPr>
        <p:blipFill>
          <a:blip r:embed="rId2"/>
          <a:stretch>
            <a:fillRect/>
          </a:stretch>
        </p:blipFill>
        <p:spPr>
          <a:xfrm>
            <a:off x="548640" y="2743200"/>
            <a:ext cx="10984544" cy="685800"/>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6949440" cy="914400"/>
        </p:xfrm>
        <a:graphic>
          <a:graphicData uri="http://schemas.openxmlformats.org/drawingml/2006/table">
            <a:tbl>
              <a:tblPr/>
              <a:tblGrid>
                <a:gridCol w="1051560"/>
                <a:gridCol w="868680"/>
                <a:gridCol w="1417320"/>
                <a:gridCol w="868680"/>
                <a:gridCol w="914400"/>
                <a:gridCol w="914400"/>
                <a:gridCol w="914400"/>
              </a:tblGrid>
              <a:tr h="384048">
                <a:tc>
                  <a:txBody>
                    <a:bodyPr/>
                    <a:lstStyle/>
                    <a:p>
                      <a:pPr algn="l" indent="0" marL="0">
                        <a:buNone/>
                      </a:pPr>
                      <a:r>
                        <a:rPr lang="en-US" sz="1200" b="1" dirty="0">
                          <a:solidFill>
                            <a:schemeClr val="bg1"/>
                          </a:solidFill>
                        </a:rPr>
                        <a:t>Stato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s</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θ</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φ</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ṡ</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θ̇</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φ̇</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r>
              <a:tr h="384048">
                <a:tc>
                  <a:txBody>
                    <a:bodyPr/>
                    <a:lstStyle/>
                    <a:p>
                      <a:pPr algn="l" indent="0" marL="0">
                        <a:buNone/>
                      </a:pPr>
                      <a:r>
                        <a:rPr lang="en-US" sz="1200" dirty="0">
                          <a:solidFill>
                            <a:schemeClr val="tx1"/>
                          </a:solidFill>
                        </a:rPr>
                        <a:t>q</a:t>
                      </a:r>
                      <a:r>
                        <a:rPr lang="en-US" sz="1200" baseline="-40000" dirty="0">
                          <a:solidFill>
                            <a:schemeClr val="tx1"/>
                          </a:solidFill>
                        </a:rPr>
                        <a:t>ii</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30</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400</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80</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15</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6</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1/√q</a:t>
                      </a:r>
                      <a:r>
                        <a:rPr lang="en-US" sz="1200" baseline="-40000" dirty="0">
                          <a:solidFill>
                            <a:schemeClr val="tx1"/>
                          </a:solidFill>
                        </a:rPr>
                        <a:t>ii</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0,18 m</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0,050 rad (2,9°)</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0,11 rad</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0,26 m/s</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0,41 rad/s</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0,71 rad/s</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bl>
          </a:graphicData>
        </a:graphic>
      </p:graphicFrame>
      <p:sp>
        <p:nvSpPr>
          <p:cNvPr id="8" name="Shape 3"/>
          <p:cNvSpPr/>
          <p:nvPr/>
        </p:nvSpPr>
        <p:spPr>
          <a:xfrm>
            <a:off x="6263640" y="1371600"/>
            <a:ext cx="5376672" cy="1188720"/>
          </a:xfrm>
          <a:prstGeom prst="roundRect">
            <a:avLst>
              <a:gd name="adj" fmla="val 6154"/>
            </a:avLst>
          </a:prstGeom>
          <a:solidFill>
            <a:schemeClr val="bg2"/>
          </a:solidFill>
          <a:ln w="12700">
            <a:solidFill>
              <a:schemeClr val="bg2"/>
            </a:solidFill>
            <a:prstDash val="solid"/>
          </a:ln>
        </p:spPr>
      </p:sp>
      <p:sp>
        <p:nvSpPr>
          <p:cNvPr id="9" name="Shape 4"/>
          <p:cNvSpPr/>
          <p:nvPr/>
        </p:nvSpPr>
        <p:spPr>
          <a:xfrm>
            <a:off x="6446520" y="1554480"/>
            <a:ext cx="420624" cy="420624"/>
          </a:xfrm>
          <a:prstGeom prst="ellipse">
            <a:avLst/>
          </a:prstGeom>
          <a:solidFill>
            <a:schemeClr val="accent2"/>
          </a:solidFill>
          <a:ln w="12700">
            <a:solidFill>
              <a:schemeClr val="accent2"/>
            </a:solidFill>
            <a:prstDash val="solid"/>
          </a:ln>
        </p:spPr>
      </p:sp>
      <p:sp>
        <p:nvSpPr>
          <p:cNvPr id="10" name="Text 5"/>
          <p:cNvSpPr txBox="1"/>
          <p:nvPr/>
        </p:nvSpPr>
        <p:spPr>
          <a:xfrm>
            <a:off x="6446520" y="15544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θ</a:t>
            </a:r>
            <a:endParaRPr lang="en-US" sz="1300" dirty="0"/>
          </a:p>
        </p:txBody>
      </p:sp>
      <p:sp>
        <p:nvSpPr>
          <p:cNvPr id="11" name="Text 6"/>
          <p:cNvSpPr txBox="1"/>
          <p:nvPr/>
        </p:nvSpPr>
        <p:spPr>
          <a:xfrm>
            <a:off x="6995160" y="1554480"/>
            <a:ext cx="4462272" cy="420624"/>
          </a:xfrm>
          <a:prstGeom prst="rect">
            <a:avLst/>
          </a:prstGeom>
          <a:noFill/>
          <a:ln/>
        </p:spPr>
        <p:txBody>
          <a:bodyPr wrap="square" lIns="0" tIns="0" rIns="0" bIns="0" rtlCol="0" anchor="ctr"/>
          <a:lstStyle/>
          <a:p>
            <a:pPr algn="l" indent="0" marL="0">
              <a:buNone/>
            </a:pPr>
            <a:r>
              <a:rPr lang="en-US" sz="1500" b="1" dirty="0">
                <a:solidFill>
                  <a:schemeClr val="tx2"/>
                </a:solidFill>
              </a:rPr>
              <a:t>Priorità all'inclinazione</a:t>
            </a:r>
            <a:endParaRPr lang="en-US" sz="1500" dirty="0"/>
          </a:p>
        </p:txBody>
      </p:sp>
      <p:sp>
        <p:nvSpPr>
          <p:cNvPr id="12" name="Text 7"/>
          <p:cNvSpPr txBox="1"/>
          <p:nvPr/>
        </p:nvSpPr>
        <p:spPr>
          <a:xfrm>
            <a:off x="6492240" y="2103120"/>
            <a:ext cx="4965192" cy="320040"/>
          </a:xfrm>
          <a:prstGeom prst="rect">
            <a:avLst/>
          </a:prstGeom>
          <a:noFill/>
          <a:ln/>
        </p:spPr>
        <p:txBody>
          <a:bodyPr wrap="square" lIns="0" tIns="0" rIns="0" bIns="0" rtlCol="0" anchor="t"/>
          <a:lstStyle/>
          <a:p>
            <a:pPr algn="l" indent="0" marL="0">
              <a:buNone/>
            </a:pPr>
            <a:r>
              <a:rPr lang="en-US" sz="1300" dirty="0">
                <a:solidFill>
                  <a:schemeClr val="tx1"/>
                </a:solidFill>
              </a:rPr>
              <a:t>La posizione è accettata a decine di cm: il robot cede in traslazione per non cadere.</a:t>
            </a:r>
            <a:endParaRPr lang="en-US" sz="1300" dirty="0"/>
          </a:p>
        </p:txBody>
      </p:sp>
      <p:sp>
        <p:nvSpPr>
          <p:cNvPr id="13" name="Shape 8"/>
          <p:cNvSpPr/>
          <p:nvPr/>
        </p:nvSpPr>
        <p:spPr>
          <a:xfrm>
            <a:off x="7772400" y="3703320"/>
            <a:ext cx="3867912" cy="2148840"/>
          </a:xfrm>
          <a:prstGeom prst="roundRect">
            <a:avLst>
              <a:gd name="adj" fmla="val 3404"/>
            </a:avLst>
          </a:prstGeom>
          <a:solidFill>
            <a:schemeClr val="bg2"/>
          </a:solidFill>
          <a:ln w="12700">
            <a:solidFill>
              <a:schemeClr val="bg2"/>
            </a:solidFill>
            <a:prstDash val="solid"/>
          </a:ln>
        </p:spPr>
      </p:sp>
      <p:sp>
        <p:nvSpPr>
          <p:cNvPr id="14" name="Shape 9"/>
          <p:cNvSpPr/>
          <p:nvPr/>
        </p:nvSpPr>
        <p:spPr>
          <a:xfrm>
            <a:off x="7955280" y="3886200"/>
            <a:ext cx="420624" cy="420624"/>
          </a:xfrm>
          <a:prstGeom prst="ellipse">
            <a:avLst/>
          </a:prstGeom>
          <a:solidFill>
            <a:schemeClr val="accent2"/>
          </a:solidFill>
          <a:ln w="12700">
            <a:solidFill>
              <a:schemeClr val="accent2"/>
            </a:solidFill>
            <a:prstDash val="solid"/>
          </a:ln>
        </p:spPr>
      </p:sp>
      <p:sp>
        <p:nvSpPr>
          <p:cNvPr id="15" name="Text 10"/>
          <p:cNvSpPr txBox="1"/>
          <p:nvPr/>
        </p:nvSpPr>
        <p:spPr>
          <a:xfrm>
            <a:off x="7955280" y="388620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R</a:t>
            </a:r>
            <a:endParaRPr lang="en-US" sz="1300" dirty="0"/>
          </a:p>
        </p:txBody>
      </p:sp>
      <p:sp>
        <p:nvSpPr>
          <p:cNvPr id="16" name="Text 11"/>
          <p:cNvSpPr txBox="1"/>
          <p:nvPr/>
        </p:nvSpPr>
        <p:spPr>
          <a:xfrm>
            <a:off x="8503920" y="3886200"/>
            <a:ext cx="2953512" cy="420624"/>
          </a:xfrm>
          <a:prstGeom prst="rect">
            <a:avLst/>
          </a:prstGeom>
          <a:noFill/>
          <a:ln/>
        </p:spPr>
        <p:txBody>
          <a:bodyPr wrap="square" lIns="0" tIns="0" rIns="0" bIns="0" rtlCol="0" anchor="ctr"/>
          <a:lstStyle/>
          <a:p>
            <a:pPr algn="l" indent="0" marL="0">
              <a:buNone/>
            </a:pPr>
            <a:r>
              <a:rPr lang="en-US" sz="1500" b="1" dirty="0">
                <a:solidFill>
                  <a:schemeClr val="tx2"/>
                </a:solidFill>
              </a:rPr>
              <a:t>Differenziale ×50</a:t>
            </a:r>
            <a:endParaRPr lang="en-US" sz="1500" dirty="0"/>
          </a:p>
        </p:txBody>
      </p:sp>
      <p:sp>
        <p:nvSpPr>
          <p:cNvPr id="17" name="Text 12"/>
          <p:cNvSpPr txBox="1"/>
          <p:nvPr/>
        </p:nvSpPr>
        <p:spPr>
          <a:xfrm>
            <a:off x="8001000" y="4434840"/>
            <a:ext cx="3456432" cy="1280160"/>
          </a:xfrm>
          <a:prstGeom prst="rect">
            <a:avLst/>
          </a:prstGeom>
          <a:noFill/>
          <a:ln/>
        </p:spPr>
        <p:txBody>
          <a:bodyPr wrap="square" lIns="0" tIns="0" rIns="0" bIns="0" rtlCol="0" anchor="t"/>
          <a:lstStyle/>
          <a:p>
            <a:pPr algn="l" indent="0" marL="0">
              <a:buNone/>
            </a:pPr>
            <a:r>
              <a:rPr lang="en-US" sz="1300" dirty="0">
                <a:solidFill>
                  <a:schemeClr val="tx1"/>
                </a:solidFill>
              </a:rPr>
              <a:t>Una risonanza torsionale delle gambe a 76 rad/s: con R</a:t>
            </a:r>
            <a:r>
              <a:rPr lang="en-US" sz="1300" baseline="-40000" dirty="0">
                <a:solidFill>
                  <a:schemeClr val="tx1"/>
                </a:solidFill>
              </a:rPr>
              <a:t>d</a:t>
            </a:r>
            <a:r>
              <a:rPr lang="en-US" sz="1300" dirty="0">
                <a:solidFill>
                  <a:schemeClr val="tx1"/>
                </a:solidFill>
              </a:rPr>
              <a:t> = 100 l'imbardata attraversa a 15,4 rad/s.</a:t>
            </a:r>
            <a:endParaRPr lang="en-US" sz="1300" dirty="0"/>
          </a:p>
        </p:txBody>
      </p:sp>
      <p:sp>
        <p:nvSpPr>
          <p:cNvPr id="18" name="Text 13"/>
          <p:cNvSpPr txBox="1"/>
          <p:nvPr/>
        </p:nvSpPr>
        <p:spPr>
          <a:xfrm>
            <a:off x="548640" y="5074920"/>
            <a:ext cx="6949440" cy="731520"/>
          </a:xfrm>
          <a:prstGeom prst="rect">
            <a:avLst/>
          </a:prstGeom>
          <a:noFill/>
          <a:ln/>
        </p:spPr>
        <p:txBody>
          <a:bodyPr wrap="square" lIns="0" tIns="0" rIns="0" bIns="0" rtlCol="0" anchor="t"/>
          <a:lstStyle/>
          <a:p>
            <a:pPr algn="l" indent="0" marL="0">
              <a:buNone/>
            </a:pPr>
            <a:r>
              <a:rPr lang="en-US" sz="1300" i="1" dirty="0">
                <a:solidFill>
                  <a:schemeClr val="accent4"/>
                </a:solidFill>
              </a:rPr>
              <a:t>R su modo comune coincide con R = I; il costo si separa in un problema sagittale e uno di imbardata.</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Guadagni, poli e scheduling su l</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4 · MPC + TV-LQR</a:t>
            </a:r>
            <a:endParaRPr lang="en-US" sz="1200" dirty="0"/>
          </a:p>
        </p:txBody>
      </p:sp>
      <p:pic>
        <p:nvPicPr>
          <p:cNvPr id="5" name="Image 0" descr="Formula: K_lqr">    </p:cNvPr>
          <p:cNvPicPr>
            <a:picLocks noChangeAspect="1"/>
          </p:cNvPicPr>
          <p:nvPr/>
        </p:nvPicPr>
        <p:blipFill>
          <a:blip r:embed="rId1"/>
          <a:stretch>
            <a:fillRect/>
          </a:stretch>
        </p:blipFill>
        <p:spPr>
          <a:xfrm>
            <a:off x="548640" y="1371600"/>
            <a:ext cx="6408193" cy="709814"/>
          </a:xfrm>
          <a:prstGeom prst="rect">
            <a:avLst/>
          </a:prstGeom>
        </p:spPr>
      </p:pic>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6949440" cy="914400"/>
        </p:xfrm>
        <a:graphic>
          <a:graphicData uri="http://schemas.openxmlformats.org/drawingml/2006/table">
            <a:tbl>
              <a:tblPr/>
              <a:tblGrid>
                <a:gridCol w="914400"/>
                <a:gridCol w="1463040"/>
                <a:gridCol w="822960"/>
                <a:gridCol w="822960"/>
                <a:gridCol w="2926080"/>
              </a:tblGrid>
              <a:tr h="411480">
                <a:tc>
                  <a:txBody>
                    <a:bodyPr/>
                    <a:lstStyle/>
                    <a:p>
                      <a:pPr algn="ctr" indent="0" marL="0">
                        <a:buNone/>
                      </a:pPr>
                      <a:r>
                        <a:rPr lang="en-US" sz="1200" b="1" dirty="0">
                          <a:solidFill>
                            <a:schemeClr val="bg1"/>
                          </a:solidFill>
                        </a:rPr>
                        <a:t>l [m]</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K</a:t>
                      </a:r>
                      <a:r>
                        <a:rPr lang="en-US" sz="1200" b="1" baseline="-40000" dirty="0">
                          <a:solidFill>
                            <a:schemeClr val="bg1"/>
                          </a:solidFill>
                        </a:rPr>
                        <a:t>θ</a:t>
                      </a:r>
                      <a:r>
                        <a:rPr lang="en-US" sz="1200" b="1" dirty="0">
                          <a:solidFill>
                            <a:schemeClr val="bg1"/>
                          </a:solidFill>
                        </a:rPr>
                        <a:t> [N·m/rad]</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K</a:t>
                      </a:r>
                      <a:r>
                        <a:rPr lang="en-US" sz="1200" b="1" baseline="-40000" dirty="0">
                          <a:solidFill>
                            <a:schemeClr val="bg1"/>
                          </a:solidFill>
                        </a:rPr>
                        <a:t>θ̇</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K</a:t>
                      </a:r>
                      <a:r>
                        <a:rPr lang="en-US" sz="1200" b="1" baseline="-40000" dirty="0">
                          <a:solidFill>
                            <a:schemeClr val="bg1"/>
                          </a:solidFill>
                        </a:rPr>
                        <a:t>ṡ</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c>
                  <a:txBody>
                    <a:bodyPr/>
                    <a:lstStyle/>
                    <a:p>
                      <a:pPr algn="l" indent="0" marL="0">
                        <a:buNone/>
                      </a:pPr>
                      <a:r>
                        <a:rPr lang="en-US" sz="1200" b="1" dirty="0">
                          <a:solidFill>
                            <a:schemeClr val="bg1"/>
                          </a:solidFill>
                        </a:rPr>
                        <a:t>Poli sagittali</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accent2"/>
                    </a:solidFill>
                  </a:tcPr>
                </a:tc>
              </a:tr>
              <a:tr h="411480">
                <a:tc>
                  <a:txBody>
                    <a:bodyPr/>
                    <a:lstStyle/>
                    <a:p>
                      <a:pPr algn="ctr" indent="0" marL="0">
                        <a:buNone/>
                      </a:pPr>
                      <a:r>
                        <a:rPr lang="en-US" sz="1200" dirty="0">
                          <a:solidFill>
                            <a:schemeClr val="tx1"/>
                          </a:solidFill>
                        </a:rPr>
                        <a:t>0,219</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21,22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3,13</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5,51</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−139,9; −8,06; −1,15±0,68j</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411480">
                <a:tc>
                  <a:txBody>
                    <a:bodyPr/>
                    <a:lstStyle/>
                    <a:p>
                      <a:pPr algn="ctr" indent="0" marL="0">
                        <a:buNone/>
                      </a:pPr>
                      <a:r>
                        <a:rPr lang="en-US" sz="1200" b="1" dirty="0">
                          <a:solidFill>
                            <a:schemeClr val="tx1"/>
                          </a:solidFill>
                        </a:rPr>
                        <a:t>0,163</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20,28</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2,78</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5,64</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tx1"/>
                          </a:solidFill>
                        </a:rPr>
                        <a:t>−179,5; −8,13; −1,08±0,68j</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411480">
                <a:tc>
                  <a:txBody>
                    <a:bodyPr/>
                    <a:lstStyle/>
                    <a:p>
                      <a:pPr algn="ctr" indent="0" marL="0">
                        <a:buNone/>
                      </a:pPr>
                      <a:r>
                        <a:rPr lang="en-US" sz="1200" dirty="0">
                          <a:solidFill>
                            <a:schemeClr val="tx1"/>
                          </a:solidFill>
                        </a:rPr>
                        <a:t>0,074</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18,43</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2,33</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6,32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−281,1; −8,16; −0,86±0,63j</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7863840" y="1325880"/>
            <a:ext cx="3749040" cy="685800"/>
          </a:xfrm>
          <a:prstGeom prst="rect">
            <a:avLst/>
          </a:prstGeom>
          <a:noFill/>
          <a:ln/>
        </p:spPr>
        <p:txBody>
          <a:bodyPr wrap="square" lIns="0" tIns="0" rIns="0" bIns="0" rtlCol="0" anchor="b"/>
          <a:lstStyle/>
          <a:p>
            <a:pPr algn="l" indent="0" marL="0">
              <a:buNone/>
            </a:pPr>
            <a:r>
              <a:rPr lang="en-US" sz="2600" b="1" dirty="0">
                <a:solidFill>
                  <a:schemeClr val="accent2"/>
                </a:solidFill>
                <a:latin typeface="Cambria" pitchFamily="34" charset="0"/>
                <a:ea typeface="Cambria" pitchFamily="34" charset="-122"/>
                <a:cs typeface="Cambria" pitchFamily="34" charset="-120"/>
              </a:rPr>
              <a:t>3,873 = √(30/2)</a:t>
            </a:r>
            <a:endParaRPr lang="en-US" sz="2600" dirty="0"/>
          </a:p>
        </p:txBody>
      </p:sp>
      <p:sp>
        <p:nvSpPr>
          <p:cNvPr id="8" name="Text 4"/>
          <p:cNvSpPr txBox="1"/>
          <p:nvPr/>
        </p:nvSpPr>
        <p:spPr>
          <a:xfrm>
            <a:off x="7863840" y="2057400"/>
            <a:ext cx="3749040" cy="640080"/>
          </a:xfrm>
          <a:prstGeom prst="rect">
            <a:avLst/>
          </a:prstGeom>
          <a:noFill/>
          <a:ln/>
        </p:spPr>
        <p:txBody>
          <a:bodyPr wrap="square" lIns="0" tIns="0" rIns="0" bIns="0" rtlCol="0" anchor="t"/>
          <a:lstStyle/>
          <a:p>
            <a:pPr algn="l" indent="0" marL="0">
              <a:buNone/>
            </a:pPr>
            <a:r>
              <a:rPr lang="en-US" sz="1200" dirty="0">
                <a:solidFill>
                  <a:schemeClr val="accent4"/>
                </a:solidFill>
              </a:rPr>
              <a:t>K</a:t>
            </a:r>
            <a:r>
              <a:rPr lang="en-US" sz="1200" baseline="-40000" dirty="0">
                <a:solidFill>
                  <a:schemeClr val="accent4"/>
                </a:solidFill>
              </a:rPr>
              <a:t>s</a:t>
            </a:r>
            <a:r>
              <a:rPr lang="en-US" sz="1200" dirty="0">
                <a:solidFill>
                  <a:schemeClr val="accent4"/>
                </a:solidFill>
              </a:rPr>
              <a:t> non dipende da l: √(q</a:t>
            </a:r>
            <a:r>
              <a:rPr lang="en-US" sz="1200" baseline="-40000" dirty="0">
                <a:solidFill>
                  <a:schemeClr val="accent4"/>
                </a:solidFill>
              </a:rPr>
              <a:t>s</a:t>
            </a:r>
            <a:r>
              <a:rPr lang="en-US" sz="1200" dirty="0">
                <a:solidFill>
                  <a:schemeClr val="accent4"/>
                </a:solidFill>
              </a:rPr>
              <a:t>/r</a:t>
            </a:r>
            <a:r>
              <a:rPr lang="en-US" sz="1200" baseline="-40000" dirty="0">
                <a:solidFill>
                  <a:schemeClr val="accent4"/>
                </a:solidFill>
              </a:rPr>
              <a:t>c</a:t>
            </a:r>
            <a:r>
              <a:rPr lang="en-US" sz="1200" dirty="0">
                <a:solidFill>
                  <a:schemeClr val="accent4"/>
                </a:solidFill>
              </a:rPr>
              <a:t>)</a:t>
            </a:r>
            <a:endParaRPr lang="en-US" sz="1200" dirty="0"/>
          </a:p>
        </p:txBody>
      </p:sp>
      <p:sp>
        <p:nvSpPr>
          <p:cNvPr id="9" name="Text 5"/>
          <p:cNvSpPr txBox="1"/>
          <p:nvPr/>
        </p:nvSpPr>
        <p:spPr>
          <a:xfrm>
            <a:off x="7863840" y="2743200"/>
            <a:ext cx="3749040" cy="685800"/>
          </a:xfrm>
          <a:prstGeom prst="rect">
            <a:avLst/>
          </a:prstGeom>
          <a:noFill/>
          <a:ln/>
        </p:spPr>
        <p:txBody>
          <a:bodyPr wrap="square" lIns="0" tIns="0" rIns="0" bIns="0" rtlCol="0" anchor="b"/>
          <a:lstStyle/>
          <a:p>
            <a:pPr algn="l" indent="0" marL="0">
              <a:buNone/>
            </a:pPr>
            <a:r>
              <a:rPr lang="en-US" sz="2600" b="1" dirty="0">
                <a:solidFill>
                  <a:schemeClr val="accent2"/>
                </a:solidFill>
                <a:latin typeface="Cambria" pitchFamily="34" charset="0"/>
                <a:ea typeface="Cambria" pitchFamily="34" charset="-122"/>
                <a:cs typeface="Cambria" pitchFamily="34" charset="-120"/>
              </a:rPr>
              <a:t>−1,08 ± 0,68j</a:t>
            </a:r>
            <a:endParaRPr lang="en-US" sz="2600" dirty="0"/>
          </a:p>
        </p:txBody>
      </p:sp>
      <p:sp>
        <p:nvSpPr>
          <p:cNvPr id="10" name="Text 6"/>
          <p:cNvSpPr txBox="1"/>
          <p:nvPr/>
        </p:nvSpPr>
        <p:spPr>
          <a:xfrm>
            <a:off x="7863840" y="3474720"/>
            <a:ext cx="3749040" cy="640080"/>
          </a:xfrm>
          <a:prstGeom prst="rect">
            <a:avLst/>
          </a:prstGeom>
          <a:noFill/>
          <a:ln/>
        </p:spPr>
        <p:txBody>
          <a:bodyPr wrap="square" lIns="0" tIns="0" rIns="0" bIns="0" rtlCol="0" anchor="t"/>
          <a:lstStyle/>
          <a:p>
            <a:pPr algn="l" indent="0" marL="0">
              <a:buNone/>
            </a:pPr>
            <a:r>
              <a:rPr lang="en-US" sz="1200" dirty="0">
                <a:solidFill>
                  <a:schemeClr val="accent4"/>
                </a:solidFill>
              </a:rPr>
              <a:t>ritorno in posizione (ζ = 0,85): la dinamica che si vede dopo una spinta</a:t>
            </a:r>
            <a:endParaRPr lang="en-US" sz="1200" dirty="0"/>
          </a:p>
        </p:txBody>
      </p:sp>
      <p:sp>
        <p:nvSpPr>
          <p:cNvPr id="11" name="Shape 7"/>
          <p:cNvSpPr/>
          <p:nvPr/>
        </p:nvSpPr>
        <p:spPr>
          <a:xfrm>
            <a:off x="548640" y="4343400"/>
            <a:ext cx="11091672" cy="1508760"/>
          </a:xfrm>
          <a:prstGeom prst="roundRect">
            <a:avLst>
              <a:gd name="adj" fmla="val 4848"/>
            </a:avLst>
          </a:prstGeom>
          <a:solidFill>
            <a:schemeClr val="bg2"/>
          </a:solidFill>
          <a:ln w="12700">
            <a:solidFill>
              <a:schemeClr val="bg2"/>
            </a:solidFill>
            <a:prstDash val="solid"/>
          </a:ln>
        </p:spPr>
      </p:sp>
      <p:sp>
        <p:nvSpPr>
          <p:cNvPr id="12" name="Shape 8"/>
          <p:cNvSpPr/>
          <p:nvPr/>
        </p:nvSpPr>
        <p:spPr>
          <a:xfrm>
            <a:off x="731520" y="4526280"/>
            <a:ext cx="420624" cy="420624"/>
          </a:xfrm>
          <a:prstGeom prst="ellipse">
            <a:avLst/>
          </a:prstGeom>
          <a:solidFill>
            <a:schemeClr val="accent2"/>
          </a:solidFill>
          <a:ln w="12700">
            <a:solidFill>
              <a:schemeClr val="accent2"/>
            </a:solidFill>
            <a:prstDash val="solid"/>
          </a:ln>
        </p:spPr>
      </p:sp>
      <p:sp>
        <p:nvSpPr>
          <p:cNvPr id="13" name="Text 9"/>
          <p:cNvSpPr txBox="1"/>
          <p:nvPr/>
        </p:nvSpPr>
        <p:spPr>
          <a:xfrm>
            <a:off x="731520" y="45262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l</a:t>
            </a:r>
            <a:endParaRPr lang="en-US" sz="1300" dirty="0"/>
          </a:p>
        </p:txBody>
      </p:sp>
      <p:sp>
        <p:nvSpPr>
          <p:cNvPr id="14" name="Text 10"/>
          <p:cNvSpPr txBox="1"/>
          <p:nvPr/>
        </p:nvSpPr>
        <p:spPr>
          <a:xfrm>
            <a:off x="1280160" y="4526280"/>
            <a:ext cx="10177272" cy="420624"/>
          </a:xfrm>
          <a:prstGeom prst="rect">
            <a:avLst/>
          </a:prstGeom>
          <a:noFill/>
          <a:ln/>
        </p:spPr>
        <p:txBody>
          <a:bodyPr wrap="square" lIns="0" tIns="0" rIns="0" bIns="0" rtlCol="0" anchor="ctr"/>
          <a:lstStyle/>
          <a:p>
            <a:pPr algn="l" indent="0" marL="0">
              <a:buNone/>
            </a:pPr>
            <a:r>
              <a:rPr lang="en-US" sz="1500" b="1" dirty="0">
                <a:solidFill>
                  <a:schemeClr val="tx2"/>
                </a:solidFill>
              </a:rPr>
              <a:t>Comportamento invariante con l'altezza</a:t>
            </a:r>
            <a:endParaRPr lang="en-US" sz="1500" dirty="0"/>
          </a:p>
        </p:txBody>
      </p:sp>
      <p:sp>
        <p:nvSpPr>
          <p:cNvPr id="15" name="Text 11"/>
          <p:cNvSpPr txBox="1"/>
          <p:nvPr/>
        </p:nvSpPr>
        <p:spPr>
          <a:xfrm>
            <a:off x="777240" y="5074920"/>
            <a:ext cx="10680192" cy="640080"/>
          </a:xfrm>
          <a:prstGeom prst="rect">
            <a:avLst/>
          </a:prstGeom>
          <a:noFill/>
          <a:ln/>
        </p:spPr>
        <p:txBody>
          <a:bodyPr wrap="square" lIns="0" tIns="0" rIns="0" bIns="0" rtlCol="0" anchor="t"/>
          <a:lstStyle/>
          <a:p>
            <a:pPr algn="l" indent="0" marL="0">
              <a:buNone/>
            </a:pPr>
            <a:r>
              <a:rPr lang="en-US" sz="1300" dirty="0">
                <a:solidFill>
                  <a:schemeClr val="tx1"/>
                </a:solidFill>
              </a:rPr>
              <a:t>LQRSchedule calcola K su 25 pose (ciascuna con il suo I</a:t>
            </a:r>
            <a:r>
              <a:rPr lang="en-US" sz="1300" baseline="-40000" dirty="0">
                <a:solidFill>
                  <a:schemeClr val="tx1"/>
                </a:solidFill>
              </a:rPr>
              <a:t>y</a:t>
            </a:r>
            <a:r>
              <a:rPr lang="en-US" sz="1300" dirty="0">
                <a:solidFill>
                  <a:schemeClr val="tx1"/>
                </a:solidFill>
              </a:rPr>
              <a:t>) e interpola linearmente in l: i poli sagittali restano quasi fermi. Vale finché l varia lentamente: non durante la spinta del salto, dove il modello ignora l̇.</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MPC del corpo superiore</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4 · MPC + TV-LQR</a:t>
            </a:r>
            <a:endParaRPr lang="en-US" sz="1200" dirty="0"/>
          </a:p>
        </p:txBody>
      </p:sp>
      <p:pic>
        <p:nvPicPr>
          <p:cNvPr id="5" name="Image 0" descr="Formula: mpc_modelli">    </p:cNvPr>
          <p:cNvPicPr>
            <a:picLocks noChangeAspect="1"/>
          </p:cNvPicPr>
          <p:nvPr/>
        </p:nvPicPr>
        <p:blipFill>
          <a:blip r:embed="rId1"/>
          <a:stretch>
            <a:fillRect/>
          </a:stretch>
        </p:blipFill>
        <p:spPr>
          <a:xfrm>
            <a:off x="548640" y="1371600"/>
            <a:ext cx="5483579" cy="1476972"/>
          </a:xfrm>
          <a:prstGeom prst="rect">
            <a:avLst/>
          </a:prstGeom>
        </p:spPr>
      </p:pic>
      <p:pic>
        <p:nvPicPr>
          <p:cNvPr id="6" name="Image 1" descr="Formula: mpc_qp">    </p:cNvPr>
          <p:cNvPicPr>
            <a:picLocks noChangeAspect="1"/>
          </p:cNvPicPr>
          <p:nvPr/>
        </p:nvPicPr>
        <p:blipFill>
          <a:blip r:embed="rId2"/>
          <a:stretch>
            <a:fillRect/>
          </a:stretch>
        </p:blipFill>
        <p:spPr>
          <a:xfrm>
            <a:off x="970008" y="3520440"/>
            <a:ext cx="10221505" cy="496613"/>
          </a:xfrm>
          <a:prstGeom prst="rect">
            <a:avLst/>
          </a:prstGeom>
        </p:spPr>
      </p:pic>
      <p:sp>
        <p:nvSpPr>
          <p:cNvPr id="7" name="Text 3"/>
          <p:cNvSpPr txBox="1"/>
          <p:nvPr/>
        </p:nvSpPr>
        <p:spPr>
          <a:xfrm>
            <a:off x="6858000" y="1280160"/>
            <a:ext cx="2286000" cy="685800"/>
          </a:xfrm>
          <a:prstGeom prst="rect">
            <a:avLst/>
          </a:prstGeom>
          <a:noFill/>
          <a:ln/>
        </p:spPr>
        <p:txBody>
          <a:bodyPr wrap="square" lIns="0" tIns="0" rIns="0" bIns="0" rtlCol="0" anchor="b"/>
          <a:lstStyle/>
          <a:p>
            <a:pPr algn="l" indent="0" marL="0">
              <a:buNone/>
            </a:pPr>
            <a:r>
              <a:rPr lang="en-US" sz="2600" b="1" dirty="0">
                <a:solidFill>
                  <a:schemeClr val="accent2"/>
                </a:solidFill>
                <a:latin typeface="Cambria" pitchFamily="34" charset="0"/>
                <a:ea typeface="Cambria" pitchFamily="34" charset="-122"/>
                <a:cs typeface="Cambria" pitchFamily="34" charset="-120"/>
              </a:rPr>
              <a:t>25 × 20 ms</a:t>
            </a:r>
            <a:endParaRPr lang="en-US" sz="2600" dirty="0"/>
          </a:p>
        </p:txBody>
      </p:sp>
      <p:sp>
        <p:nvSpPr>
          <p:cNvPr id="8" name="Text 4"/>
          <p:cNvSpPr txBox="1"/>
          <p:nvPr/>
        </p:nvSpPr>
        <p:spPr>
          <a:xfrm>
            <a:off x="6858000" y="2011680"/>
            <a:ext cx="2286000" cy="640080"/>
          </a:xfrm>
          <a:prstGeom prst="rect">
            <a:avLst/>
          </a:prstGeom>
          <a:noFill/>
          <a:ln/>
        </p:spPr>
        <p:txBody>
          <a:bodyPr wrap="square" lIns="0" tIns="0" rIns="0" bIns="0" rtlCol="0" anchor="t"/>
          <a:lstStyle/>
          <a:p>
            <a:pPr algn="l" indent="0" marL="0">
              <a:buNone/>
            </a:pPr>
            <a:r>
              <a:rPr lang="en-US" sz="1200" dirty="0">
                <a:solidFill>
                  <a:schemeClr val="accent4"/>
                </a:solidFill>
              </a:rPr>
              <a:t>orizzonte di 0,5 s, aggiornato a 100 Hz</a:t>
            </a:r>
            <a:endParaRPr lang="en-US" sz="1200" dirty="0"/>
          </a:p>
        </p:txBody>
      </p:sp>
      <p:sp>
        <p:nvSpPr>
          <p:cNvPr id="9" name="Text 5"/>
          <p:cNvSpPr txBox="1"/>
          <p:nvPr/>
        </p:nvSpPr>
        <p:spPr>
          <a:xfrm>
            <a:off x="9326880" y="1280160"/>
            <a:ext cx="2286000" cy="685800"/>
          </a:xfrm>
          <a:prstGeom prst="rect">
            <a:avLst/>
          </a:prstGeom>
          <a:noFill/>
          <a:ln/>
        </p:spPr>
        <p:txBody>
          <a:bodyPr wrap="square" lIns="0" tIns="0" rIns="0" bIns="0" rtlCol="0" anchor="b"/>
          <a:lstStyle/>
          <a:p>
            <a:pPr algn="l" indent="0" marL="0">
              <a:buNone/>
            </a:pPr>
            <a:r>
              <a:rPr lang="en-US" sz="2600" b="1" dirty="0">
                <a:solidFill>
                  <a:schemeClr val="accent2"/>
                </a:solidFill>
                <a:latin typeface="Cambria" pitchFamily="34" charset="0"/>
                <a:ea typeface="Cambria" pitchFamily="34" charset="-122"/>
                <a:cs typeface="Cambria" pitchFamily="34" charset="-120"/>
              </a:rPr>
              <a:t>60 iter.</a:t>
            </a:r>
            <a:endParaRPr lang="en-US" sz="2600" dirty="0"/>
          </a:p>
        </p:txBody>
      </p:sp>
      <p:sp>
        <p:nvSpPr>
          <p:cNvPr id="10" name="Text 6"/>
          <p:cNvSpPr txBox="1"/>
          <p:nvPr/>
        </p:nvSpPr>
        <p:spPr>
          <a:xfrm>
            <a:off x="9326880" y="2011680"/>
            <a:ext cx="2286000" cy="640080"/>
          </a:xfrm>
          <a:prstGeom prst="rect">
            <a:avLst/>
          </a:prstGeom>
          <a:noFill/>
          <a:ln/>
        </p:spPr>
        <p:txBody>
          <a:bodyPr wrap="square" lIns="0" tIns="0" rIns="0" bIns="0" rtlCol="0" anchor="t"/>
          <a:lstStyle/>
          <a:p>
            <a:pPr algn="l" indent="0" marL="0">
              <a:buNone/>
            </a:pPr>
            <a:r>
              <a:rPr lang="en-US" sz="1200" dirty="0">
                <a:solidFill>
                  <a:schemeClr val="accent4"/>
                </a:solidFill>
              </a:rPr>
              <a:t>FISTA con vincoli di box, partenza dalla soluzione precedente</a:t>
            </a:r>
            <a:endParaRPr lang="en-US" sz="1200" dirty="0"/>
          </a:p>
        </p:txBody>
      </p:sp>
      <p:sp>
        <p:nvSpPr>
          <p:cNvPr id="11" name="Shape 7"/>
          <p:cNvSpPr/>
          <p:nvPr/>
        </p:nvSpPr>
        <p:spPr>
          <a:xfrm>
            <a:off x="548640" y="4389120"/>
            <a:ext cx="5394960" cy="1463040"/>
          </a:xfrm>
          <a:prstGeom prst="roundRect">
            <a:avLst>
              <a:gd name="adj" fmla="val 5000"/>
            </a:avLst>
          </a:prstGeom>
          <a:solidFill>
            <a:schemeClr val="bg2"/>
          </a:solidFill>
          <a:ln w="12700">
            <a:solidFill>
              <a:schemeClr val="bg2"/>
            </a:solidFill>
            <a:prstDash val="solid"/>
          </a:ln>
        </p:spPr>
      </p:sp>
      <p:sp>
        <p:nvSpPr>
          <p:cNvPr id="12" name="Shape 8"/>
          <p:cNvSpPr/>
          <p:nvPr/>
        </p:nvSpPr>
        <p:spPr>
          <a:xfrm>
            <a:off x="731520" y="4572000"/>
            <a:ext cx="420624" cy="420624"/>
          </a:xfrm>
          <a:prstGeom prst="ellipse">
            <a:avLst/>
          </a:prstGeom>
          <a:solidFill>
            <a:schemeClr val="accent2"/>
          </a:solidFill>
          <a:ln w="12700">
            <a:solidFill>
              <a:schemeClr val="accent2"/>
            </a:solidFill>
            <a:prstDash val="solid"/>
          </a:ln>
        </p:spPr>
      </p:sp>
      <p:sp>
        <p:nvSpPr>
          <p:cNvPr id="13" name="Text 9"/>
          <p:cNvSpPr txBox="1"/>
          <p:nvPr/>
        </p:nvSpPr>
        <p:spPr>
          <a:xfrm>
            <a:off x="731520" y="457200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h</a:t>
            </a:r>
            <a:endParaRPr lang="en-US" sz="1300" dirty="0"/>
          </a:p>
        </p:txBody>
      </p:sp>
      <p:sp>
        <p:nvSpPr>
          <p:cNvPr id="14" name="Text 10"/>
          <p:cNvSpPr txBox="1"/>
          <p:nvPr/>
        </p:nvSpPr>
        <p:spPr>
          <a:xfrm>
            <a:off x="1280160" y="4572000"/>
            <a:ext cx="4480560" cy="420624"/>
          </a:xfrm>
          <a:prstGeom prst="rect">
            <a:avLst/>
          </a:prstGeom>
          <a:noFill/>
          <a:ln/>
        </p:spPr>
        <p:txBody>
          <a:bodyPr wrap="square" lIns="0" tIns="0" rIns="0" bIns="0" rtlCol="0" anchor="ctr"/>
          <a:lstStyle/>
          <a:p>
            <a:pPr algn="l" indent="0" marL="0">
              <a:buNone/>
            </a:pPr>
            <a:r>
              <a:rPr lang="en-US" sz="1500" b="1" dirty="0">
                <a:solidFill>
                  <a:schemeClr val="tx2"/>
                </a:solidFill>
              </a:rPr>
              <a:t>Orizzontale</a:t>
            </a:r>
            <a:endParaRPr lang="en-US" sz="1500" dirty="0"/>
          </a:p>
        </p:txBody>
      </p:sp>
      <p:sp>
        <p:nvSpPr>
          <p:cNvPr id="15" name="Text 11"/>
          <p:cNvSpPr txBox="1"/>
          <p:nvPr/>
        </p:nvSpPr>
        <p:spPr>
          <a:xfrm>
            <a:off x="777240" y="5120640"/>
            <a:ext cx="4983480" cy="594360"/>
          </a:xfrm>
          <a:prstGeom prst="rect">
            <a:avLst/>
          </a:prstGeom>
          <a:noFill/>
          <a:ln/>
        </p:spPr>
        <p:txBody>
          <a:bodyPr wrap="square" lIns="0" tIns="0" rIns="0" bIns="0" rtlCol="0" anchor="t"/>
          <a:lstStyle/>
          <a:p>
            <a:pPr algn="l" indent="0" marL="0">
              <a:buNone/>
            </a:pPr>
            <a:r>
              <a:rPr lang="en-US" sz="1300" dirty="0">
                <a:solidFill>
                  <a:schemeClr val="tx1"/>
                </a:solidFill>
              </a:rPr>
              <a:t>S</a:t>
            </a:r>
            <a:r>
              <a:rPr lang="en-US" sz="1300" baseline="-40000" dirty="0">
                <a:solidFill>
                  <a:schemeClr val="tx1"/>
                </a:solidFill>
              </a:rPr>
              <a:t>h</a:t>
            </a:r>
            <a:r>
              <a:rPr lang="en-US" sz="1300" dirty="0">
                <a:solidFill>
                  <a:schemeClr val="tx1"/>
                </a:solidFill>
              </a:rPr>
              <a:t> = diag(50, 20), W</a:t>
            </a:r>
            <a:r>
              <a:rPr lang="en-US" sz="1300" baseline="-40000" dirty="0">
                <a:solidFill>
                  <a:schemeClr val="tx1"/>
                </a:solidFill>
              </a:rPr>
              <a:t>h</a:t>
            </a:r>
            <a:r>
              <a:rPr lang="en-US" sz="1300" dirty="0">
                <a:solidFill>
                  <a:schemeClr val="tx1"/>
                </a:solidFill>
              </a:rPr>
              <a:t> = 200: 1 cm di Δs costa quanto 2 cm di errore.</a:t>
            </a:r>
            <a:endParaRPr lang="en-US" sz="1300" dirty="0"/>
          </a:p>
        </p:txBody>
      </p:sp>
      <p:sp>
        <p:nvSpPr>
          <p:cNvPr id="16" name="Shape 12"/>
          <p:cNvSpPr/>
          <p:nvPr/>
        </p:nvSpPr>
        <p:spPr>
          <a:xfrm>
            <a:off x="6245352" y="4389120"/>
            <a:ext cx="5394960" cy="1463040"/>
          </a:xfrm>
          <a:prstGeom prst="roundRect">
            <a:avLst>
              <a:gd name="adj" fmla="val 5000"/>
            </a:avLst>
          </a:prstGeom>
          <a:solidFill>
            <a:schemeClr val="bg2"/>
          </a:solidFill>
          <a:ln w="12700">
            <a:solidFill>
              <a:schemeClr val="bg2"/>
            </a:solidFill>
            <a:prstDash val="solid"/>
          </a:ln>
        </p:spPr>
      </p:sp>
      <p:sp>
        <p:nvSpPr>
          <p:cNvPr id="17" name="Shape 13"/>
          <p:cNvSpPr/>
          <p:nvPr/>
        </p:nvSpPr>
        <p:spPr>
          <a:xfrm>
            <a:off x="6428232" y="4572000"/>
            <a:ext cx="420624" cy="420624"/>
          </a:xfrm>
          <a:prstGeom prst="ellipse">
            <a:avLst/>
          </a:prstGeom>
          <a:solidFill>
            <a:schemeClr val="accent2"/>
          </a:solidFill>
          <a:ln w="12700">
            <a:solidFill>
              <a:schemeClr val="accent2"/>
            </a:solidFill>
            <a:prstDash val="solid"/>
          </a:ln>
        </p:spPr>
      </p:sp>
      <p:sp>
        <p:nvSpPr>
          <p:cNvPr id="18" name="Text 14"/>
          <p:cNvSpPr txBox="1"/>
          <p:nvPr/>
        </p:nvSpPr>
        <p:spPr>
          <a:xfrm>
            <a:off x="6428232" y="457200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v</a:t>
            </a:r>
            <a:endParaRPr lang="en-US" sz="1300" dirty="0"/>
          </a:p>
        </p:txBody>
      </p:sp>
      <p:sp>
        <p:nvSpPr>
          <p:cNvPr id="19" name="Text 15"/>
          <p:cNvSpPr txBox="1"/>
          <p:nvPr/>
        </p:nvSpPr>
        <p:spPr>
          <a:xfrm>
            <a:off x="6976872" y="4572000"/>
            <a:ext cx="4480560" cy="420624"/>
          </a:xfrm>
          <a:prstGeom prst="rect">
            <a:avLst/>
          </a:prstGeom>
          <a:noFill/>
          <a:ln/>
        </p:spPr>
        <p:txBody>
          <a:bodyPr wrap="square" lIns="0" tIns="0" rIns="0" bIns="0" rtlCol="0" anchor="ctr"/>
          <a:lstStyle/>
          <a:p>
            <a:pPr algn="l" indent="0" marL="0">
              <a:buNone/>
            </a:pPr>
            <a:r>
              <a:rPr lang="en-US" sz="1500" b="1" dirty="0">
                <a:solidFill>
                  <a:schemeClr val="tx2"/>
                </a:solidFill>
              </a:rPr>
              <a:t>Verticale</a:t>
            </a:r>
            <a:endParaRPr lang="en-US" sz="1500" dirty="0"/>
          </a:p>
        </p:txBody>
      </p:sp>
      <p:sp>
        <p:nvSpPr>
          <p:cNvPr id="20" name="Text 16"/>
          <p:cNvSpPr txBox="1"/>
          <p:nvPr/>
        </p:nvSpPr>
        <p:spPr>
          <a:xfrm>
            <a:off x="6473952" y="5120640"/>
            <a:ext cx="4983480" cy="594360"/>
          </a:xfrm>
          <a:prstGeom prst="rect">
            <a:avLst/>
          </a:prstGeom>
          <a:noFill/>
          <a:ln/>
        </p:spPr>
        <p:txBody>
          <a:bodyPr wrap="square" lIns="0" tIns="0" rIns="0" bIns="0" rtlCol="0" anchor="t"/>
          <a:lstStyle/>
          <a:p>
            <a:pPr algn="l" indent="0" marL="0">
              <a:buNone/>
            </a:pPr>
            <a:r>
              <a:rPr lang="en-US" sz="1300" dirty="0">
                <a:solidFill>
                  <a:schemeClr val="tx1"/>
                </a:solidFill>
              </a:rPr>
              <a:t>S</a:t>
            </a:r>
            <a:r>
              <a:rPr lang="en-US" sz="1300" baseline="-40000" dirty="0">
                <a:solidFill>
                  <a:schemeClr val="tx1"/>
                </a:solidFill>
              </a:rPr>
              <a:t>v</a:t>
            </a:r>
            <a:r>
              <a:rPr lang="en-US" sz="1300" dirty="0">
                <a:solidFill>
                  <a:schemeClr val="tx1"/>
                </a:solidFill>
              </a:rPr>
              <a:t> = diag(5000, 150), W</a:t>
            </a:r>
            <a:r>
              <a:rPr lang="en-US" sz="1300" baseline="-40000" dirty="0">
                <a:solidFill>
                  <a:schemeClr val="tx1"/>
                </a:solidFill>
              </a:rPr>
              <a:t>v</a:t>
            </a:r>
            <a:r>
              <a:rPr lang="en-US" sz="1300" dirty="0">
                <a:solidFill>
                  <a:schemeClr val="tx1"/>
                </a:solidFill>
              </a:rPr>
              <a:t> = 2·10</a:t>
            </a:r>
            <a:r>
              <a:rPr lang="en-US" sz="1300" baseline="30000" dirty="0">
                <a:solidFill>
                  <a:schemeClr val="tx1"/>
                </a:solidFill>
              </a:rPr>
              <a:t>-3</a:t>
            </a:r>
            <a:r>
              <a:rPr lang="en-US" sz="1300" dirty="0">
                <a:solidFill>
                  <a:schemeClr val="tx1"/>
                </a:solidFill>
              </a:rPr>
              <a:t>: quota rigida, il VMC non ha molla verticale.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Vincoli e riferimento per l'LQR</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4 · MPC + TV-LQR</a:t>
            </a:r>
            <a:endParaRPr lang="en-US" sz="1200" dirty="0"/>
          </a:p>
        </p:txBody>
      </p:sp>
      <p:pic>
        <p:nvPicPr>
          <p:cNvPr id="5" name="Image 0" descr="Formula: mpc_vincoli">    </p:cNvPr>
          <p:cNvPicPr>
            <a:picLocks noChangeAspect="1"/>
          </p:cNvPicPr>
          <p:nvPr/>
        </p:nvPicPr>
        <p:blipFill>
          <a:blip r:embed="rId1"/>
          <a:stretch>
            <a:fillRect/>
          </a:stretch>
        </p:blipFill>
        <p:spPr>
          <a:xfrm>
            <a:off x="746573" y="1371600"/>
            <a:ext cx="10668375" cy="584614"/>
          </a:xfrm>
          <a:prstGeom prst="rect">
            <a:avLst/>
          </a:prstGeom>
        </p:spPr>
      </p:pic>
      <p:pic>
        <p:nvPicPr>
          <p:cNvPr id="6" name="Image 1" descr="Formula: xref">    </p:cNvPr>
          <p:cNvPicPr>
            <a:picLocks noChangeAspect="1"/>
          </p:cNvPicPr>
          <p:nvPr/>
        </p:nvPicPr>
        <p:blipFill>
          <a:blip r:embed="rId2"/>
          <a:stretch>
            <a:fillRect/>
          </a:stretch>
        </p:blipFill>
        <p:spPr>
          <a:xfrm>
            <a:off x="2742341" y="2286000"/>
            <a:ext cx="6676837" cy="445251"/>
          </a:xfrm>
          <a:prstGeom prst="rect">
            <a:avLst/>
          </a:prstGeom>
        </p:spPr>
      </p:pic>
      <p:sp>
        <p:nvSpPr>
          <p:cNvPr id="7" name="Text 3"/>
          <p:cNvSpPr txBox="1"/>
          <p:nvPr/>
        </p:nvSpPr>
        <p:spPr>
          <a:xfrm>
            <a:off x="548640" y="3108960"/>
            <a:ext cx="3474720" cy="685800"/>
          </a:xfrm>
          <a:prstGeom prst="rect">
            <a:avLst/>
          </a:prstGeom>
          <a:noFill/>
          <a:ln/>
        </p:spPr>
        <p:txBody>
          <a:bodyPr wrap="square" lIns="0" tIns="0" rIns="0" bIns="0" rtlCol="0" anchor="b"/>
          <a:lstStyle/>
          <a:p>
            <a:pPr algn="l" indent="0" marL="0">
              <a:buNone/>
            </a:pPr>
            <a:r>
              <a:rPr lang="en-US" sz="2800" b="1" dirty="0">
                <a:solidFill>
                  <a:schemeClr val="accent2"/>
                </a:solidFill>
                <a:latin typeface="Cambria" pitchFamily="34" charset="0"/>
                <a:ea typeface="Cambria" pitchFamily="34" charset="-122"/>
                <a:cs typeface="Cambria" pitchFamily="34" charset="-120"/>
              </a:rPr>
              <a:t>3 cm → 10,48°</a:t>
            </a:r>
            <a:endParaRPr lang="en-US" sz="2800" dirty="0"/>
          </a:p>
        </p:txBody>
      </p:sp>
      <p:sp>
        <p:nvSpPr>
          <p:cNvPr id="8" name="Text 4"/>
          <p:cNvSpPr txBox="1"/>
          <p:nvPr/>
        </p:nvSpPr>
        <p:spPr>
          <a:xfrm>
            <a:off x="548640" y="3840480"/>
            <a:ext cx="3474720" cy="640080"/>
          </a:xfrm>
          <a:prstGeom prst="rect">
            <a:avLst/>
          </a:prstGeom>
          <a:noFill/>
          <a:ln/>
        </p:spPr>
        <p:txBody>
          <a:bodyPr wrap="square" lIns="0" tIns="0" rIns="0" bIns="0" rtlCol="0" anchor="t"/>
          <a:lstStyle/>
          <a:p>
            <a:pPr algn="l" indent="0" marL="0">
              <a:buNone/>
            </a:pPr>
            <a:r>
              <a:rPr lang="en-US" sz="1200" dirty="0">
                <a:solidFill>
                  <a:schemeClr val="accent4"/>
                </a:solidFill>
              </a:rPr>
              <a:t>il tetto su Δs è il vincolo sempre attivo</a:t>
            </a:r>
            <a:endParaRPr lang="en-US" sz="1200" dirty="0"/>
          </a:p>
        </p:txBody>
      </p:sp>
      <p:sp>
        <p:nvSpPr>
          <p:cNvPr id="9" name="Text 5"/>
          <p:cNvSpPr txBox="1"/>
          <p:nvPr/>
        </p:nvSpPr>
        <p:spPr>
          <a:xfrm>
            <a:off x="4343400" y="3108960"/>
            <a:ext cx="3474720" cy="685800"/>
          </a:xfrm>
          <a:prstGeom prst="rect">
            <a:avLst/>
          </a:prstGeom>
          <a:noFill/>
          <a:ln/>
        </p:spPr>
        <p:txBody>
          <a:bodyPr wrap="square" lIns="0" tIns="0" rIns="0" bIns="0" rtlCol="0" anchor="b"/>
          <a:lstStyle/>
          <a:p>
            <a:pPr algn="l" indent="0" marL="0">
              <a:buNone/>
            </a:pPr>
            <a:r>
              <a:rPr lang="en-US" sz="2800" b="1" dirty="0">
                <a:solidFill>
                  <a:schemeClr val="accent2"/>
                </a:solidFill>
                <a:latin typeface="Cambria" pitchFamily="34" charset="0"/>
                <a:ea typeface="Cambria" pitchFamily="34" charset="-122"/>
                <a:cs typeface="Cambria" pitchFamily="34" charset="-120"/>
              </a:rPr>
              <a:t>1,13 m/s²</a:t>
            </a:r>
            <a:endParaRPr lang="en-US" sz="2800" dirty="0"/>
          </a:p>
        </p:txBody>
      </p:sp>
      <p:sp>
        <p:nvSpPr>
          <p:cNvPr id="10" name="Text 6"/>
          <p:cNvSpPr txBox="1"/>
          <p:nvPr/>
        </p:nvSpPr>
        <p:spPr>
          <a:xfrm>
            <a:off x="4343400" y="3840480"/>
            <a:ext cx="3474720" cy="640080"/>
          </a:xfrm>
          <a:prstGeom prst="rect">
            <a:avLst/>
          </a:prstGeom>
          <a:noFill/>
          <a:ln/>
        </p:spPr>
        <p:txBody>
          <a:bodyPr wrap="square" lIns="0" tIns="0" rIns="0" bIns="0" rtlCol="0" anchor="t"/>
          <a:lstStyle/>
          <a:p>
            <a:pPr algn="l" indent="0" marL="0">
              <a:buNone/>
            </a:pPr>
            <a:r>
              <a:rPr lang="en-US" sz="1200" dirty="0">
                <a:solidFill>
                  <a:schemeClr val="accent4"/>
                </a:solidFill>
              </a:rPr>
              <a:t>massima accelerazione a regime che il tetto consente</a:t>
            </a:r>
            <a:endParaRPr lang="en-US" sz="1200" dirty="0"/>
          </a:p>
        </p:txBody>
      </p:sp>
      <p:sp>
        <p:nvSpPr>
          <p:cNvPr id="11" name="Text 7"/>
          <p:cNvSpPr txBox="1"/>
          <p:nvPr/>
        </p:nvSpPr>
        <p:spPr>
          <a:xfrm>
            <a:off x="8138160" y="3108960"/>
            <a:ext cx="3474720" cy="685800"/>
          </a:xfrm>
          <a:prstGeom prst="rect">
            <a:avLst/>
          </a:prstGeom>
          <a:noFill/>
          <a:ln/>
        </p:spPr>
        <p:txBody>
          <a:bodyPr wrap="square" lIns="0" tIns="0" rIns="0" bIns="0" rtlCol="0" anchor="b"/>
          <a:lstStyle/>
          <a:p>
            <a:pPr algn="l" indent="0" marL="0">
              <a:buNone/>
            </a:pPr>
            <a:r>
              <a:rPr lang="en-US" sz="2800" b="1" dirty="0">
                <a:solidFill>
                  <a:schemeClr val="accent2"/>
                </a:solidFill>
                <a:latin typeface="Cambria" pitchFamily="34" charset="0"/>
                <a:ea typeface="Cambria" pitchFamily="34" charset="-122"/>
                <a:cs typeface="Cambria" pitchFamily="34" charset="-120"/>
              </a:rPr>
              <a:t>0,3 m</a:t>
            </a:r>
            <a:r>
              <a:rPr lang="en-US" sz="2800" b="1" baseline="-40000" dirty="0">
                <a:solidFill>
                  <a:schemeClr val="accent2"/>
                </a:solidFill>
                <a:latin typeface="Cambria" pitchFamily="34" charset="0"/>
                <a:ea typeface="Cambria" pitchFamily="34" charset="-122"/>
                <a:cs typeface="Cambria" pitchFamily="34" charset="-120"/>
              </a:rPr>
              <a:t>b</a:t>
            </a:r>
            <a:r>
              <a:rPr lang="en-US" sz="2800" b="1" dirty="0">
                <a:solidFill>
                  <a:schemeClr val="accent2"/>
                </a:solidFill>
                <a:latin typeface="Cambria" pitchFamily="34" charset="0"/>
                <a:ea typeface="Cambria" pitchFamily="34" charset="-122"/>
                <a:cs typeface="Cambria" pitchFamily="34" charset="-120"/>
              </a:rPr>
              <a:t>g</a:t>
            </a:r>
            <a:endParaRPr lang="en-US" sz="2800" dirty="0"/>
          </a:p>
        </p:txBody>
      </p:sp>
      <p:sp>
        <p:nvSpPr>
          <p:cNvPr id="12" name="Text 8"/>
          <p:cNvSpPr txBox="1"/>
          <p:nvPr/>
        </p:nvSpPr>
        <p:spPr>
          <a:xfrm>
            <a:off x="8138160" y="3840480"/>
            <a:ext cx="3474720" cy="640080"/>
          </a:xfrm>
          <a:prstGeom prst="rect">
            <a:avLst/>
          </a:prstGeom>
          <a:noFill/>
          <a:ln/>
        </p:spPr>
        <p:txBody>
          <a:bodyPr wrap="square" lIns="0" tIns="0" rIns="0" bIns="0" rtlCol="0" anchor="t"/>
          <a:lstStyle/>
          <a:p>
            <a:pPr algn="l" indent="0" marL="0">
              <a:buNone/>
            </a:pPr>
            <a:r>
              <a:rPr lang="en-US" sz="1200" dirty="0">
                <a:solidFill>
                  <a:schemeClr val="accent4"/>
                </a:solidFill>
              </a:rPr>
              <a:t>forza minima: il contatto non si perde mai nel piano</a:t>
            </a:r>
            <a:endParaRPr lang="en-US" sz="1200" dirty="0"/>
          </a:p>
        </p:txBody>
      </p:sp>
      <p:sp>
        <p:nvSpPr>
          <p:cNvPr id="13" name="Shape 9"/>
          <p:cNvSpPr/>
          <p:nvPr/>
        </p:nvSpPr>
        <p:spPr>
          <a:xfrm>
            <a:off x="548640" y="4572000"/>
            <a:ext cx="11091672" cy="1280160"/>
          </a:xfrm>
          <a:prstGeom prst="roundRect">
            <a:avLst>
              <a:gd name="adj" fmla="val 5714"/>
            </a:avLst>
          </a:prstGeom>
          <a:solidFill>
            <a:schemeClr val="bg2"/>
          </a:solidFill>
          <a:ln w="12700">
            <a:solidFill>
              <a:schemeClr val="bg2"/>
            </a:solidFill>
            <a:prstDash val="solid"/>
          </a:ln>
        </p:spPr>
      </p:sp>
      <p:sp>
        <p:nvSpPr>
          <p:cNvPr id="14" name="Shape 10"/>
          <p:cNvSpPr/>
          <p:nvPr/>
        </p:nvSpPr>
        <p:spPr>
          <a:xfrm>
            <a:off x="731520" y="4754880"/>
            <a:ext cx="420624" cy="420624"/>
          </a:xfrm>
          <a:prstGeom prst="ellipse">
            <a:avLst/>
          </a:prstGeom>
          <a:solidFill>
            <a:schemeClr val="accent2"/>
          </a:solidFill>
          <a:ln w="12700">
            <a:solidFill>
              <a:schemeClr val="accent2"/>
            </a:solidFill>
            <a:prstDash val="solid"/>
          </a:ln>
        </p:spPr>
      </p:sp>
      <p:sp>
        <p:nvSpPr>
          <p:cNvPr id="15" name="Text 11"/>
          <p:cNvSpPr txBox="1"/>
          <p:nvPr/>
        </p:nvSpPr>
        <p:spPr>
          <a:xfrm>
            <a:off x="731520" y="4754880"/>
            <a:ext cx="420624" cy="420624"/>
          </a:xfrm>
          <a:prstGeom prst="rect">
            <a:avLst/>
          </a:prstGeom>
          <a:noFill/>
          <a:ln/>
        </p:spPr>
        <p:txBody>
          <a:bodyPr wrap="square" lIns="0" tIns="0" rIns="0" bIns="0" rtlCol="0" anchor="ctr"/>
          <a:lstStyle/>
          <a:p>
            <a:pPr algn="ctr" indent="0" marL="0">
              <a:buNone/>
            </a:pPr>
            <a:r>
              <a:rPr lang="en-US" sz="1200" b="1" dirty="0">
                <a:solidFill>
                  <a:schemeClr val="bg1"/>
                </a:solidFill>
              </a:rPr>
              <a:t>Δs</a:t>
            </a:r>
            <a:endParaRPr lang="en-US" sz="1200" dirty="0"/>
          </a:p>
        </p:txBody>
      </p:sp>
      <p:sp>
        <p:nvSpPr>
          <p:cNvPr id="16" name="Text 12"/>
          <p:cNvSpPr txBox="1"/>
          <p:nvPr/>
        </p:nvSpPr>
        <p:spPr>
          <a:xfrm>
            <a:off x="1280160" y="4754880"/>
            <a:ext cx="10177272" cy="420624"/>
          </a:xfrm>
          <a:prstGeom prst="rect">
            <a:avLst/>
          </a:prstGeom>
          <a:noFill/>
          <a:ln/>
        </p:spPr>
        <p:txBody>
          <a:bodyPr wrap="square" lIns="0" tIns="0" rIns="0" bIns="0" rtlCol="0" anchor="ctr"/>
          <a:lstStyle/>
          <a:p>
            <a:pPr algn="l" indent="0" marL="0">
              <a:buNone/>
            </a:pPr>
            <a:r>
              <a:rPr lang="en-US" sz="1500" b="1" dirty="0">
                <a:solidFill>
                  <a:schemeClr val="tx2"/>
                </a:solidFill>
              </a:rPr>
              <a:t>Uno spostamento, due esecutori</a:t>
            </a:r>
            <a:endParaRPr lang="en-US" sz="1500" dirty="0"/>
          </a:p>
        </p:txBody>
      </p:sp>
      <p:sp>
        <p:nvSpPr>
          <p:cNvPr id="17" name="Text 13"/>
          <p:cNvSpPr txBox="1"/>
          <p:nvPr/>
        </p:nvSpPr>
        <p:spPr>
          <a:xfrm>
            <a:off x="777240" y="5303520"/>
            <a:ext cx="10680192" cy="411480"/>
          </a:xfrm>
          <a:prstGeom prst="rect">
            <a:avLst/>
          </a:prstGeom>
          <a:noFill/>
          <a:ln/>
        </p:spPr>
        <p:txBody>
          <a:bodyPr wrap="square" lIns="0" tIns="0" rIns="0" bIns="0" rtlCol="0" anchor="t"/>
          <a:lstStyle/>
          <a:p>
            <a:pPr algn="l" indent="0" marL="0">
              <a:buNone/>
            </a:pPr>
            <a:r>
              <a:rPr lang="en-US" sz="1300" dirty="0">
                <a:solidFill>
                  <a:schemeClr val="tx1"/>
                </a:solidFill>
              </a:rPr>
              <a:t>Δs (filtrato a 19 ms) diventa θ</a:t>
            </a:r>
            <a:r>
              <a:rPr lang="en-US" sz="1300" baseline="-40000" dirty="0">
                <a:solidFill>
                  <a:schemeClr val="tx1"/>
                </a:solidFill>
              </a:rPr>
              <a:t>ref</a:t>
            </a:r>
            <a:r>
              <a:rPr lang="en-US" sz="1300" dirty="0">
                <a:solidFill>
                  <a:schemeClr val="tx1"/>
                </a:solidFill>
              </a:rPr>
              <a:t> e arretramento dell'asse per l'LQR, e posizione del piede rispetto al CoM per il VMC: ruote e gambe realizzano lo stesso spostamento.</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VMC, stima dello stato e imbardata</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4 · MPC + TV-LQR</a:t>
            </a:r>
            <a:endParaRPr lang="en-US" sz="1200" dirty="0"/>
          </a:p>
        </p:txBody>
      </p:sp>
      <p:pic>
        <p:nvPicPr>
          <p:cNvPr id="5" name="Image 0" descr="Formula: vmc">    </p:cNvPr>
          <p:cNvPicPr>
            <a:picLocks noChangeAspect="1"/>
          </p:cNvPicPr>
          <p:nvPr/>
        </p:nvPicPr>
        <p:blipFill>
          <a:blip r:embed="rId1"/>
          <a:stretch>
            <a:fillRect/>
          </a:stretch>
        </p:blipFill>
        <p:spPr>
          <a:xfrm>
            <a:off x="1457985" y="1371600"/>
            <a:ext cx="9245550" cy="400538"/>
          </a:xfrm>
          <a:prstGeom prst="rect">
            <a:avLst/>
          </a:prstGeom>
        </p:spPr>
      </p:pic>
      <p:pic>
        <p:nvPicPr>
          <p:cNvPr id="6" name="Image 1" descr="Formula: kalman">    </p:cNvPr>
          <p:cNvPicPr>
            <a:picLocks noChangeAspect="1"/>
          </p:cNvPicPr>
          <p:nvPr/>
        </p:nvPicPr>
        <p:blipFill>
          <a:blip r:embed="rId2"/>
          <a:stretch>
            <a:fillRect/>
          </a:stretch>
        </p:blipFill>
        <p:spPr>
          <a:xfrm>
            <a:off x="548640" y="2148840"/>
            <a:ext cx="6035040" cy="760159"/>
          </a:xfrm>
          <a:prstGeom prst="rect">
            <a:avLst/>
          </a:prstGeom>
        </p:spPr>
      </p:pic>
      <p:sp>
        <p:nvSpPr>
          <p:cNvPr id="7" name="Shape 3"/>
          <p:cNvSpPr/>
          <p:nvPr/>
        </p:nvSpPr>
        <p:spPr>
          <a:xfrm>
            <a:off x="6858000" y="2103120"/>
            <a:ext cx="4782312" cy="1463040"/>
          </a:xfrm>
          <a:prstGeom prst="roundRect">
            <a:avLst>
              <a:gd name="adj" fmla="val 5000"/>
            </a:avLst>
          </a:prstGeom>
          <a:solidFill>
            <a:schemeClr val="bg2"/>
          </a:solidFill>
          <a:ln w="12700">
            <a:solidFill>
              <a:schemeClr val="bg2"/>
            </a:solidFill>
            <a:prstDash val="solid"/>
          </a:ln>
        </p:spPr>
      </p:sp>
      <p:sp>
        <p:nvSpPr>
          <p:cNvPr id="8" name="Shape 4"/>
          <p:cNvSpPr/>
          <p:nvPr/>
        </p:nvSpPr>
        <p:spPr>
          <a:xfrm>
            <a:off x="7040880" y="2286000"/>
            <a:ext cx="420624" cy="420624"/>
          </a:xfrm>
          <a:prstGeom prst="ellipse">
            <a:avLst/>
          </a:prstGeom>
          <a:solidFill>
            <a:schemeClr val="accent2"/>
          </a:solidFill>
          <a:ln w="12700">
            <a:solidFill>
              <a:schemeClr val="accent2"/>
            </a:solidFill>
            <a:prstDash val="solid"/>
          </a:ln>
        </p:spPr>
      </p:sp>
      <p:sp>
        <p:nvSpPr>
          <p:cNvPr id="9" name="Text 5"/>
          <p:cNvSpPr txBox="1"/>
          <p:nvPr/>
        </p:nvSpPr>
        <p:spPr>
          <a:xfrm>
            <a:off x="7040880" y="228600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K</a:t>
            </a:r>
            <a:endParaRPr lang="en-US" sz="1300" dirty="0"/>
          </a:p>
        </p:txBody>
      </p:sp>
      <p:sp>
        <p:nvSpPr>
          <p:cNvPr id="10" name="Text 6"/>
          <p:cNvSpPr txBox="1"/>
          <p:nvPr/>
        </p:nvSpPr>
        <p:spPr>
          <a:xfrm>
            <a:off x="7589520" y="2286000"/>
            <a:ext cx="3867912" cy="420624"/>
          </a:xfrm>
          <a:prstGeom prst="rect">
            <a:avLst/>
          </a:prstGeom>
          <a:noFill/>
          <a:ln/>
        </p:spPr>
        <p:txBody>
          <a:bodyPr wrap="square" lIns="0" tIns="0" rIns="0" bIns="0" rtlCol="0" anchor="ctr"/>
          <a:lstStyle/>
          <a:p>
            <a:pPr algn="l" indent="0" marL="0">
              <a:buNone/>
            </a:pPr>
            <a:r>
              <a:rPr lang="en-US" sz="1500" b="1" dirty="0">
                <a:solidFill>
                  <a:schemeClr val="tx2"/>
                </a:solidFill>
              </a:rPr>
              <a:t>Kalman per asse</a:t>
            </a:r>
            <a:endParaRPr lang="en-US" sz="1500" dirty="0"/>
          </a:p>
        </p:txBody>
      </p:sp>
      <p:sp>
        <p:nvSpPr>
          <p:cNvPr id="11" name="Text 7"/>
          <p:cNvSpPr txBox="1"/>
          <p:nvPr/>
        </p:nvSpPr>
        <p:spPr>
          <a:xfrm>
            <a:off x="7086600" y="2834640"/>
            <a:ext cx="4370832" cy="594360"/>
          </a:xfrm>
          <a:prstGeom prst="rect">
            <a:avLst/>
          </a:prstGeom>
          <a:noFill/>
          <a:ln/>
        </p:spPr>
        <p:txBody>
          <a:bodyPr wrap="square" lIns="0" tIns="0" rIns="0" bIns="0" rtlCol="0" anchor="t"/>
          <a:lstStyle/>
          <a:p>
            <a:pPr algn="l" indent="0" marL="0">
              <a:buNone/>
            </a:pPr>
            <a:r>
              <a:rPr lang="en-US" sz="1300" dirty="0">
                <a:solidFill>
                  <a:schemeClr val="tx1"/>
                </a:solidFill>
              </a:rPr>
              <a:t>Tempi di fusione 45 ms (IMU) e 280 ms (odometria); correzione solo in appoggio.</a:t>
            </a:r>
            <a:endParaRPr lang="en-US" sz="1300" dirty="0"/>
          </a:p>
        </p:txBody>
      </p:sp>
      <p:sp>
        <p:nvSpPr>
          <p:cNvPr id="12" name="Shape 8"/>
          <p:cNvSpPr/>
          <p:nvPr/>
        </p:nvSpPr>
        <p:spPr>
          <a:xfrm>
            <a:off x="548640" y="3886200"/>
            <a:ext cx="3520440" cy="1965960"/>
          </a:xfrm>
          <a:prstGeom prst="roundRect">
            <a:avLst>
              <a:gd name="adj" fmla="val 3721"/>
            </a:avLst>
          </a:prstGeom>
          <a:solidFill>
            <a:schemeClr val="bg2"/>
          </a:solidFill>
          <a:ln w="12700">
            <a:solidFill>
              <a:schemeClr val="bg2"/>
            </a:solidFill>
            <a:prstDash val="solid"/>
          </a:ln>
        </p:spPr>
      </p:sp>
      <p:sp>
        <p:nvSpPr>
          <p:cNvPr id="13" name="Shape 9"/>
          <p:cNvSpPr/>
          <p:nvPr/>
        </p:nvSpPr>
        <p:spPr>
          <a:xfrm>
            <a:off x="731520" y="4069080"/>
            <a:ext cx="420624" cy="420624"/>
          </a:xfrm>
          <a:prstGeom prst="ellipse">
            <a:avLst/>
          </a:prstGeom>
          <a:solidFill>
            <a:schemeClr val="accent2"/>
          </a:solidFill>
          <a:ln w="12700">
            <a:solidFill>
              <a:schemeClr val="accent2"/>
            </a:solidFill>
            <a:prstDash val="solid"/>
          </a:ln>
        </p:spPr>
      </p:sp>
      <p:sp>
        <p:nvSpPr>
          <p:cNvPr id="14" name="Text 10"/>
          <p:cNvSpPr txBox="1"/>
          <p:nvPr/>
        </p:nvSpPr>
        <p:spPr>
          <a:xfrm>
            <a:off x="731520" y="40690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z</a:t>
            </a:r>
            <a:endParaRPr lang="en-US" sz="1300" dirty="0"/>
          </a:p>
        </p:txBody>
      </p:sp>
      <p:sp>
        <p:nvSpPr>
          <p:cNvPr id="15" name="Text 11"/>
          <p:cNvSpPr txBox="1"/>
          <p:nvPr/>
        </p:nvSpPr>
        <p:spPr>
          <a:xfrm>
            <a:off x="1280160" y="406908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K</a:t>
            </a:r>
            <a:r>
              <a:rPr lang="en-US" sz="1500" b="1" baseline="-40000" dirty="0">
                <a:solidFill>
                  <a:schemeClr val="tx2"/>
                </a:solidFill>
              </a:rPr>
              <a:t>p,z</a:t>
            </a:r>
            <a:r>
              <a:rPr lang="en-US" sz="1500" b="1" dirty="0">
                <a:solidFill>
                  <a:schemeClr val="tx2"/>
                </a:solidFill>
              </a:rPr>
              <a:t> = 0 in appoggio</a:t>
            </a:r>
            <a:endParaRPr lang="en-US" sz="1500" dirty="0"/>
          </a:p>
        </p:txBody>
      </p:sp>
      <p:sp>
        <p:nvSpPr>
          <p:cNvPr id="16" name="Text 12"/>
          <p:cNvSpPr txBox="1"/>
          <p:nvPr/>
        </p:nvSpPr>
        <p:spPr>
          <a:xfrm>
            <a:off x="777240" y="4617720"/>
            <a:ext cx="3108960" cy="1097280"/>
          </a:xfrm>
          <a:prstGeom prst="rect">
            <a:avLst/>
          </a:prstGeom>
          <a:noFill/>
          <a:ln/>
        </p:spPr>
        <p:txBody>
          <a:bodyPr wrap="square" lIns="0" tIns="0" rIns="0" bIns="0" rtlCol="0" anchor="t"/>
          <a:lstStyle/>
          <a:p>
            <a:pPr algn="l" indent="0" marL="0">
              <a:buNone/>
            </a:pPr>
            <a:r>
              <a:rPr lang="en-US" sz="1300" dirty="0">
                <a:solidFill>
                  <a:schemeClr val="tx1"/>
                </a:solidFill>
              </a:rPr>
              <a:t>La quota la regola l'MPC tramite F</a:t>
            </a:r>
            <a:r>
              <a:rPr lang="en-US" sz="1300" baseline="-40000" dirty="0">
                <a:solidFill>
                  <a:schemeClr val="tx1"/>
                </a:solidFill>
              </a:rPr>
              <a:t>z</a:t>
            </a:r>
            <a:r>
              <a:rPr lang="en-US" sz="1300" dirty="0">
                <a:solidFill>
                  <a:schemeClr val="tx1"/>
                </a:solidFill>
              </a:rPr>
              <a:t>: una molla in parallelo sarebbe un secondo regolatore sulla stessa grandezza.</a:t>
            </a:r>
            <a:endParaRPr lang="en-US" sz="1300" dirty="0"/>
          </a:p>
        </p:txBody>
      </p:sp>
      <p:sp>
        <p:nvSpPr>
          <p:cNvPr id="17" name="Shape 13"/>
          <p:cNvSpPr/>
          <p:nvPr/>
        </p:nvSpPr>
        <p:spPr>
          <a:xfrm>
            <a:off x="4325112" y="3886200"/>
            <a:ext cx="3520440" cy="1965960"/>
          </a:xfrm>
          <a:prstGeom prst="roundRect">
            <a:avLst>
              <a:gd name="adj" fmla="val 3721"/>
            </a:avLst>
          </a:prstGeom>
          <a:solidFill>
            <a:schemeClr val="bg2"/>
          </a:solidFill>
          <a:ln w="12700">
            <a:solidFill>
              <a:schemeClr val="bg2"/>
            </a:solidFill>
            <a:prstDash val="solid"/>
          </a:ln>
        </p:spPr>
      </p:sp>
      <p:sp>
        <p:nvSpPr>
          <p:cNvPr id="18" name="Shape 14"/>
          <p:cNvSpPr/>
          <p:nvPr/>
        </p:nvSpPr>
        <p:spPr>
          <a:xfrm>
            <a:off x="4507992" y="4069080"/>
            <a:ext cx="420624" cy="420624"/>
          </a:xfrm>
          <a:prstGeom prst="ellipse">
            <a:avLst/>
          </a:prstGeom>
          <a:solidFill>
            <a:schemeClr val="accent2"/>
          </a:solidFill>
          <a:ln w="12700">
            <a:solidFill>
              <a:schemeClr val="accent2"/>
            </a:solidFill>
            <a:prstDash val="solid"/>
          </a:ln>
        </p:spPr>
      </p:sp>
      <p:sp>
        <p:nvSpPr>
          <p:cNvPr id="19" name="Text 15"/>
          <p:cNvSpPr txBox="1"/>
          <p:nvPr/>
        </p:nvSpPr>
        <p:spPr>
          <a:xfrm>
            <a:off x="4507992" y="40690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x</a:t>
            </a:r>
            <a:endParaRPr lang="en-US" sz="1300" dirty="0"/>
          </a:p>
        </p:txBody>
      </p:sp>
      <p:sp>
        <p:nvSpPr>
          <p:cNvPr id="20" name="Text 16"/>
          <p:cNvSpPr txBox="1"/>
          <p:nvPr/>
        </p:nvSpPr>
        <p:spPr>
          <a:xfrm>
            <a:off x="5056632" y="406908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Piede rapido</a:t>
            </a:r>
            <a:endParaRPr lang="en-US" sz="1500" dirty="0"/>
          </a:p>
        </p:txBody>
      </p:sp>
      <p:sp>
        <p:nvSpPr>
          <p:cNvPr id="21" name="Text 17"/>
          <p:cNvSpPr txBox="1"/>
          <p:nvPr/>
        </p:nvSpPr>
        <p:spPr>
          <a:xfrm>
            <a:off x="4553712" y="4617720"/>
            <a:ext cx="3108960" cy="1097280"/>
          </a:xfrm>
          <a:prstGeom prst="rect">
            <a:avLst/>
          </a:prstGeom>
          <a:noFill/>
          <a:ln/>
        </p:spPr>
        <p:txBody>
          <a:bodyPr wrap="square" lIns="0" tIns="0" rIns="0" bIns="0" rtlCol="0" anchor="t"/>
          <a:lstStyle/>
          <a:p>
            <a:pPr algn="l" indent="0" marL="0">
              <a:buNone/>
            </a:pPr>
            <a:r>
              <a:rPr lang="en-US" sz="1300" dirty="0">
                <a:solidFill>
                  <a:schemeClr val="tx1"/>
                </a:solidFill>
              </a:rPr>
              <a:t>K</a:t>
            </a:r>
            <a:r>
              <a:rPr lang="en-US" sz="1300" baseline="-40000" dirty="0">
                <a:solidFill>
                  <a:schemeClr val="tx1"/>
                </a:solidFill>
              </a:rPr>
              <a:t>p,x</a:t>
            </a:r>
            <a:r>
              <a:rPr lang="en-US" sz="1300" dirty="0">
                <a:solidFill>
                  <a:schemeClr val="tx1"/>
                </a:solidFill>
              </a:rPr>
              <a:t> = 1500 N/m, K</a:t>
            </a:r>
            <a:r>
              <a:rPr lang="en-US" sz="1300" baseline="-40000" dirty="0">
                <a:solidFill>
                  <a:schemeClr val="tx1"/>
                </a:solidFill>
              </a:rPr>
              <a:t>d</a:t>
            </a:r>
            <a:r>
              <a:rPr lang="en-US" sz="1300" dirty="0">
                <a:solidFill>
                  <a:schemeClr val="tx1"/>
                </a:solidFill>
              </a:rPr>
              <a:t> = 40 N·s/m: il piede converge in 27 ms, molto prima del moto del CoM.</a:t>
            </a:r>
            <a:endParaRPr lang="en-US" sz="1300" dirty="0"/>
          </a:p>
        </p:txBody>
      </p:sp>
      <p:sp>
        <p:nvSpPr>
          <p:cNvPr id="22" name="Shape 18"/>
          <p:cNvSpPr/>
          <p:nvPr/>
        </p:nvSpPr>
        <p:spPr>
          <a:xfrm>
            <a:off x="8101584" y="3886200"/>
            <a:ext cx="3520440" cy="1965960"/>
          </a:xfrm>
          <a:prstGeom prst="roundRect">
            <a:avLst>
              <a:gd name="adj" fmla="val 3721"/>
            </a:avLst>
          </a:prstGeom>
          <a:solidFill>
            <a:schemeClr val="bg2"/>
          </a:solidFill>
          <a:ln w="12700">
            <a:solidFill>
              <a:schemeClr val="bg2"/>
            </a:solidFill>
            <a:prstDash val="solid"/>
          </a:ln>
        </p:spPr>
      </p:sp>
      <p:sp>
        <p:nvSpPr>
          <p:cNvPr id="23" name="Shape 19"/>
          <p:cNvSpPr/>
          <p:nvPr/>
        </p:nvSpPr>
        <p:spPr>
          <a:xfrm>
            <a:off x="8284464" y="4069080"/>
            <a:ext cx="420624" cy="420624"/>
          </a:xfrm>
          <a:prstGeom prst="ellipse">
            <a:avLst/>
          </a:prstGeom>
          <a:solidFill>
            <a:schemeClr val="accent2"/>
          </a:solidFill>
          <a:ln w="12700">
            <a:solidFill>
              <a:schemeClr val="accent2"/>
            </a:solidFill>
            <a:prstDash val="solid"/>
          </a:ln>
        </p:spPr>
      </p:sp>
      <p:sp>
        <p:nvSpPr>
          <p:cNvPr id="24" name="Text 20"/>
          <p:cNvSpPr txBox="1"/>
          <p:nvPr/>
        </p:nvSpPr>
        <p:spPr>
          <a:xfrm>
            <a:off x="8284464" y="406908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ψ</a:t>
            </a:r>
            <a:endParaRPr lang="en-US" sz="1300" dirty="0"/>
          </a:p>
        </p:txBody>
      </p:sp>
      <p:sp>
        <p:nvSpPr>
          <p:cNvPr id="25" name="Text 21"/>
          <p:cNvSpPr txBox="1"/>
          <p:nvPr/>
        </p:nvSpPr>
        <p:spPr>
          <a:xfrm>
            <a:off x="8833104" y="4069080"/>
            <a:ext cx="2606040" cy="420624"/>
          </a:xfrm>
          <a:prstGeom prst="rect">
            <a:avLst/>
          </a:prstGeom>
          <a:noFill/>
          <a:ln/>
        </p:spPr>
        <p:txBody>
          <a:bodyPr wrap="square" lIns="0" tIns="0" rIns="0" bIns="0" rtlCol="0" anchor="ctr"/>
          <a:lstStyle/>
          <a:p>
            <a:pPr algn="l" indent="0" marL="0">
              <a:buNone/>
            </a:pPr>
            <a:r>
              <a:rPr lang="en-US" sz="1500" b="1" dirty="0">
                <a:solidFill>
                  <a:schemeClr val="tx2"/>
                </a:solidFill>
              </a:rPr>
              <a:t>Imbardata</a:t>
            </a:r>
            <a:endParaRPr lang="en-US" sz="1500" dirty="0"/>
          </a:p>
        </p:txBody>
      </p:sp>
      <p:sp>
        <p:nvSpPr>
          <p:cNvPr id="26" name="Text 22"/>
          <p:cNvSpPr txBox="1"/>
          <p:nvPr/>
        </p:nvSpPr>
        <p:spPr>
          <a:xfrm>
            <a:off x="8330184" y="4617720"/>
            <a:ext cx="3108960" cy="1097280"/>
          </a:xfrm>
          <a:prstGeom prst="rect">
            <a:avLst/>
          </a:prstGeom>
          <a:noFill/>
          <a:ln/>
        </p:spPr>
        <p:txBody>
          <a:bodyPr wrap="square" lIns="0" tIns="0" rIns="0" bIns="0" rtlCol="0" anchor="t"/>
          <a:lstStyle/>
          <a:p>
            <a:pPr algn="l" indent="0" marL="0">
              <a:buNone/>
            </a:pPr>
            <a:r>
              <a:rPr lang="en-US" sz="1300" dirty="0">
                <a:solidFill>
                  <a:schemeClr val="tx1"/>
                </a:solidFill>
              </a:rPr>
              <a:t>Riga φ del TV-LQR più attrito di Coulomb e viscoso e integrale con zona morta (0,035 rad).</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Valutazioni su MPC + TV-LQR</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4 · MPC + TV-LQR</a:t>
            </a:r>
            <a:endParaRPr lang="en-US" sz="1200" dirty="0"/>
          </a:p>
        </p:txBody>
      </p:sp>
      <p:sp>
        <p:nvSpPr>
          <p:cNvPr id="5" name="Shape 3"/>
          <p:cNvSpPr/>
          <p:nvPr/>
        </p:nvSpPr>
        <p:spPr>
          <a:xfrm>
            <a:off x="548640" y="1371600"/>
            <a:ext cx="5394960" cy="4206240"/>
          </a:xfrm>
          <a:prstGeom prst="roundRect">
            <a:avLst>
              <a:gd name="adj" fmla="val 1739"/>
            </a:avLst>
          </a:prstGeom>
          <a:solidFill>
            <a:schemeClr val="bg2"/>
          </a:solidFill>
          <a:ln w="12700">
            <a:solidFill>
              <a:schemeClr val="bg2"/>
            </a:solidFill>
            <a:prstDash val="solid"/>
          </a:ln>
        </p:spPr>
      </p:sp>
      <p:sp>
        <p:nvSpPr>
          <p:cNvPr id="6" name="Text 4"/>
          <p:cNvSpPr txBox="1"/>
          <p:nvPr/>
        </p:nvSpPr>
        <p:spPr>
          <a:xfrm>
            <a:off x="777240" y="1508760"/>
            <a:ext cx="4937760" cy="411480"/>
          </a:xfrm>
          <a:prstGeom prst="rect">
            <a:avLst/>
          </a:prstGeom>
          <a:noFill/>
          <a:ln/>
        </p:spPr>
        <p:txBody>
          <a:bodyPr wrap="square" lIns="0" tIns="0" rIns="0" bIns="0" rtlCol="0" anchor="t"/>
          <a:lstStyle/>
          <a:p>
            <a:pPr algn="l" indent="0" marL="0">
              <a:buNone/>
            </a:pPr>
            <a:r>
              <a:rPr lang="en-US" sz="1800" b="1" dirty="0">
                <a:solidFill>
                  <a:schemeClr val="accent2"/>
                </a:solidFill>
              </a:rPr>
              <a:t>Punti di forza</a:t>
            </a:r>
            <a:endParaRPr lang="en-US" sz="1800" dirty="0"/>
          </a:p>
        </p:txBody>
      </p:sp>
      <p:sp>
        <p:nvSpPr>
          <p:cNvPr id="7" name="Text 5"/>
          <p:cNvSpPr txBox="1"/>
          <p:nvPr/>
        </p:nvSpPr>
        <p:spPr>
          <a:xfrm>
            <a:off x="777240" y="2057400"/>
            <a:ext cx="4983480" cy="33832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Anticipo sui riferimenti: 0,5 s di orizzonte in un sistema a fase non minima</a:t>
            </a:r>
            <a:endParaRPr lang="en-US" sz="1500" dirty="0"/>
          </a:p>
          <a:p>
            <a:pPr marL="203200" indent="-203200">
              <a:spcAft>
                <a:spcPts val="1000"/>
              </a:spcAft>
              <a:buSzPct val="100000"/>
              <a:buChar char="•"/>
            </a:pPr>
            <a:r>
              <a:rPr lang="en-US" sz="1500" dirty="0">
                <a:solidFill>
                  <a:schemeClr val="tx1"/>
                </a:solidFill>
              </a:rPr>
              <a:t>Vincoli rispettati nel piano, non saturati a posteriori</a:t>
            </a:r>
            <a:endParaRPr lang="en-US" sz="1500" dirty="0"/>
          </a:p>
          <a:p>
            <a:pPr marL="203200" indent="-203200">
              <a:spcAft>
                <a:spcPts val="1000"/>
              </a:spcAft>
              <a:buSzPct val="100000"/>
              <a:buChar char="•"/>
            </a:pPr>
            <a:r>
              <a:rPr lang="en-US" sz="1500" dirty="0">
                <a:solidFill>
                  <a:schemeClr val="tx1"/>
                </a:solidFill>
              </a:rPr>
              <a:t>Un'unica sintesi per F</a:t>
            </a:r>
            <a:r>
              <a:rPr lang="en-US" sz="1500" baseline="-40000" dirty="0">
                <a:solidFill>
                  <a:schemeClr val="tx1"/>
                </a:solidFill>
              </a:rPr>
              <a:t>z</a:t>
            </a:r>
            <a:r>
              <a:rPr lang="en-US" sz="1500" dirty="0">
                <a:solidFill>
                  <a:schemeClr val="tx1"/>
                </a:solidFill>
              </a:rPr>
              <a:t>: appoggio, quota e spinta del salto</a:t>
            </a:r>
            <a:endParaRPr lang="en-US" sz="1500" dirty="0"/>
          </a:p>
          <a:p>
            <a:pPr marL="203200" indent="-203200">
              <a:spcAft>
                <a:spcPts val="1000"/>
              </a:spcAft>
              <a:buSzPct val="100000"/>
              <a:buChar char="•"/>
            </a:pPr>
            <a:r>
              <a:rPr lang="en-US" sz="1500" dirty="0">
                <a:solidFill>
                  <a:schemeClr val="tx1"/>
                </a:solidFill>
              </a:rPr>
              <a:t>Stima realistica (IMU + Kalman), trasferibile a un robot vero</a:t>
            </a:r>
            <a:endParaRPr lang="en-US" sz="1500" dirty="0"/>
          </a:p>
        </p:txBody>
      </p:sp>
      <p:sp>
        <p:nvSpPr>
          <p:cNvPr id="8" name="Shape 6"/>
          <p:cNvSpPr/>
          <p:nvPr/>
        </p:nvSpPr>
        <p:spPr>
          <a:xfrm>
            <a:off x="6245352" y="1371600"/>
            <a:ext cx="5394960" cy="4206240"/>
          </a:xfrm>
          <a:prstGeom prst="roundRect">
            <a:avLst>
              <a:gd name="adj" fmla="val 1739"/>
            </a:avLst>
          </a:prstGeom>
          <a:solidFill>
            <a:schemeClr val="bg2"/>
          </a:solidFill>
          <a:ln w="12700">
            <a:solidFill>
              <a:schemeClr val="bg2"/>
            </a:solidFill>
            <a:prstDash val="solid"/>
          </a:ln>
        </p:spPr>
      </p:sp>
      <p:sp>
        <p:nvSpPr>
          <p:cNvPr id="9" name="Text 7"/>
          <p:cNvSpPr txBox="1"/>
          <p:nvPr/>
        </p:nvSpPr>
        <p:spPr>
          <a:xfrm>
            <a:off x="6473952" y="1508760"/>
            <a:ext cx="4937760" cy="411480"/>
          </a:xfrm>
          <a:prstGeom prst="rect">
            <a:avLst/>
          </a:prstGeom>
          <a:noFill/>
          <a:ln/>
        </p:spPr>
        <p:txBody>
          <a:bodyPr wrap="square" lIns="0" tIns="0" rIns="0" bIns="0" rtlCol="0" anchor="t"/>
          <a:lstStyle/>
          <a:p>
            <a:pPr algn="l" indent="0" marL="0">
              <a:buNone/>
            </a:pPr>
            <a:r>
              <a:rPr lang="en-US" sz="1800" b="1" dirty="0">
                <a:solidFill>
                  <a:schemeClr val="accent1"/>
                </a:solidFill>
              </a:rPr>
              <a:t>Limiti e spunti</a:t>
            </a:r>
            <a:endParaRPr lang="en-US" sz="1800" dirty="0"/>
          </a:p>
        </p:txBody>
      </p:sp>
      <p:sp>
        <p:nvSpPr>
          <p:cNvPr id="10" name="Text 8"/>
          <p:cNvSpPr txBox="1"/>
          <p:nvPr/>
        </p:nvSpPr>
        <p:spPr>
          <a:xfrm>
            <a:off x="6473952" y="2057400"/>
            <a:ext cx="4983480" cy="34747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Nessuna azione integrale sul sagittale: con 3 N costanti l'errore a regime è 0,65 m (modello ridotto)</a:t>
            </a:r>
            <a:endParaRPr lang="en-US" sz="1500" dirty="0"/>
          </a:p>
          <a:p>
            <a:pPr marL="203200" indent="-203200">
              <a:spcAft>
                <a:spcPts val="800"/>
              </a:spcAft>
              <a:buSzPct val="100000"/>
              <a:buChar char="•"/>
            </a:pPr>
            <a:r>
              <a:rPr lang="en-US" sz="1500" dirty="0">
                <a:solidFill>
                  <a:schemeClr val="tx1"/>
                </a:solidFill>
              </a:rPr>
              <a:t>Predizione senza beccheggio: l'MPC non sa che spostare il CoM richiede prima di inclinare il pendolo</a:t>
            </a:r>
            <a:endParaRPr lang="en-US" sz="1500" dirty="0"/>
          </a:p>
          <a:p>
            <a:pPr marL="203200" indent="-203200">
              <a:spcAft>
                <a:spcPts val="800"/>
              </a:spcAft>
              <a:buSzPct val="100000"/>
              <a:buChar char="•"/>
            </a:pPr>
            <a:r>
              <a:rPr lang="en-US" sz="1500" dirty="0">
                <a:solidFill>
                  <a:schemeClr val="tx1"/>
                </a:solidFill>
              </a:rPr>
              <a:t>Il tetto di 3 cm rende inattivo il vincolo d'attrito del paper e limita la decelerazione</a:t>
            </a:r>
            <a:endParaRPr lang="en-US" sz="1500" dirty="0"/>
          </a:p>
          <a:p>
            <a:pPr marL="203200" indent="-203200">
              <a:spcAft>
                <a:spcPts val="800"/>
              </a:spcAft>
              <a:buSzPct val="100000"/>
              <a:buChar char="•"/>
            </a:pPr>
            <a:r>
              <a:rPr lang="en-US" sz="1500" dirty="0">
                <a:solidFill>
                  <a:schemeClr val="tx1"/>
                </a:solidFill>
              </a:rPr>
              <a:t>Spunti: stato integrale o modello del disturbo nella QP; vincolo di inclinazione funzione di h; predizione sul VL-WIP completo</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2834640" y="2057400"/>
            <a:ext cx="8595360" cy="1097280"/>
          </a:xfrm>
          <a:prstGeom prst="rect">
            <a:avLst/>
          </a:prstGeom>
          <a:noFill/>
          <a:ln/>
        </p:spPr>
        <p:txBody>
          <a:bodyPr wrap="square" lIns="0" tIns="0" rIns="0" bIns="0" rtlCol="0" anchor="b"/>
          <a:lstStyle/>
          <a:p>
            <a:pPr algn="l" indent="0" marL="0">
              <a:buNone/>
            </a:pPr>
            <a:r>
              <a:rPr lang="en-US" sz="4000" b="1" dirty="0">
                <a:solidFill>
                  <a:schemeClr val="bg1"/>
                </a:solidFill>
              </a:rPr>
              <a:t>Confronto PID – MPC</a:t>
            </a:r>
            <a:endParaRPr lang="en-US" sz="4000" dirty="0"/>
          </a:p>
        </p:txBody>
      </p:sp>
      <p:sp>
        <p:nvSpPr>
          <p:cNvPr id="3" name="Text 0"/>
          <p:cNvSpPr/>
          <p:nvPr>
            <p:ph idx="101" type="body" hasCustomPrompt="1"/>
          </p:nvPr>
        </p:nvSpPr>
        <p:spPr>
          <a:xfrm>
            <a:off x="2834640" y="3291840"/>
            <a:ext cx="8229600" cy="1645920"/>
          </a:xfrm>
          <a:prstGeom prst="rect">
            <a:avLst/>
          </a:prstGeom>
          <a:noFill/>
          <a:ln/>
        </p:spPr>
        <p:txBody>
          <a:bodyPr wrap="square" lIns="0" tIns="0" rIns="0" bIns="0" rtlCol="0" anchor="t"/>
          <a:lstStyle/>
          <a:p>
            <a:pPr algn="l" indent="0" marL="0">
              <a:buNone/>
            </a:pPr>
            <a:r>
              <a:rPr lang="en-US" sz="1800" dirty="0">
                <a:solidFill>
                  <a:schemeClr val="bg2"/>
                </a:solidFill>
              </a:rPr>
              <a:t>Stesso URDF, stesso mondo Gazebo, stessa attuazione in coppia a 500 Hz, stessi argomenti di scenario: cambia solo il nodo del controllore. Sezione impostata: i grafici sono da inserire.</a:t>
            </a:r>
            <a:endParaRPr lang="en-US" sz="1800" dirty="0"/>
          </a:p>
        </p:txBody>
      </p:sp>
      <p:sp>
        <p:nvSpPr>
          <p:cNvPr id="4" name="Shape 2"/>
          <p:cNvSpPr/>
          <p:nvPr/>
        </p:nvSpPr>
        <p:spPr>
          <a:xfrm>
            <a:off x="868680" y="2148840"/>
            <a:ext cx="1554480" cy="1554480"/>
          </a:xfrm>
          <a:prstGeom prst="ellipse">
            <a:avLst/>
          </a:prstGeom>
          <a:solidFill>
            <a:schemeClr val="accent5"/>
          </a:solidFill>
          <a:ln w="12700">
            <a:solidFill>
              <a:schemeClr val="accent5"/>
            </a:solidFill>
            <a:prstDash val="solid"/>
          </a:ln>
        </p:spPr>
      </p:sp>
      <p:sp>
        <p:nvSpPr>
          <p:cNvPr id="5" name="Text 3"/>
          <p:cNvSpPr txBox="1"/>
          <p:nvPr/>
        </p:nvSpPr>
        <p:spPr>
          <a:xfrm>
            <a:off x="868680" y="2148840"/>
            <a:ext cx="1554480" cy="1554480"/>
          </a:xfrm>
          <a:prstGeom prst="rect">
            <a:avLst/>
          </a:prstGeom>
          <a:noFill/>
          <a:ln/>
        </p:spPr>
        <p:txBody>
          <a:bodyPr wrap="square" lIns="0" tIns="0" rIns="0" bIns="0" rtlCol="0" anchor="ctr"/>
          <a:lstStyle/>
          <a:p>
            <a:pPr algn="ctr" indent="0" marL="0">
              <a:buNone/>
            </a:pPr>
            <a:r>
              <a:rPr lang="en-US" sz="6000" b="1" dirty="0">
                <a:solidFill>
                  <a:schemeClr val="bg1"/>
                </a:solidFill>
              </a:rPr>
              <a:t>5</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Le due architetture a confronto</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5"/>
          </a:solidFill>
          <a:ln w="12700">
            <a:solidFill>
              <a:schemeClr val="accent5"/>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5 · Confronto</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651760"/>
                <a:gridCol w="4206240"/>
                <a:gridCol w="4233672"/>
              </a:tblGrid>
              <a:tr h="429768">
                <a:tc>
                  <a:txBody>
                    <a:bodyPr/>
                    <a:lstStyle/>
                    <a:p>
                      <a:pPr algn="l" indent="0" marL="0">
                        <a:buNone/>
                      </a:pPr>
                      <a:r>
                        <a:rPr lang="en-US" sz="1300" b="1" dirty="0">
                          <a:solidFill>
                            <a:schemeClr val="bg1"/>
                          </a:solidFill>
                        </a:rPr>
                        <a:t> </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PID con ZMP</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MPC + TV-LQR + VMC</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tx2"/>
                    </a:solidFill>
                  </a:tcPr>
                </a:tc>
              </a:tr>
              <a:tr h="429768">
                <a:tc>
                  <a:txBody>
                    <a:bodyPr/>
                    <a:lstStyle/>
                    <a:p>
                      <a:pPr algn="l" indent="0" marL="0">
                        <a:buNone/>
                      </a:pPr>
                      <a:r>
                        <a:rPr lang="en-US" sz="1300" dirty="0">
                          <a:solidFill>
                            <a:schemeClr val="tx1"/>
                          </a:solidFill>
                        </a:rPr>
                        <a:t>Stato per l'equilibrio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ground truth, derivate non filtrate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IMU + Kalman + cinematica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429768">
                <a:tc>
                  <a:txBody>
                    <a:bodyPr/>
                    <a:lstStyle/>
                    <a:p>
                      <a:pPr algn="l" indent="0" marL="0">
                        <a:buNone/>
                      </a:pPr>
                      <a:r>
                        <a:rPr lang="en-US" sz="1300" dirty="0">
                          <a:solidFill>
                            <a:schemeClr val="tx1"/>
                          </a:solidFill>
                        </a:rPr>
                        <a:t>Legge sulle ruote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PI sul Capture Point → ZMP → PD</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LQR schedulato su l</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429768">
                <a:tc>
                  <a:txBody>
                    <a:bodyPr/>
                    <a:lstStyle/>
                    <a:p>
                      <a:pPr algn="l" indent="0" marL="0">
                        <a:buNone/>
                      </a:pPr>
                      <a:r>
                        <a:rPr lang="en-US" sz="1300" dirty="0">
                          <a:solidFill>
                            <a:schemeClr val="tx1"/>
                          </a:solidFill>
                        </a:rPr>
                        <a:t>Uso del modello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feedforward VL-WIP, anteprima LIPM</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LQR (VL-WIP) + MPC (massa concentrata)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429768">
                <a:tc>
                  <a:txBody>
                    <a:bodyPr/>
                    <a:lstStyle/>
                    <a:p>
                      <a:pPr algn="l" indent="0" marL="0">
                        <a:buNone/>
                      </a:pPr>
                      <a:r>
                        <a:rPr lang="en-US" sz="1300" dirty="0">
                          <a:solidFill>
                            <a:schemeClr val="tx1"/>
                          </a:solidFill>
                        </a:rPr>
                        <a:t>Traslazione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anteprima LIPM + integrale sul Capture Point</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MPC con anteprima + LQR sul piano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429768">
                <a:tc>
                  <a:txBody>
                    <a:bodyPr/>
                    <a:lstStyle/>
                    <a:p>
                      <a:pPr algn="l" indent="0" marL="0">
                        <a:buNone/>
                      </a:pPr>
                      <a:r>
                        <a:rPr lang="en-US" sz="1300" dirty="0">
                          <a:solidFill>
                            <a:schemeClr val="tx1"/>
                          </a:solidFill>
                        </a:rPr>
                        <a:t>Limite di inclinazione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offset ZMP ≤ a</a:t>
                      </a:r>
                      <a:r>
                        <a:rPr lang="en-US" sz="1300" baseline="-40000" dirty="0">
                          <a:solidFill>
                            <a:schemeClr val="tx1"/>
                          </a:solidFill>
                        </a:rPr>
                        <a:t>max</a:t>
                      </a:r>
                      <a:r>
                        <a:rPr lang="en-US" sz="1300" dirty="0">
                          <a:solidFill>
                            <a:schemeClr val="tx1"/>
                          </a:solidFill>
                        </a:rPr>
                        <a:t>/ω² (3 m/s²)</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Δs ≤ 3 cm → 10,48°</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429768">
                <a:tc>
                  <a:txBody>
                    <a:bodyPr/>
                    <a:lstStyle/>
                    <a:p>
                      <a:pPr algn="l" indent="0" marL="0">
                        <a:buNone/>
                      </a:pPr>
                      <a:r>
                        <a:rPr lang="en-US" sz="1300" dirty="0">
                          <a:solidFill>
                            <a:schemeClr val="tx1"/>
                          </a:solidFill>
                        </a:rPr>
                        <a:t>Imbardata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PID + attrito</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LQR (R</a:t>
                      </a:r>
                      <a:r>
                        <a:rPr lang="en-US" sz="1300" baseline="-40000" dirty="0">
                          <a:solidFill>
                            <a:schemeClr val="tx1"/>
                          </a:solidFill>
                        </a:rPr>
                        <a:t>d</a:t>
                      </a:r>
                      <a:r>
                        <a:rPr lang="en-US" sz="1300" dirty="0">
                          <a:solidFill>
                            <a:schemeClr val="tx1"/>
                          </a:solidFill>
                        </a:rPr>
                        <a:t> = 100) + attrito + integrale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429768">
                <a:tc>
                  <a:txBody>
                    <a:bodyPr/>
                    <a:lstStyle/>
                    <a:p>
                      <a:pPr algn="l" indent="0" marL="0">
                        <a:buNone/>
                      </a:pPr>
                      <a:r>
                        <a:rPr lang="en-US" sz="1300" dirty="0">
                          <a:solidFill>
                            <a:schemeClr val="tx1"/>
                          </a:solidFill>
                        </a:rPr>
                        <a:t>Gambe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PD cartesiano, 1500 / 5000 N/m</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VMC, K</a:t>
                      </a:r>
                      <a:r>
                        <a:rPr lang="en-US" sz="1300" baseline="-40000" dirty="0">
                          <a:solidFill>
                            <a:schemeClr val="tx1"/>
                          </a:solidFill>
                        </a:rPr>
                        <a:t>p,z</a:t>
                      </a:r>
                      <a:r>
                        <a:rPr lang="en-US" sz="1300" dirty="0">
                          <a:solidFill>
                            <a:schemeClr val="tx1"/>
                          </a:solidFill>
                        </a:rPr>
                        <a:t> = 0, sostegno da F</a:t>
                      </a:r>
                      <a:r>
                        <a:rPr lang="en-US" sz="1300" baseline="-40000" dirty="0">
                          <a:solidFill>
                            <a:schemeClr val="tx1"/>
                          </a:solidFill>
                        </a:rPr>
                        <a:t>z</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r h="429768">
                <a:tc>
                  <a:txBody>
                    <a:bodyPr/>
                    <a:lstStyle/>
                    <a:p>
                      <a:pPr algn="l" indent="0" marL="0">
                        <a:buNone/>
                      </a:pPr>
                      <a:r>
                        <a:rPr lang="en-US" sz="1300" dirty="0">
                          <a:solidFill>
                            <a:schemeClr val="tx1"/>
                          </a:solidFill>
                        </a:rPr>
                        <a:t>Azione integrale</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Capture Point, imbardata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solo imbardata</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2"/>
                    </a:solidFill>
                  </a:tcPr>
                </a:tc>
              </a:tr>
              <a:tr h="429768">
                <a:tc>
                  <a:txBody>
                    <a:bodyPr/>
                    <a:lstStyle/>
                    <a:p>
                      <a:pPr algn="l" indent="0" marL="0">
                        <a:buNone/>
                      </a:pPr>
                      <a:r>
                        <a:rPr lang="en-US" sz="1300" dirty="0">
                          <a:solidFill>
                            <a:schemeClr val="tx1"/>
                          </a:solidFill>
                        </a:rPr>
                        <a:t>Poli sagittali</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−0,5; −2,3±0,2j; −9,8; −52</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−8,13; −1,08±0,68j</a:t>
                      </a:r>
                      <a:endParaRPr lang="en-US" sz="1200" dirty="0"/>
                    </a:p>
                  </a:txBody>
                  <a:tcPr marL="76200" marR="76200" marT="38100" marB="38100" anchor="ctr">
                    <a:lnL w="9525" cap="flat" cmpd="sng" algn="ctr">
                      <a:solidFill>
                        <a:srgbClr val="EEF2F4"/>
                      </a:solidFill>
                      <a:prstDash val="solid"/>
                      <a:round/>
                      <a:headEnd type="none" w="med" len="med"/>
                      <a:tailEnd type="none" w="med" len="med"/>
                    </a:lnL>
                    <a:lnR w="9525" cap="flat" cmpd="sng" algn="ctr">
                      <a:solidFill>
                        <a:srgbClr val="EEF2F4"/>
                      </a:solidFill>
                      <a:prstDash val="solid"/>
                      <a:round/>
                      <a:headEnd type="none" w="med" len="med"/>
                      <a:tailEnd type="none" w="med" len="med"/>
                    </a:lnR>
                    <a:lnT w="9525" cap="flat" cmpd="sng" algn="ctr">
                      <a:solidFill>
                        <a:srgbClr val="EEF2F4"/>
                      </a:solidFill>
                      <a:prstDash val="solid"/>
                      <a:round/>
                      <a:headEnd type="none" w="med" len="med"/>
                      <a:tailEnd type="none" w="med" len="med"/>
                    </a:lnT>
                    <a:lnB w="9525" cap="flat" cmpd="sng" algn="ctr">
                      <a:solidFill>
                        <a:srgbClr val="EEF2F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Disturbi: spinta sul torso e salto</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5"/>
          </a:solidFill>
          <a:ln w="12700">
            <a:solidFill>
              <a:schemeClr val="accent5"/>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5 · Confronto</a:t>
            </a:r>
            <a:endParaRPr lang="en-US" sz="1200" dirty="0"/>
          </a:p>
        </p:txBody>
      </p:sp>
      <p:sp>
        <p:nvSpPr>
          <p:cNvPr id="5" name="Text 3"/>
          <p:cNvSpPr txBox="1"/>
          <p:nvPr/>
        </p:nvSpPr>
        <p:spPr>
          <a:xfrm>
            <a:off x="548640" y="1280160"/>
            <a:ext cx="8686800" cy="411480"/>
          </a:xfrm>
          <a:prstGeom prst="rect">
            <a:avLst/>
          </a:prstGeom>
          <a:noFill/>
          <a:ln/>
        </p:spPr>
        <p:txBody>
          <a:bodyPr wrap="square" lIns="0" tIns="0" rIns="0" bIns="0" rtlCol="0" anchor="t"/>
          <a:lstStyle/>
          <a:p>
            <a:pPr algn="l" indent="0" marL="0">
              <a:buNone/>
            </a:pPr>
            <a:r>
              <a:rPr lang="en-US" sz="1300" i="1" dirty="0">
                <a:solidFill>
                  <a:schemeClr val="accent4"/>
                </a:solidFill>
              </a:rPr>
              <a:t>Spinta: impulso di 2,7 N·s all'indietro sul torso a 4 s dal rilascio. Salto verticale a 4 s, poi equilibrio.</a:t>
            </a:r>
            <a:endParaRPr lang="en-US" sz="1300" dirty="0"/>
          </a:p>
        </p:txBody>
      </p:sp>
      <p:sp>
        <p:nvSpPr>
          <p:cNvPr id="6" name="Shape 4"/>
          <p:cNvSpPr/>
          <p:nvPr/>
        </p:nvSpPr>
        <p:spPr>
          <a:xfrm>
            <a:off x="9692640" y="1353312"/>
            <a:ext cx="237744" cy="237744"/>
          </a:xfrm>
          <a:prstGeom prst="ellipse">
            <a:avLst/>
          </a:prstGeom>
          <a:solidFill>
            <a:schemeClr val="accent1"/>
          </a:solidFill>
          <a:ln w="12700">
            <a:solidFill>
              <a:schemeClr val="accent1"/>
            </a:solidFill>
            <a:prstDash val="solid"/>
          </a:ln>
        </p:spPr>
      </p:sp>
      <p:sp>
        <p:nvSpPr>
          <p:cNvPr id="7" name="Text 5"/>
          <p:cNvSpPr txBox="1"/>
          <p:nvPr/>
        </p:nvSpPr>
        <p:spPr>
          <a:xfrm>
            <a:off x="9692640" y="1353312"/>
            <a:ext cx="237744" cy="237744"/>
          </a:xfrm>
          <a:prstGeom prst="rect">
            <a:avLst/>
          </a:prstGeom>
          <a:noFill/>
          <a:ln/>
        </p:spPr>
        <p:txBody>
          <a:bodyPr wrap="square" lIns="0" tIns="0" rIns="0" bIns="0" rtlCol="0" anchor="ctr"/>
          <a:lstStyle/>
          <a:p>
            <a:pPr algn="ctr" indent="0" marL="0">
              <a:buNone/>
            </a:pPr>
            <a:endParaRPr lang="en-US" sz="600" dirty="0"/>
          </a:p>
        </p:txBody>
      </p:sp>
      <p:sp>
        <p:nvSpPr>
          <p:cNvPr id="8" name="Text 6"/>
          <p:cNvSpPr txBox="1"/>
          <p:nvPr/>
        </p:nvSpPr>
        <p:spPr>
          <a:xfrm>
            <a:off x="10003536" y="1335024"/>
            <a:ext cx="548640" cy="274320"/>
          </a:xfrm>
          <a:prstGeom prst="rect">
            <a:avLst/>
          </a:prstGeom>
          <a:noFill/>
          <a:ln/>
        </p:spPr>
        <p:txBody>
          <a:bodyPr wrap="square" lIns="0" tIns="0" rIns="0" bIns="0" rtlCol="0" anchor="t"/>
          <a:lstStyle/>
          <a:p>
            <a:pPr algn="l" indent="0" marL="0">
              <a:buNone/>
            </a:pPr>
            <a:r>
              <a:rPr lang="en-US" sz="1200" b="1" dirty="0">
                <a:solidFill>
                  <a:schemeClr val="accent1"/>
                </a:solidFill>
              </a:rPr>
              <a:t>PID</a:t>
            </a:r>
            <a:endParaRPr lang="en-US" sz="1200" dirty="0"/>
          </a:p>
        </p:txBody>
      </p:sp>
      <p:sp>
        <p:nvSpPr>
          <p:cNvPr id="9" name="Shape 7"/>
          <p:cNvSpPr/>
          <p:nvPr/>
        </p:nvSpPr>
        <p:spPr>
          <a:xfrm>
            <a:off x="10561320" y="1353312"/>
            <a:ext cx="237744" cy="237744"/>
          </a:xfrm>
          <a:prstGeom prst="ellipse">
            <a:avLst/>
          </a:prstGeom>
          <a:solidFill>
            <a:schemeClr val="accent2"/>
          </a:solidFill>
          <a:ln w="12700">
            <a:solidFill>
              <a:schemeClr val="accent2"/>
            </a:solidFill>
            <a:prstDash val="solid"/>
          </a:ln>
        </p:spPr>
      </p:sp>
      <p:sp>
        <p:nvSpPr>
          <p:cNvPr id="10" name="Text 8"/>
          <p:cNvSpPr txBox="1"/>
          <p:nvPr/>
        </p:nvSpPr>
        <p:spPr>
          <a:xfrm>
            <a:off x="10561320" y="1353312"/>
            <a:ext cx="237744" cy="237744"/>
          </a:xfrm>
          <a:prstGeom prst="rect">
            <a:avLst/>
          </a:prstGeom>
          <a:noFill/>
          <a:ln/>
        </p:spPr>
        <p:txBody>
          <a:bodyPr wrap="square" lIns="0" tIns="0" rIns="0" bIns="0" rtlCol="0" anchor="ctr"/>
          <a:lstStyle/>
          <a:p>
            <a:pPr algn="ctr" indent="0" marL="0">
              <a:buNone/>
            </a:pPr>
            <a:endParaRPr lang="en-US" sz="600" dirty="0"/>
          </a:p>
        </p:txBody>
      </p:sp>
      <p:sp>
        <p:nvSpPr>
          <p:cNvPr id="11" name="Text 9"/>
          <p:cNvSpPr txBox="1"/>
          <p:nvPr/>
        </p:nvSpPr>
        <p:spPr>
          <a:xfrm>
            <a:off x="10872216" y="1335024"/>
            <a:ext cx="640080" cy="274320"/>
          </a:xfrm>
          <a:prstGeom prst="rect">
            <a:avLst/>
          </a:prstGeom>
          <a:noFill/>
          <a:ln/>
        </p:spPr>
        <p:txBody>
          <a:bodyPr wrap="square" lIns="0" tIns="0" rIns="0" bIns="0" rtlCol="0" anchor="t"/>
          <a:lstStyle/>
          <a:p>
            <a:pPr algn="l" indent="0" marL="0">
              <a:buNone/>
            </a:pPr>
            <a:r>
              <a:rPr lang="en-US" sz="1200" b="1" dirty="0">
                <a:solidFill>
                  <a:schemeClr val="accent2"/>
                </a:solidFill>
              </a:rPr>
              <a:t>MPC</a:t>
            </a:r>
            <a:endParaRPr lang="en-US" sz="1200" dirty="0"/>
          </a:p>
        </p:txBody>
      </p:sp>
      <p:sp>
        <p:nvSpPr>
          <p:cNvPr id="12" name="Shape 10"/>
          <p:cNvSpPr/>
          <p:nvPr/>
        </p:nvSpPr>
        <p:spPr>
          <a:xfrm>
            <a:off x="548640" y="1828800"/>
            <a:ext cx="5408676" cy="3200400"/>
          </a:xfrm>
          <a:prstGeom prst="roundRect">
            <a:avLst>
              <a:gd name="adj" fmla="val 1714"/>
            </a:avLst>
          </a:prstGeom>
          <a:solidFill>
            <a:schemeClr val="bg2"/>
          </a:solidFill>
          <a:ln w="15875">
            <a:solidFill>
              <a:schemeClr val="accent5"/>
            </a:solidFill>
            <a:prstDash val="dash"/>
          </a:ln>
        </p:spPr>
      </p:sp>
      <p:sp>
        <p:nvSpPr>
          <p:cNvPr id="13" name="Text 11"/>
          <p:cNvSpPr txBox="1"/>
          <p:nvPr/>
        </p:nvSpPr>
        <p:spPr>
          <a:xfrm>
            <a:off x="822960" y="2743200"/>
            <a:ext cx="4860036" cy="365760"/>
          </a:xfrm>
          <a:prstGeom prst="rect">
            <a:avLst/>
          </a:prstGeom>
          <a:noFill/>
          <a:ln/>
        </p:spPr>
        <p:txBody>
          <a:bodyPr wrap="square" lIns="0" tIns="0" rIns="0" bIns="0" rtlCol="0" anchor="t"/>
          <a:lstStyle/>
          <a:p>
            <a:pPr algn="ctr" indent="0" marL="0">
              <a:buNone/>
            </a:pPr>
            <a:r>
              <a:rPr lang="en-US" sz="1600" b="1" dirty="0">
                <a:solidFill>
                  <a:schemeClr val="accent4"/>
                </a:solidFill>
              </a:rPr>
              <a:t>Grafico da inserire</a:t>
            </a:r>
            <a:endParaRPr lang="en-US" sz="1600" dirty="0"/>
          </a:p>
        </p:txBody>
      </p:sp>
      <p:sp>
        <p:nvSpPr>
          <p:cNvPr id="14" name="Text 12"/>
          <p:cNvSpPr txBox="1"/>
          <p:nvPr/>
        </p:nvSpPr>
        <p:spPr>
          <a:xfrm>
            <a:off x="822960" y="3154680"/>
            <a:ext cx="4860036" cy="320040"/>
          </a:xfrm>
          <a:prstGeom prst="rect">
            <a:avLst/>
          </a:prstGeom>
          <a:noFill/>
          <a:ln/>
        </p:spPr>
        <p:txBody>
          <a:bodyPr wrap="square" lIns="0" tIns="0" rIns="0" bIns="0" rtlCol="0" anchor="t"/>
          <a:lstStyle/>
          <a:p>
            <a:pPr algn="ctr" indent="0" marL="0">
              <a:buNone/>
            </a:pPr>
            <a:r>
              <a:rPr lang="en-US" sz="1100" dirty="0">
                <a:solidFill>
                  <a:schemeClr val="accent4"/>
                </a:solidFill>
              </a:rPr>
              <a:t>benchmark_runs/suite_pid_mpc/spinta/plots/disturbo_e_fase.png</a:t>
            </a:r>
            <a:endParaRPr lang="en-US" sz="1100" dirty="0"/>
          </a:p>
        </p:txBody>
      </p:sp>
      <p:sp>
        <p:nvSpPr>
          <p:cNvPr id="15" name="Text 13"/>
          <p:cNvSpPr txBox="1"/>
          <p:nvPr/>
        </p:nvSpPr>
        <p:spPr>
          <a:xfrm>
            <a:off x="822960" y="3520440"/>
            <a:ext cx="4860036" cy="548640"/>
          </a:xfrm>
          <a:prstGeom prst="rect">
            <a:avLst/>
          </a:prstGeom>
          <a:noFill/>
          <a:ln/>
        </p:spPr>
        <p:txBody>
          <a:bodyPr wrap="square" lIns="0" tIns="0" rIns="0" bIns="0" rtlCol="0" anchor="t"/>
          <a:lstStyle/>
          <a:p>
            <a:pPr algn="ctr" indent="0" marL="0">
              <a:buNone/>
            </a:pPr>
            <a:r>
              <a:rPr lang="en-US" sz="1200" dirty="0">
                <a:solidFill>
                  <a:schemeClr val="tx1"/>
                </a:solidFill>
              </a:rPr>
              <a:t>Metriche: beccheggio di picco, recupero, errore di posizione max</a:t>
            </a:r>
            <a:endParaRPr lang="en-US" sz="1200" dirty="0"/>
          </a:p>
        </p:txBody>
      </p:sp>
      <p:sp>
        <p:nvSpPr>
          <p:cNvPr id="16" name="Shape 14"/>
          <p:cNvSpPr/>
          <p:nvPr/>
        </p:nvSpPr>
        <p:spPr>
          <a:xfrm>
            <a:off x="6231636" y="1828800"/>
            <a:ext cx="5408676" cy="3200400"/>
          </a:xfrm>
          <a:prstGeom prst="roundRect">
            <a:avLst>
              <a:gd name="adj" fmla="val 1714"/>
            </a:avLst>
          </a:prstGeom>
          <a:solidFill>
            <a:schemeClr val="bg2"/>
          </a:solidFill>
          <a:ln w="15875">
            <a:solidFill>
              <a:schemeClr val="accent5"/>
            </a:solidFill>
            <a:prstDash val="dash"/>
          </a:ln>
        </p:spPr>
      </p:sp>
      <p:sp>
        <p:nvSpPr>
          <p:cNvPr id="17" name="Text 15"/>
          <p:cNvSpPr txBox="1"/>
          <p:nvPr/>
        </p:nvSpPr>
        <p:spPr>
          <a:xfrm>
            <a:off x="6505956" y="2743200"/>
            <a:ext cx="4860036" cy="365760"/>
          </a:xfrm>
          <a:prstGeom prst="rect">
            <a:avLst/>
          </a:prstGeom>
          <a:noFill/>
          <a:ln/>
        </p:spPr>
        <p:txBody>
          <a:bodyPr wrap="square" lIns="0" tIns="0" rIns="0" bIns="0" rtlCol="0" anchor="t"/>
          <a:lstStyle/>
          <a:p>
            <a:pPr algn="ctr" indent="0" marL="0">
              <a:buNone/>
            </a:pPr>
            <a:r>
              <a:rPr lang="en-US" sz="1600" b="1" dirty="0">
                <a:solidFill>
                  <a:schemeClr val="accent4"/>
                </a:solidFill>
              </a:rPr>
              <a:t>Grafico da inserire</a:t>
            </a:r>
            <a:endParaRPr lang="en-US" sz="1600" dirty="0"/>
          </a:p>
        </p:txBody>
      </p:sp>
      <p:sp>
        <p:nvSpPr>
          <p:cNvPr id="18" name="Text 16"/>
          <p:cNvSpPr txBox="1"/>
          <p:nvPr/>
        </p:nvSpPr>
        <p:spPr>
          <a:xfrm>
            <a:off x="6505956" y="3154680"/>
            <a:ext cx="4860036" cy="320040"/>
          </a:xfrm>
          <a:prstGeom prst="rect">
            <a:avLst/>
          </a:prstGeom>
          <a:noFill/>
          <a:ln/>
        </p:spPr>
        <p:txBody>
          <a:bodyPr wrap="square" lIns="0" tIns="0" rIns="0" bIns="0" rtlCol="0" anchor="t"/>
          <a:lstStyle/>
          <a:p>
            <a:pPr algn="ctr" indent="0" marL="0">
              <a:buNone/>
            </a:pPr>
            <a:r>
              <a:rPr lang="en-US" sz="1100" dirty="0">
                <a:solidFill>
                  <a:schemeClr val="accent4"/>
                </a:solidFill>
              </a:rPr>
              <a:t>benchmark_runs/suite_pid_mpc/salto/plots/assetto.png</a:t>
            </a:r>
            <a:endParaRPr lang="en-US" sz="1100" dirty="0"/>
          </a:p>
        </p:txBody>
      </p:sp>
      <p:sp>
        <p:nvSpPr>
          <p:cNvPr id="19" name="Text 17"/>
          <p:cNvSpPr txBox="1"/>
          <p:nvPr/>
        </p:nvSpPr>
        <p:spPr>
          <a:xfrm>
            <a:off x="6505956" y="3520440"/>
            <a:ext cx="4860036" cy="548640"/>
          </a:xfrm>
          <a:prstGeom prst="rect">
            <a:avLst/>
          </a:prstGeom>
          <a:noFill/>
          <a:ln/>
        </p:spPr>
        <p:txBody>
          <a:bodyPr wrap="square" lIns="0" tIns="0" rIns="0" bIns="0" rtlCol="0" anchor="t"/>
          <a:lstStyle/>
          <a:p>
            <a:pPr algn="ctr" indent="0" marL="0">
              <a:buNone/>
            </a:pPr>
            <a:r>
              <a:rPr lang="en-US" sz="1200" dirty="0">
                <a:solidFill>
                  <a:schemeClr val="tx1"/>
                </a:solidFill>
              </a:rPr>
              <a:t>Metriche: salita del CoM, beccheggio di picco, recupero</a:t>
            </a:r>
            <a:endParaRPr lang="en-US" sz="1200" dirty="0"/>
          </a:p>
        </p:txBody>
      </p:sp>
      <p:sp>
        <p:nvSpPr>
          <p:cNvPr id="20" name="Shape 18"/>
          <p:cNvSpPr/>
          <p:nvPr/>
        </p:nvSpPr>
        <p:spPr>
          <a:xfrm>
            <a:off x="548640" y="5257800"/>
            <a:ext cx="11091672" cy="685800"/>
          </a:xfrm>
          <a:prstGeom prst="roundRect">
            <a:avLst>
              <a:gd name="adj" fmla="val 10667"/>
            </a:avLst>
          </a:prstGeom>
          <a:solidFill>
            <a:schemeClr val="bg2"/>
          </a:solidFill>
          <a:ln w="12700">
            <a:solidFill>
              <a:schemeClr val="bg2"/>
            </a:solidFill>
            <a:prstDash val="solid"/>
          </a:ln>
        </p:spPr>
      </p:sp>
      <p:sp>
        <p:nvSpPr>
          <p:cNvPr id="21" name="Shape 19"/>
          <p:cNvSpPr/>
          <p:nvPr/>
        </p:nvSpPr>
        <p:spPr>
          <a:xfrm>
            <a:off x="731520" y="5408676"/>
            <a:ext cx="384048" cy="384048"/>
          </a:xfrm>
          <a:prstGeom prst="ellipse">
            <a:avLst/>
          </a:prstGeom>
          <a:solidFill>
            <a:schemeClr val="tx2"/>
          </a:solidFill>
          <a:ln w="12700">
            <a:solidFill>
              <a:schemeClr val="tx2"/>
            </a:solidFill>
            <a:prstDash val="solid"/>
          </a:ln>
        </p:spPr>
      </p:sp>
      <p:sp>
        <p:nvSpPr>
          <p:cNvPr id="22" name="Text 20"/>
          <p:cNvSpPr txBox="1"/>
          <p:nvPr/>
        </p:nvSpPr>
        <p:spPr>
          <a:xfrm>
            <a:off x="731520" y="54086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3" name="Text 21"/>
          <p:cNvSpPr txBox="1"/>
          <p:nvPr/>
        </p:nvSpPr>
        <p:spPr>
          <a:xfrm>
            <a:off x="1280160" y="5257800"/>
            <a:ext cx="10177272" cy="685800"/>
          </a:xfrm>
          <a:prstGeom prst="rect">
            <a:avLst/>
          </a:prstGeom>
          <a:noFill/>
          <a:ln/>
        </p:spPr>
        <p:txBody>
          <a:bodyPr wrap="square" lIns="0" tIns="0" rIns="0" bIns="0" rtlCol="0" anchor="ctr"/>
          <a:lstStyle/>
          <a:p>
            <a:pPr algn="l" indent="0" marL="0">
              <a:buNone/>
            </a:pPr>
            <a:r>
              <a:rPr lang="en-US" sz="1400" b="1" i="1" dirty="0">
                <a:solidFill>
                  <a:schemeClr val="accent4"/>
                </a:solidFill>
              </a:rPr>
              <a:t>Messaggio chiave:</a:t>
            </a:r>
            <a:r>
              <a:rPr lang="en-US" sz="1400" i="1" dirty="0">
                <a:solidFill>
                  <a:schemeClr val="accent4"/>
                </a:solidFill>
              </a:rPr>
              <a:t> da scrivere dopo aver inserito i grafici.</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Inseguimento: trapezio e va e vieni</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5"/>
          </a:solidFill>
          <a:ln w="12700">
            <a:solidFill>
              <a:schemeClr val="accent5"/>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5 · Confronto</a:t>
            </a:r>
            <a:endParaRPr lang="en-US" sz="1200" dirty="0"/>
          </a:p>
        </p:txBody>
      </p:sp>
      <p:sp>
        <p:nvSpPr>
          <p:cNvPr id="5" name="Text 3"/>
          <p:cNvSpPr txBox="1"/>
          <p:nvPr/>
        </p:nvSpPr>
        <p:spPr>
          <a:xfrm>
            <a:off x="548640" y="1280160"/>
            <a:ext cx="8686800" cy="411480"/>
          </a:xfrm>
          <a:prstGeom prst="rect">
            <a:avLst/>
          </a:prstGeom>
          <a:noFill/>
          <a:ln/>
        </p:spPr>
        <p:txBody>
          <a:bodyPr wrap="square" lIns="0" tIns="0" rIns="0" bIns="0" rtlCol="0" anchor="t"/>
          <a:lstStyle/>
          <a:p>
            <a:pPr algn="l" indent="0" marL="0">
              <a:buNone/>
            </a:pPr>
            <a:r>
              <a:rPr lang="en-US" sz="1300" i="1" dirty="0">
                <a:solidFill>
                  <a:schemeClr val="accent4"/>
                </a:solidFill>
              </a:rPr>
              <a:t>Trapezio: 2 m a 1 m/s con 0,6 m/s². Va e vieni: 1 m avanti e indietro in 8 s.</a:t>
            </a:r>
            <a:endParaRPr lang="en-US" sz="1300" dirty="0"/>
          </a:p>
        </p:txBody>
      </p:sp>
      <p:sp>
        <p:nvSpPr>
          <p:cNvPr id="6" name="Shape 4"/>
          <p:cNvSpPr/>
          <p:nvPr/>
        </p:nvSpPr>
        <p:spPr>
          <a:xfrm>
            <a:off x="9692640" y="1353312"/>
            <a:ext cx="237744" cy="237744"/>
          </a:xfrm>
          <a:prstGeom prst="ellipse">
            <a:avLst/>
          </a:prstGeom>
          <a:solidFill>
            <a:schemeClr val="accent1"/>
          </a:solidFill>
          <a:ln w="12700">
            <a:solidFill>
              <a:schemeClr val="accent1"/>
            </a:solidFill>
            <a:prstDash val="solid"/>
          </a:ln>
        </p:spPr>
      </p:sp>
      <p:sp>
        <p:nvSpPr>
          <p:cNvPr id="7" name="Text 5"/>
          <p:cNvSpPr txBox="1"/>
          <p:nvPr/>
        </p:nvSpPr>
        <p:spPr>
          <a:xfrm>
            <a:off x="9692640" y="1353312"/>
            <a:ext cx="237744" cy="237744"/>
          </a:xfrm>
          <a:prstGeom prst="rect">
            <a:avLst/>
          </a:prstGeom>
          <a:noFill/>
          <a:ln/>
        </p:spPr>
        <p:txBody>
          <a:bodyPr wrap="square" lIns="0" tIns="0" rIns="0" bIns="0" rtlCol="0" anchor="ctr"/>
          <a:lstStyle/>
          <a:p>
            <a:pPr algn="ctr" indent="0" marL="0">
              <a:buNone/>
            </a:pPr>
            <a:endParaRPr lang="en-US" sz="600" dirty="0"/>
          </a:p>
        </p:txBody>
      </p:sp>
      <p:sp>
        <p:nvSpPr>
          <p:cNvPr id="8" name="Text 6"/>
          <p:cNvSpPr txBox="1"/>
          <p:nvPr/>
        </p:nvSpPr>
        <p:spPr>
          <a:xfrm>
            <a:off x="10003536" y="1335024"/>
            <a:ext cx="548640" cy="274320"/>
          </a:xfrm>
          <a:prstGeom prst="rect">
            <a:avLst/>
          </a:prstGeom>
          <a:noFill/>
          <a:ln/>
        </p:spPr>
        <p:txBody>
          <a:bodyPr wrap="square" lIns="0" tIns="0" rIns="0" bIns="0" rtlCol="0" anchor="t"/>
          <a:lstStyle/>
          <a:p>
            <a:pPr algn="l" indent="0" marL="0">
              <a:buNone/>
            </a:pPr>
            <a:r>
              <a:rPr lang="en-US" sz="1200" b="1" dirty="0">
                <a:solidFill>
                  <a:schemeClr val="accent1"/>
                </a:solidFill>
              </a:rPr>
              <a:t>PID</a:t>
            </a:r>
            <a:endParaRPr lang="en-US" sz="1200" dirty="0"/>
          </a:p>
        </p:txBody>
      </p:sp>
      <p:sp>
        <p:nvSpPr>
          <p:cNvPr id="9" name="Shape 7"/>
          <p:cNvSpPr/>
          <p:nvPr/>
        </p:nvSpPr>
        <p:spPr>
          <a:xfrm>
            <a:off x="10561320" y="1353312"/>
            <a:ext cx="237744" cy="237744"/>
          </a:xfrm>
          <a:prstGeom prst="ellipse">
            <a:avLst/>
          </a:prstGeom>
          <a:solidFill>
            <a:schemeClr val="accent2"/>
          </a:solidFill>
          <a:ln w="12700">
            <a:solidFill>
              <a:schemeClr val="accent2"/>
            </a:solidFill>
            <a:prstDash val="solid"/>
          </a:ln>
        </p:spPr>
      </p:sp>
      <p:sp>
        <p:nvSpPr>
          <p:cNvPr id="10" name="Text 8"/>
          <p:cNvSpPr txBox="1"/>
          <p:nvPr/>
        </p:nvSpPr>
        <p:spPr>
          <a:xfrm>
            <a:off x="10561320" y="1353312"/>
            <a:ext cx="237744" cy="237744"/>
          </a:xfrm>
          <a:prstGeom prst="rect">
            <a:avLst/>
          </a:prstGeom>
          <a:noFill/>
          <a:ln/>
        </p:spPr>
        <p:txBody>
          <a:bodyPr wrap="square" lIns="0" tIns="0" rIns="0" bIns="0" rtlCol="0" anchor="ctr"/>
          <a:lstStyle/>
          <a:p>
            <a:pPr algn="ctr" indent="0" marL="0">
              <a:buNone/>
            </a:pPr>
            <a:endParaRPr lang="en-US" sz="600" dirty="0"/>
          </a:p>
        </p:txBody>
      </p:sp>
      <p:sp>
        <p:nvSpPr>
          <p:cNvPr id="11" name="Text 9"/>
          <p:cNvSpPr txBox="1"/>
          <p:nvPr/>
        </p:nvSpPr>
        <p:spPr>
          <a:xfrm>
            <a:off x="10872216" y="1335024"/>
            <a:ext cx="640080" cy="274320"/>
          </a:xfrm>
          <a:prstGeom prst="rect">
            <a:avLst/>
          </a:prstGeom>
          <a:noFill/>
          <a:ln/>
        </p:spPr>
        <p:txBody>
          <a:bodyPr wrap="square" lIns="0" tIns="0" rIns="0" bIns="0" rtlCol="0" anchor="t"/>
          <a:lstStyle/>
          <a:p>
            <a:pPr algn="l" indent="0" marL="0">
              <a:buNone/>
            </a:pPr>
            <a:r>
              <a:rPr lang="en-US" sz="1200" b="1" dirty="0">
                <a:solidFill>
                  <a:schemeClr val="accent2"/>
                </a:solidFill>
              </a:rPr>
              <a:t>MPC</a:t>
            </a:r>
            <a:endParaRPr lang="en-US" sz="1200" dirty="0"/>
          </a:p>
        </p:txBody>
      </p:sp>
      <p:sp>
        <p:nvSpPr>
          <p:cNvPr id="12" name="Shape 10"/>
          <p:cNvSpPr/>
          <p:nvPr/>
        </p:nvSpPr>
        <p:spPr>
          <a:xfrm>
            <a:off x="548640" y="1828800"/>
            <a:ext cx="5408676" cy="3200400"/>
          </a:xfrm>
          <a:prstGeom prst="roundRect">
            <a:avLst>
              <a:gd name="adj" fmla="val 1714"/>
            </a:avLst>
          </a:prstGeom>
          <a:solidFill>
            <a:schemeClr val="bg2"/>
          </a:solidFill>
          <a:ln w="15875">
            <a:solidFill>
              <a:schemeClr val="accent5"/>
            </a:solidFill>
            <a:prstDash val="dash"/>
          </a:ln>
        </p:spPr>
      </p:sp>
      <p:sp>
        <p:nvSpPr>
          <p:cNvPr id="13" name="Text 11"/>
          <p:cNvSpPr txBox="1"/>
          <p:nvPr/>
        </p:nvSpPr>
        <p:spPr>
          <a:xfrm>
            <a:off x="822960" y="2743200"/>
            <a:ext cx="4860036" cy="365760"/>
          </a:xfrm>
          <a:prstGeom prst="rect">
            <a:avLst/>
          </a:prstGeom>
          <a:noFill/>
          <a:ln/>
        </p:spPr>
        <p:txBody>
          <a:bodyPr wrap="square" lIns="0" tIns="0" rIns="0" bIns="0" rtlCol="0" anchor="t"/>
          <a:lstStyle/>
          <a:p>
            <a:pPr algn="ctr" indent="0" marL="0">
              <a:buNone/>
            </a:pPr>
            <a:r>
              <a:rPr lang="en-US" sz="1600" b="1" dirty="0">
                <a:solidFill>
                  <a:schemeClr val="accent4"/>
                </a:solidFill>
              </a:rPr>
              <a:t>Grafico da inserire</a:t>
            </a:r>
            <a:endParaRPr lang="en-US" sz="1600" dirty="0"/>
          </a:p>
        </p:txBody>
      </p:sp>
      <p:sp>
        <p:nvSpPr>
          <p:cNvPr id="14" name="Text 12"/>
          <p:cNvSpPr txBox="1"/>
          <p:nvPr/>
        </p:nvSpPr>
        <p:spPr>
          <a:xfrm>
            <a:off x="822960" y="3154680"/>
            <a:ext cx="4860036" cy="320040"/>
          </a:xfrm>
          <a:prstGeom prst="rect">
            <a:avLst/>
          </a:prstGeom>
          <a:noFill/>
          <a:ln/>
        </p:spPr>
        <p:txBody>
          <a:bodyPr wrap="square" lIns="0" tIns="0" rIns="0" bIns="0" rtlCol="0" anchor="t"/>
          <a:lstStyle/>
          <a:p>
            <a:pPr algn="ctr" indent="0" marL="0">
              <a:buNone/>
            </a:pPr>
            <a:r>
              <a:rPr lang="en-US" sz="1100" dirty="0">
                <a:solidFill>
                  <a:schemeClr val="accent4"/>
                </a:solidFill>
              </a:rPr>
              <a:t>benchmark_runs/suite_pid_mpc/trapezio/plots/inseguimento.png</a:t>
            </a:r>
            <a:endParaRPr lang="en-US" sz="1100" dirty="0"/>
          </a:p>
        </p:txBody>
      </p:sp>
      <p:sp>
        <p:nvSpPr>
          <p:cNvPr id="15" name="Text 13"/>
          <p:cNvSpPr txBox="1"/>
          <p:nvPr/>
        </p:nvSpPr>
        <p:spPr>
          <a:xfrm>
            <a:off x="822960" y="3520440"/>
            <a:ext cx="4860036" cy="548640"/>
          </a:xfrm>
          <a:prstGeom prst="rect">
            <a:avLst/>
          </a:prstGeom>
          <a:noFill/>
          <a:ln/>
        </p:spPr>
        <p:txBody>
          <a:bodyPr wrap="square" lIns="0" tIns="0" rIns="0" bIns="0" rtlCol="0" anchor="t"/>
          <a:lstStyle/>
          <a:p>
            <a:pPr algn="ctr" indent="0" marL="0">
              <a:buNone/>
            </a:pPr>
            <a:r>
              <a:rPr lang="en-US" sz="1200" dirty="0">
                <a:solidFill>
                  <a:schemeClr val="tx1"/>
                </a:solidFill>
              </a:rPr>
              <a:t>Metriche: errore di posizione e di velocità rms, beccheggio di picco</a:t>
            </a:r>
            <a:endParaRPr lang="en-US" sz="1200" dirty="0"/>
          </a:p>
        </p:txBody>
      </p:sp>
      <p:sp>
        <p:nvSpPr>
          <p:cNvPr id="16" name="Shape 14"/>
          <p:cNvSpPr/>
          <p:nvPr/>
        </p:nvSpPr>
        <p:spPr>
          <a:xfrm>
            <a:off x="6231636" y="1828800"/>
            <a:ext cx="5408676" cy="3200400"/>
          </a:xfrm>
          <a:prstGeom prst="roundRect">
            <a:avLst>
              <a:gd name="adj" fmla="val 1714"/>
            </a:avLst>
          </a:prstGeom>
          <a:solidFill>
            <a:schemeClr val="bg2"/>
          </a:solidFill>
          <a:ln w="15875">
            <a:solidFill>
              <a:schemeClr val="accent5"/>
            </a:solidFill>
            <a:prstDash val="dash"/>
          </a:ln>
        </p:spPr>
      </p:sp>
      <p:sp>
        <p:nvSpPr>
          <p:cNvPr id="17" name="Text 15"/>
          <p:cNvSpPr txBox="1"/>
          <p:nvPr/>
        </p:nvSpPr>
        <p:spPr>
          <a:xfrm>
            <a:off x="6505956" y="2743200"/>
            <a:ext cx="4860036" cy="365760"/>
          </a:xfrm>
          <a:prstGeom prst="rect">
            <a:avLst/>
          </a:prstGeom>
          <a:noFill/>
          <a:ln/>
        </p:spPr>
        <p:txBody>
          <a:bodyPr wrap="square" lIns="0" tIns="0" rIns="0" bIns="0" rtlCol="0" anchor="t"/>
          <a:lstStyle/>
          <a:p>
            <a:pPr algn="ctr" indent="0" marL="0">
              <a:buNone/>
            </a:pPr>
            <a:r>
              <a:rPr lang="en-US" sz="1600" b="1" dirty="0">
                <a:solidFill>
                  <a:schemeClr val="accent4"/>
                </a:solidFill>
              </a:rPr>
              <a:t>Grafico da inserire</a:t>
            </a:r>
            <a:endParaRPr lang="en-US" sz="1600" dirty="0"/>
          </a:p>
        </p:txBody>
      </p:sp>
      <p:sp>
        <p:nvSpPr>
          <p:cNvPr id="18" name="Text 16"/>
          <p:cNvSpPr txBox="1"/>
          <p:nvPr/>
        </p:nvSpPr>
        <p:spPr>
          <a:xfrm>
            <a:off x="6505956" y="3154680"/>
            <a:ext cx="4860036" cy="320040"/>
          </a:xfrm>
          <a:prstGeom prst="rect">
            <a:avLst/>
          </a:prstGeom>
          <a:noFill/>
          <a:ln/>
        </p:spPr>
        <p:txBody>
          <a:bodyPr wrap="square" lIns="0" tIns="0" rIns="0" bIns="0" rtlCol="0" anchor="t"/>
          <a:lstStyle/>
          <a:p>
            <a:pPr algn="ctr" indent="0" marL="0">
              <a:buNone/>
            </a:pPr>
            <a:r>
              <a:rPr lang="en-US" sz="1100" dirty="0">
                <a:solidFill>
                  <a:schemeClr val="accent4"/>
                </a:solidFill>
              </a:rPr>
              <a:t>benchmark_runs/suite_pid_mpc/va_e_vieni/plots/inseguimento.png</a:t>
            </a:r>
            <a:endParaRPr lang="en-US" sz="1100" dirty="0"/>
          </a:p>
        </p:txBody>
      </p:sp>
      <p:sp>
        <p:nvSpPr>
          <p:cNvPr id="19" name="Text 17"/>
          <p:cNvSpPr txBox="1"/>
          <p:nvPr/>
        </p:nvSpPr>
        <p:spPr>
          <a:xfrm>
            <a:off x="6505956" y="3520440"/>
            <a:ext cx="4860036" cy="548640"/>
          </a:xfrm>
          <a:prstGeom prst="rect">
            <a:avLst/>
          </a:prstGeom>
          <a:noFill/>
          <a:ln/>
        </p:spPr>
        <p:txBody>
          <a:bodyPr wrap="square" lIns="0" tIns="0" rIns="0" bIns="0" rtlCol="0" anchor="t"/>
          <a:lstStyle/>
          <a:p>
            <a:pPr algn="ctr" indent="0" marL="0">
              <a:buNone/>
            </a:pPr>
            <a:r>
              <a:rPr lang="en-US" sz="1200" dirty="0">
                <a:solidFill>
                  <a:schemeClr val="tx1"/>
                </a:solidFill>
              </a:rPr>
              <a:t>Metriche: errore di posizione rms, coppia ruote rms</a:t>
            </a:r>
            <a:endParaRPr lang="en-US" sz="1200" dirty="0"/>
          </a:p>
        </p:txBody>
      </p:sp>
      <p:sp>
        <p:nvSpPr>
          <p:cNvPr id="20" name="Shape 18"/>
          <p:cNvSpPr/>
          <p:nvPr/>
        </p:nvSpPr>
        <p:spPr>
          <a:xfrm>
            <a:off x="548640" y="5257800"/>
            <a:ext cx="11091672" cy="685800"/>
          </a:xfrm>
          <a:prstGeom prst="roundRect">
            <a:avLst>
              <a:gd name="adj" fmla="val 10667"/>
            </a:avLst>
          </a:prstGeom>
          <a:solidFill>
            <a:schemeClr val="bg2"/>
          </a:solidFill>
          <a:ln w="12700">
            <a:solidFill>
              <a:schemeClr val="bg2"/>
            </a:solidFill>
            <a:prstDash val="solid"/>
          </a:ln>
        </p:spPr>
      </p:sp>
      <p:sp>
        <p:nvSpPr>
          <p:cNvPr id="21" name="Shape 19"/>
          <p:cNvSpPr/>
          <p:nvPr/>
        </p:nvSpPr>
        <p:spPr>
          <a:xfrm>
            <a:off x="731520" y="5408676"/>
            <a:ext cx="384048" cy="384048"/>
          </a:xfrm>
          <a:prstGeom prst="ellipse">
            <a:avLst/>
          </a:prstGeom>
          <a:solidFill>
            <a:schemeClr val="tx2"/>
          </a:solidFill>
          <a:ln w="12700">
            <a:solidFill>
              <a:schemeClr val="tx2"/>
            </a:solidFill>
            <a:prstDash val="solid"/>
          </a:ln>
        </p:spPr>
      </p:sp>
      <p:sp>
        <p:nvSpPr>
          <p:cNvPr id="22" name="Text 20"/>
          <p:cNvSpPr txBox="1"/>
          <p:nvPr/>
        </p:nvSpPr>
        <p:spPr>
          <a:xfrm>
            <a:off x="731520" y="54086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3" name="Text 21"/>
          <p:cNvSpPr txBox="1"/>
          <p:nvPr/>
        </p:nvSpPr>
        <p:spPr>
          <a:xfrm>
            <a:off x="1280160" y="5257800"/>
            <a:ext cx="10177272" cy="685800"/>
          </a:xfrm>
          <a:prstGeom prst="rect">
            <a:avLst/>
          </a:prstGeom>
          <a:noFill/>
          <a:ln/>
        </p:spPr>
        <p:txBody>
          <a:bodyPr wrap="square" lIns="0" tIns="0" rIns="0" bIns="0" rtlCol="0" anchor="ctr"/>
          <a:lstStyle/>
          <a:p>
            <a:pPr algn="l" indent="0" marL="0">
              <a:buNone/>
            </a:pPr>
            <a:r>
              <a:rPr lang="en-US" sz="1400" b="1" i="1" dirty="0">
                <a:solidFill>
                  <a:schemeClr val="accent4"/>
                </a:solidFill>
              </a:rPr>
              <a:t>Messaggio chiave:</a:t>
            </a:r>
            <a:r>
              <a:rPr lang="en-US" sz="1400" i="1" dirty="0">
                <a:solidFill>
                  <a:schemeClr val="accent4"/>
                </a:solidFill>
              </a:rPr>
              <a:t> da scrivere dopo aver inserito i grafici.</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Curve a S: inseguimento e ZMP laterale</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5"/>
          </a:solidFill>
          <a:ln w="12700">
            <a:solidFill>
              <a:schemeClr val="accent5"/>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5 · Confronto</a:t>
            </a:r>
            <a:endParaRPr lang="en-US" sz="1200" dirty="0"/>
          </a:p>
        </p:txBody>
      </p:sp>
      <p:sp>
        <p:nvSpPr>
          <p:cNvPr id="5" name="Text 3"/>
          <p:cNvSpPr txBox="1"/>
          <p:nvPr/>
        </p:nvSpPr>
        <p:spPr>
          <a:xfrm>
            <a:off x="548640" y="1280160"/>
            <a:ext cx="8686800" cy="411480"/>
          </a:xfrm>
          <a:prstGeom prst="rect">
            <a:avLst/>
          </a:prstGeom>
          <a:noFill/>
          <a:ln/>
        </p:spPr>
        <p:txBody>
          <a:bodyPr wrap="square" lIns="0" tIns="0" rIns="0" bIns="0" rtlCol="0" anchor="t"/>
          <a:lstStyle/>
          <a:p>
            <a:pPr algn="l" indent="0" marL="0">
              <a:buNone/>
            </a:pPr>
            <a:r>
              <a:rPr lang="en-US" sz="1300" i="1" dirty="0">
                <a:solidFill>
                  <a:schemeClr val="accent4"/>
                </a:solidFill>
              </a:rPr>
              <a:t>S di 3 m con scarto laterale di 0,6 m in 12 s, e versione veloce: 1 m in 5 s.</a:t>
            </a:r>
            <a:endParaRPr lang="en-US" sz="1300" dirty="0"/>
          </a:p>
        </p:txBody>
      </p:sp>
      <p:sp>
        <p:nvSpPr>
          <p:cNvPr id="6" name="Shape 4"/>
          <p:cNvSpPr/>
          <p:nvPr/>
        </p:nvSpPr>
        <p:spPr>
          <a:xfrm>
            <a:off x="9692640" y="1353312"/>
            <a:ext cx="237744" cy="237744"/>
          </a:xfrm>
          <a:prstGeom prst="ellipse">
            <a:avLst/>
          </a:prstGeom>
          <a:solidFill>
            <a:schemeClr val="accent1"/>
          </a:solidFill>
          <a:ln w="12700">
            <a:solidFill>
              <a:schemeClr val="accent1"/>
            </a:solidFill>
            <a:prstDash val="solid"/>
          </a:ln>
        </p:spPr>
      </p:sp>
      <p:sp>
        <p:nvSpPr>
          <p:cNvPr id="7" name="Text 5"/>
          <p:cNvSpPr txBox="1"/>
          <p:nvPr/>
        </p:nvSpPr>
        <p:spPr>
          <a:xfrm>
            <a:off x="9692640" y="1353312"/>
            <a:ext cx="237744" cy="237744"/>
          </a:xfrm>
          <a:prstGeom prst="rect">
            <a:avLst/>
          </a:prstGeom>
          <a:noFill/>
          <a:ln/>
        </p:spPr>
        <p:txBody>
          <a:bodyPr wrap="square" lIns="0" tIns="0" rIns="0" bIns="0" rtlCol="0" anchor="ctr"/>
          <a:lstStyle/>
          <a:p>
            <a:pPr algn="ctr" indent="0" marL="0">
              <a:buNone/>
            </a:pPr>
            <a:endParaRPr lang="en-US" sz="600" dirty="0"/>
          </a:p>
        </p:txBody>
      </p:sp>
      <p:sp>
        <p:nvSpPr>
          <p:cNvPr id="8" name="Text 6"/>
          <p:cNvSpPr txBox="1"/>
          <p:nvPr/>
        </p:nvSpPr>
        <p:spPr>
          <a:xfrm>
            <a:off x="10003536" y="1335024"/>
            <a:ext cx="548640" cy="274320"/>
          </a:xfrm>
          <a:prstGeom prst="rect">
            <a:avLst/>
          </a:prstGeom>
          <a:noFill/>
          <a:ln/>
        </p:spPr>
        <p:txBody>
          <a:bodyPr wrap="square" lIns="0" tIns="0" rIns="0" bIns="0" rtlCol="0" anchor="t"/>
          <a:lstStyle/>
          <a:p>
            <a:pPr algn="l" indent="0" marL="0">
              <a:buNone/>
            </a:pPr>
            <a:r>
              <a:rPr lang="en-US" sz="1200" b="1" dirty="0">
                <a:solidFill>
                  <a:schemeClr val="accent1"/>
                </a:solidFill>
              </a:rPr>
              <a:t>PID</a:t>
            </a:r>
            <a:endParaRPr lang="en-US" sz="1200" dirty="0"/>
          </a:p>
        </p:txBody>
      </p:sp>
      <p:sp>
        <p:nvSpPr>
          <p:cNvPr id="9" name="Shape 7"/>
          <p:cNvSpPr/>
          <p:nvPr/>
        </p:nvSpPr>
        <p:spPr>
          <a:xfrm>
            <a:off x="10561320" y="1353312"/>
            <a:ext cx="237744" cy="237744"/>
          </a:xfrm>
          <a:prstGeom prst="ellipse">
            <a:avLst/>
          </a:prstGeom>
          <a:solidFill>
            <a:schemeClr val="accent2"/>
          </a:solidFill>
          <a:ln w="12700">
            <a:solidFill>
              <a:schemeClr val="accent2"/>
            </a:solidFill>
            <a:prstDash val="solid"/>
          </a:ln>
        </p:spPr>
      </p:sp>
      <p:sp>
        <p:nvSpPr>
          <p:cNvPr id="10" name="Text 8"/>
          <p:cNvSpPr txBox="1"/>
          <p:nvPr/>
        </p:nvSpPr>
        <p:spPr>
          <a:xfrm>
            <a:off x="10561320" y="1353312"/>
            <a:ext cx="237744" cy="237744"/>
          </a:xfrm>
          <a:prstGeom prst="rect">
            <a:avLst/>
          </a:prstGeom>
          <a:noFill/>
          <a:ln/>
        </p:spPr>
        <p:txBody>
          <a:bodyPr wrap="square" lIns="0" tIns="0" rIns="0" bIns="0" rtlCol="0" anchor="ctr"/>
          <a:lstStyle/>
          <a:p>
            <a:pPr algn="ctr" indent="0" marL="0">
              <a:buNone/>
            </a:pPr>
            <a:endParaRPr lang="en-US" sz="600" dirty="0"/>
          </a:p>
        </p:txBody>
      </p:sp>
      <p:sp>
        <p:nvSpPr>
          <p:cNvPr id="11" name="Text 9"/>
          <p:cNvSpPr txBox="1"/>
          <p:nvPr/>
        </p:nvSpPr>
        <p:spPr>
          <a:xfrm>
            <a:off x="10872216" y="1335024"/>
            <a:ext cx="640080" cy="274320"/>
          </a:xfrm>
          <a:prstGeom prst="rect">
            <a:avLst/>
          </a:prstGeom>
          <a:noFill/>
          <a:ln/>
        </p:spPr>
        <p:txBody>
          <a:bodyPr wrap="square" lIns="0" tIns="0" rIns="0" bIns="0" rtlCol="0" anchor="t"/>
          <a:lstStyle/>
          <a:p>
            <a:pPr algn="l" indent="0" marL="0">
              <a:buNone/>
            </a:pPr>
            <a:r>
              <a:rPr lang="en-US" sz="1200" b="1" dirty="0">
                <a:solidFill>
                  <a:schemeClr val="accent2"/>
                </a:solidFill>
              </a:rPr>
              <a:t>MPC</a:t>
            </a:r>
            <a:endParaRPr lang="en-US" sz="1200" dirty="0"/>
          </a:p>
        </p:txBody>
      </p:sp>
      <p:sp>
        <p:nvSpPr>
          <p:cNvPr id="12" name="Shape 10"/>
          <p:cNvSpPr/>
          <p:nvPr/>
        </p:nvSpPr>
        <p:spPr>
          <a:xfrm>
            <a:off x="548640" y="1828800"/>
            <a:ext cx="5408676" cy="3200400"/>
          </a:xfrm>
          <a:prstGeom prst="roundRect">
            <a:avLst>
              <a:gd name="adj" fmla="val 1714"/>
            </a:avLst>
          </a:prstGeom>
          <a:solidFill>
            <a:schemeClr val="bg2"/>
          </a:solidFill>
          <a:ln w="15875">
            <a:solidFill>
              <a:schemeClr val="accent5"/>
            </a:solidFill>
            <a:prstDash val="dash"/>
          </a:ln>
        </p:spPr>
      </p:sp>
      <p:sp>
        <p:nvSpPr>
          <p:cNvPr id="13" name="Text 11"/>
          <p:cNvSpPr txBox="1"/>
          <p:nvPr/>
        </p:nvSpPr>
        <p:spPr>
          <a:xfrm>
            <a:off x="822960" y="2743200"/>
            <a:ext cx="4860036" cy="365760"/>
          </a:xfrm>
          <a:prstGeom prst="rect">
            <a:avLst/>
          </a:prstGeom>
          <a:noFill/>
          <a:ln/>
        </p:spPr>
        <p:txBody>
          <a:bodyPr wrap="square" lIns="0" tIns="0" rIns="0" bIns="0" rtlCol="0" anchor="t"/>
          <a:lstStyle/>
          <a:p>
            <a:pPr algn="ctr" indent="0" marL="0">
              <a:buNone/>
            </a:pPr>
            <a:r>
              <a:rPr lang="en-US" sz="1600" b="1" dirty="0">
                <a:solidFill>
                  <a:schemeClr val="accent4"/>
                </a:solidFill>
              </a:rPr>
              <a:t>Grafico da inserire</a:t>
            </a:r>
            <a:endParaRPr lang="en-US" sz="1600" dirty="0"/>
          </a:p>
        </p:txBody>
      </p:sp>
      <p:sp>
        <p:nvSpPr>
          <p:cNvPr id="14" name="Text 12"/>
          <p:cNvSpPr txBox="1"/>
          <p:nvPr/>
        </p:nvSpPr>
        <p:spPr>
          <a:xfrm>
            <a:off x="822960" y="3154680"/>
            <a:ext cx="4860036" cy="320040"/>
          </a:xfrm>
          <a:prstGeom prst="rect">
            <a:avLst/>
          </a:prstGeom>
          <a:noFill/>
          <a:ln/>
        </p:spPr>
        <p:txBody>
          <a:bodyPr wrap="square" lIns="0" tIns="0" rIns="0" bIns="0" rtlCol="0" anchor="t"/>
          <a:lstStyle/>
          <a:p>
            <a:pPr algn="ctr" indent="0" marL="0">
              <a:buNone/>
            </a:pPr>
            <a:r>
              <a:rPr lang="en-US" sz="1100" dirty="0">
                <a:solidFill>
                  <a:schemeClr val="accent4"/>
                </a:solidFill>
              </a:rPr>
              <a:t>benchmark_runs/suite_pid_mpc/curva_S_veloce/plots/zmp_lateral.png</a:t>
            </a:r>
            <a:endParaRPr lang="en-US" sz="1100" dirty="0"/>
          </a:p>
        </p:txBody>
      </p:sp>
      <p:sp>
        <p:nvSpPr>
          <p:cNvPr id="15" name="Text 13"/>
          <p:cNvSpPr txBox="1"/>
          <p:nvPr/>
        </p:nvSpPr>
        <p:spPr>
          <a:xfrm>
            <a:off x="822960" y="3520440"/>
            <a:ext cx="4860036" cy="548640"/>
          </a:xfrm>
          <a:prstGeom prst="rect">
            <a:avLst/>
          </a:prstGeom>
          <a:noFill/>
          <a:ln/>
        </p:spPr>
        <p:txBody>
          <a:bodyPr wrap="square" lIns="0" tIns="0" rIns="0" bIns="0" rtlCol="0" anchor="t"/>
          <a:lstStyle/>
          <a:p>
            <a:pPr algn="ctr" indent="0" marL="0">
              <a:buNone/>
            </a:pPr>
            <a:r>
              <a:rPr lang="en-US" sz="1200" dirty="0">
                <a:solidFill>
                  <a:schemeClr val="tx1"/>
                </a:solidFill>
              </a:rPr>
              <a:t>Metriche: ZMP laterale max / (d/2), carico minimo sulla ruota</a:t>
            </a:r>
            <a:endParaRPr lang="en-US" sz="1200" dirty="0"/>
          </a:p>
        </p:txBody>
      </p:sp>
      <p:sp>
        <p:nvSpPr>
          <p:cNvPr id="16" name="Shape 14"/>
          <p:cNvSpPr/>
          <p:nvPr/>
        </p:nvSpPr>
        <p:spPr>
          <a:xfrm>
            <a:off x="6231636" y="1828800"/>
            <a:ext cx="5408676" cy="3200400"/>
          </a:xfrm>
          <a:prstGeom prst="roundRect">
            <a:avLst>
              <a:gd name="adj" fmla="val 1714"/>
            </a:avLst>
          </a:prstGeom>
          <a:solidFill>
            <a:schemeClr val="bg2"/>
          </a:solidFill>
          <a:ln w="15875">
            <a:solidFill>
              <a:schemeClr val="accent5"/>
            </a:solidFill>
            <a:prstDash val="dash"/>
          </a:ln>
        </p:spPr>
      </p:sp>
      <p:sp>
        <p:nvSpPr>
          <p:cNvPr id="17" name="Text 15"/>
          <p:cNvSpPr txBox="1"/>
          <p:nvPr/>
        </p:nvSpPr>
        <p:spPr>
          <a:xfrm>
            <a:off x="6505956" y="2743200"/>
            <a:ext cx="4860036" cy="365760"/>
          </a:xfrm>
          <a:prstGeom prst="rect">
            <a:avLst/>
          </a:prstGeom>
          <a:noFill/>
          <a:ln/>
        </p:spPr>
        <p:txBody>
          <a:bodyPr wrap="square" lIns="0" tIns="0" rIns="0" bIns="0" rtlCol="0" anchor="t"/>
          <a:lstStyle/>
          <a:p>
            <a:pPr algn="ctr" indent="0" marL="0">
              <a:buNone/>
            </a:pPr>
            <a:r>
              <a:rPr lang="en-US" sz="1600" b="1" dirty="0">
                <a:solidFill>
                  <a:schemeClr val="accent4"/>
                </a:solidFill>
              </a:rPr>
              <a:t>Grafico da inserire</a:t>
            </a:r>
            <a:endParaRPr lang="en-US" sz="1600" dirty="0"/>
          </a:p>
        </p:txBody>
      </p:sp>
      <p:sp>
        <p:nvSpPr>
          <p:cNvPr id="18" name="Text 16"/>
          <p:cNvSpPr txBox="1"/>
          <p:nvPr/>
        </p:nvSpPr>
        <p:spPr>
          <a:xfrm>
            <a:off x="6505956" y="3154680"/>
            <a:ext cx="4860036" cy="320040"/>
          </a:xfrm>
          <a:prstGeom prst="rect">
            <a:avLst/>
          </a:prstGeom>
          <a:noFill/>
          <a:ln/>
        </p:spPr>
        <p:txBody>
          <a:bodyPr wrap="square" lIns="0" tIns="0" rIns="0" bIns="0" rtlCol="0" anchor="t"/>
          <a:lstStyle/>
          <a:p>
            <a:pPr algn="ctr" indent="0" marL="0">
              <a:buNone/>
            </a:pPr>
            <a:r>
              <a:rPr lang="en-US" sz="1100" dirty="0">
                <a:solidFill>
                  <a:schemeClr val="accent4"/>
                </a:solidFill>
              </a:rPr>
              <a:t>benchmark_runs/suite_pid_mpc/curva_S/plots/inseguimento.png</a:t>
            </a:r>
            <a:endParaRPr lang="en-US" sz="1100" dirty="0"/>
          </a:p>
        </p:txBody>
      </p:sp>
      <p:sp>
        <p:nvSpPr>
          <p:cNvPr id="19" name="Text 17"/>
          <p:cNvSpPr txBox="1"/>
          <p:nvPr/>
        </p:nvSpPr>
        <p:spPr>
          <a:xfrm>
            <a:off x="6505956" y="3520440"/>
            <a:ext cx="4860036" cy="548640"/>
          </a:xfrm>
          <a:prstGeom prst="rect">
            <a:avLst/>
          </a:prstGeom>
          <a:noFill/>
          <a:ln/>
        </p:spPr>
        <p:txBody>
          <a:bodyPr wrap="square" lIns="0" tIns="0" rIns="0" bIns="0" rtlCol="0" anchor="t"/>
          <a:lstStyle/>
          <a:p>
            <a:pPr algn="ctr" indent="0" marL="0">
              <a:buNone/>
            </a:pPr>
            <a:r>
              <a:rPr lang="en-US" sz="1200" dirty="0">
                <a:solidFill>
                  <a:schemeClr val="tx1"/>
                </a:solidFill>
              </a:rPr>
              <a:t>Metriche: errore di posizione rms, beccheggio di picco</a:t>
            </a:r>
            <a:endParaRPr lang="en-US" sz="1200" dirty="0"/>
          </a:p>
        </p:txBody>
      </p:sp>
      <p:sp>
        <p:nvSpPr>
          <p:cNvPr id="20" name="Shape 18"/>
          <p:cNvSpPr/>
          <p:nvPr/>
        </p:nvSpPr>
        <p:spPr>
          <a:xfrm>
            <a:off x="548640" y="5257800"/>
            <a:ext cx="11091672" cy="685800"/>
          </a:xfrm>
          <a:prstGeom prst="roundRect">
            <a:avLst>
              <a:gd name="adj" fmla="val 10667"/>
            </a:avLst>
          </a:prstGeom>
          <a:solidFill>
            <a:schemeClr val="bg2"/>
          </a:solidFill>
          <a:ln w="12700">
            <a:solidFill>
              <a:schemeClr val="bg2"/>
            </a:solidFill>
            <a:prstDash val="solid"/>
          </a:ln>
        </p:spPr>
      </p:sp>
      <p:sp>
        <p:nvSpPr>
          <p:cNvPr id="21" name="Shape 19"/>
          <p:cNvSpPr/>
          <p:nvPr/>
        </p:nvSpPr>
        <p:spPr>
          <a:xfrm>
            <a:off x="731520" y="5408676"/>
            <a:ext cx="384048" cy="384048"/>
          </a:xfrm>
          <a:prstGeom prst="ellipse">
            <a:avLst/>
          </a:prstGeom>
          <a:solidFill>
            <a:schemeClr val="tx2"/>
          </a:solidFill>
          <a:ln w="12700">
            <a:solidFill>
              <a:schemeClr val="tx2"/>
            </a:solidFill>
            <a:prstDash val="solid"/>
          </a:ln>
        </p:spPr>
      </p:sp>
      <p:sp>
        <p:nvSpPr>
          <p:cNvPr id="22" name="Text 20"/>
          <p:cNvSpPr txBox="1"/>
          <p:nvPr/>
        </p:nvSpPr>
        <p:spPr>
          <a:xfrm>
            <a:off x="731520" y="54086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3" name="Text 21"/>
          <p:cNvSpPr txBox="1"/>
          <p:nvPr/>
        </p:nvSpPr>
        <p:spPr>
          <a:xfrm>
            <a:off x="1280160" y="5257800"/>
            <a:ext cx="10177272" cy="685800"/>
          </a:xfrm>
          <a:prstGeom prst="rect">
            <a:avLst/>
          </a:prstGeom>
          <a:noFill/>
          <a:ln/>
        </p:spPr>
        <p:txBody>
          <a:bodyPr wrap="square" lIns="0" tIns="0" rIns="0" bIns="0" rtlCol="0" anchor="ctr"/>
          <a:lstStyle/>
          <a:p>
            <a:pPr algn="l" indent="0" marL="0">
              <a:buNone/>
            </a:pPr>
            <a:r>
              <a:rPr lang="en-US" sz="1400" b="1" i="1" dirty="0">
                <a:solidFill>
                  <a:schemeClr val="accent4"/>
                </a:solidFill>
              </a:rPr>
              <a:t>Messaggio chiave:</a:t>
            </a:r>
            <a:r>
              <a:rPr lang="en-US" sz="1400" i="1" dirty="0">
                <a:solidFill>
                  <a:schemeClr val="accent4"/>
                </a:solidFill>
              </a:rPr>
              <a:t> da scrivere dopo aver inserito i grafici.</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31520"/>
          </a:xfrm>
          <a:prstGeom prst="rect">
            <a:avLst/>
          </a:prstGeom>
          <a:noFill/>
          <a:ln/>
        </p:spPr>
        <p:txBody>
          <a:bodyPr wrap="square" lIns="0" tIns="0" rIns="0" bIns="0" rtlCol="0" anchor="ctr"/>
          <a:lstStyle/>
          <a:p>
            <a:pPr algn="l" indent="0" marL="0">
              <a:buNone/>
            </a:pPr>
            <a:r>
              <a:rPr lang="en-US" sz="3000" b="1" dirty="0">
                <a:solidFill>
                  <a:schemeClr val="tx2"/>
                </a:solidFill>
              </a:rPr>
              <a:t>Equilibrio, altezza e bilancio finale</a:t>
            </a:r>
            <a:endParaRPr lang="en-US" sz="3000" dirty="0"/>
          </a:p>
        </p:txBody>
      </p:sp>
      <p:sp>
        <p:nvSpPr>
          <p:cNvPr id="3" name="Shape 1"/>
          <p:cNvSpPr/>
          <p:nvPr/>
        </p:nvSpPr>
        <p:spPr>
          <a:xfrm>
            <a:off x="9646920" y="475488"/>
            <a:ext cx="1993392" cy="384048"/>
          </a:xfrm>
          <a:prstGeom prst="roundRect">
            <a:avLst>
              <a:gd name="adj" fmla="val 50000"/>
            </a:avLst>
          </a:prstGeom>
          <a:solidFill>
            <a:schemeClr val="accent5"/>
          </a:solidFill>
          <a:ln w="12700">
            <a:solidFill>
              <a:schemeClr val="accent5"/>
            </a:solidFill>
            <a:prstDash val="solid"/>
          </a:ln>
        </p:spPr>
      </p:sp>
      <p:sp>
        <p:nvSpPr>
          <p:cNvPr id="4" name="Text 2"/>
          <p:cNvSpPr txBox="1"/>
          <p:nvPr/>
        </p:nvSpPr>
        <p:spPr>
          <a:xfrm>
            <a:off x="9646920" y="475488"/>
            <a:ext cx="1993392" cy="384048"/>
          </a:xfrm>
          <a:prstGeom prst="rect">
            <a:avLst/>
          </a:prstGeom>
          <a:noFill/>
          <a:ln/>
        </p:spPr>
        <p:txBody>
          <a:bodyPr wrap="square" lIns="0" tIns="0" rIns="0" bIns="0" rtlCol="0" anchor="ctr"/>
          <a:lstStyle/>
          <a:p>
            <a:pPr algn="ctr" indent="0" marL="0">
              <a:buNone/>
            </a:pPr>
            <a:r>
              <a:rPr lang="en-US" sz="1200" b="1" dirty="0">
                <a:solidFill>
                  <a:schemeClr val="bg1"/>
                </a:solidFill>
              </a:rPr>
              <a:t>5 · Confronto</a:t>
            </a:r>
            <a:endParaRPr lang="en-US" sz="1200" dirty="0"/>
          </a:p>
        </p:txBody>
      </p:sp>
      <p:sp>
        <p:nvSpPr>
          <p:cNvPr id="5" name="Text 3"/>
          <p:cNvSpPr txBox="1"/>
          <p:nvPr/>
        </p:nvSpPr>
        <p:spPr>
          <a:xfrm>
            <a:off x="548640" y="1280160"/>
            <a:ext cx="8686800" cy="411480"/>
          </a:xfrm>
          <a:prstGeom prst="rect">
            <a:avLst/>
          </a:prstGeom>
          <a:noFill/>
          <a:ln/>
        </p:spPr>
        <p:txBody>
          <a:bodyPr wrap="square" lIns="0" tIns="0" rIns="0" bIns="0" rtlCol="0" anchor="t"/>
          <a:lstStyle/>
          <a:p>
            <a:pPr algn="l" indent="0" marL="0">
              <a:buNone/>
            </a:pPr>
            <a:r>
              <a:rPr lang="en-US" sz="1300" i="1" dirty="0">
                <a:solidFill>
                  <a:schemeClr val="accent4"/>
                </a:solidFill>
              </a:rPr>
              <a:t>Equilibrio da fermo dopo il rilascio; altezza sinusoidale ±3 cm con periodo 2,2 s.</a:t>
            </a:r>
            <a:endParaRPr lang="en-US" sz="1300" dirty="0"/>
          </a:p>
        </p:txBody>
      </p:sp>
      <p:sp>
        <p:nvSpPr>
          <p:cNvPr id="6" name="Shape 4"/>
          <p:cNvSpPr/>
          <p:nvPr/>
        </p:nvSpPr>
        <p:spPr>
          <a:xfrm>
            <a:off x="9692640" y="1353312"/>
            <a:ext cx="237744" cy="237744"/>
          </a:xfrm>
          <a:prstGeom prst="ellipse">
            <a:avLst/>
          </a:prstGeom>
          <a:solidFill>
            <a:schemeClr val="accent1"/>
          </a:solidFill>
          <a:ln w="12700">
            <a:solidFill>
              <a:schemeClr val="accent1"/>
            </a:solidFill>
            <a:prstDash val="solid"/>
          </a:ln>
        </p:spPr>
      </p:sp>
      <p:sp>
        <p:nvSpPr>
          <p:cNvPr id="7" name="Text 5"/>
          <p:cNvSpPr txBox="1"/>
          <p:nvPr/>
        </p:nvSpPr>
        <p:spPr>
          <a:xfrm>
            <a:off x="9692640" y="1353312"/>
            <a:ext cx="237744" cy="237744"/>
          </a:xfrm>
          <a:prstGeom prst="rect">
            <a:avLst/>
          </a:prstGeom>
          <a:noFill/>
          <a:ln/>
        </p:spPr>
        <p:txBody>
          <a:bodyPr wrap="square" lIns="0" tIns="0" rIns="0" bIns="0" rtlCol="0" anchor="ctr"/>
          <a:lstStyle/>
          <a:p>
            <a:pPr algn="ctr" indent="0" marL="0">
              <a:buNone/>
            </a:pPr>
            <a:endParaRPr lang="en-US" sz="600" dirty="0"/>
          </a:p>
        </p:txBody>
      </p:sp>
      <p:sp>
        <p:nvSpPr>
          <p:cNvPr id="8" name="Text 6"/>
          <p:cNvSpPr txBox="1"/>
          <p:nvPr/>
        </p:nvSpPr>
        <p:spPr>
          <a:xfrm>
            <a:off x="10003536" y="1335024"/>
            <a:ext cx="548640" cy="274320"/>
          </a:xfrm>
          <a:prstGeom prst="rect">
            <a:avLst/>
          </a:prstGeom>
          <a:noFill/>
          <a:ln/>
        </p:spPr>
        <p:txBody>
          <a:bodyPr wrap="square" lIns="0" tIns="0" rIns="0" bIns="0" rtlCol="0" anchor="t"/>
          <a:lstStyle/>
          <a:p>
            <a:pPr algn="l" indent="0" marL="0">
              <a:buNone/>
            </a:pPr>
            <a:r>
              <a:rPr lang="en-US" sz="1200" b="1" dirty="0">
                <a:solidFill>
                  <a:schemeClr val="accent1"/>
                </a:solidFill>
              </a:rPr>
              <a:t>PID</a:t>
            </a:r>
            <a:endParaRPr lang="en-US" sz="1200" dirty="0"/>
          </a:p>
        </p:txBody>
      </p:sp>
      <p:sp>
        <p:nvSpPr>
          <p:cNvPr id="9" name="Shape 7"/>
          <p:cNvSpPr/>
          <p:nvPr/>
        </p:nvSpPr>
        <p:spPr>
          <a:xfrm>
            <a:off x="10561320" y="1353312"/>
            <a:ext cx="237744" cy="237744"/>
          </a:xfrm>
          <a:prstGeom prst="ellipse">
            <a:avLst/>
          </a:prstGeom>
          <a:solidFill>
            <a:schemeClr val="accent2"/>
          </a:solidFill>
          <a:ln w="12700">
            <a:solidFill>
              <a:schemeClr val="accent2"/>
            </a:solidFill>
            <a:prstDash val="solid"/>
          </a:ln>
        </p:spPr>
      </p:sp>
      <p:sp>
        <p:nvSpPr>
          <p:cNvPr id="10" name="Text 8"/>
          <p:cNvSpPr txBox="1"/>
          <p:nvPr/>
        </p:nvSpPr>
        <p:spPr>
          <a:xfrm>
            <a:off x="10561320" y="1353312"/>
            <a:ext cx="237744" cy="237744"/>
          </a:xfrm>
          <a:prstGeom prst="rect">
            <a:avLst/>
          </a:prstGeom>
          <a:noFill/>
          <a:ln/>
        </p:spPr>
        <p:txBody>
          <a:bodyPr wrap="square" lIns="0" tIns="0" rIns="0" bIns="0" rtlCol="0" anchor="ctr"/>
          <a:lstStyle/>
          <a:p>
            <a:pPr algn="ctr" indent="0" marL="0">
              <a:buNone/>
            </a:pPr>
            <a:endParaRPr lang="en-US" sz="600" dirty="0"/>
          </a:p>
        </p:txBody>
      </p:sp>
      <p:sp>
        <p:nvSpPr>
          <p:cNvPr id="11" name="Text 9"/>
          <p:cNvSpPr txBox="1"/>
          <p:nvPr/>
        </p:nvSpPr>
        <p:spPr>
          <a:xfrm>
            <a:off x="10872216" y="1335024"/>
            <a:ext cx="640080" cy="274320"/>
          </a:xfrm>
          <a:prstGeom prst="rect">
            <a:avLst/>
          </a:prstGeom>
          <a:noFill/>
          <a:ln/>
        </p:spPr>
        <p:txBody>
          <a:bodyPr wrap="square" lIns="0" tIns="0" rIns="0" bIns="0" rtlCol="0" anchor="t"/>
          <a:lstStyle/>
          <a:p>
            <a:pPr algn="l" indent="0" marL="0">
              <a:buNone/>
            </a:pPr>
            <a:r>
              <a:rPr lang="en-US" sz="1200" b="1" dirty="0">
                <a:solidFill>
                  <a:schemeClr val="accent2"/>
                </a:solidFill>
              </a:rPr>
              <a:t>MPC</a:t>
            </a:r>
            <a:endParaRPr lang="en-US" sz="1200" dirty="0"/>
          </a:p>
        </p:txBody>
      </p:sp>
      <p:sp>
        <p:nvSpPr>
          <p:cNvPr id="12" name="Shape 10"/>
          <p:cNvSpPr/>
          <p:nvPr/>
        </p:nvSpPr>
        <p:spPr>
          <a:xfrm>
            <a:off x="548640" y="1828800"/>
            <a:ext cx="3514344" cy="3200400"/>
          </a:xfrm>
          <a:prstGeom prst="roundRect">
            <a:avLst>
              <a:gd name="adj" fmla="val 1714"/>
            </a:avLst>
          </a:prstGeom>
          <a:solidFill>
            <a:schemeClr val="bg2"/>
          </a:solidFill>
          <a:ln w="15875">
            <a:solidFill>
              <a:schemeClr val="accent5"/>
            </a:solidFill>
            <a:prstDash val="dash"/>
          </a:ln>
        </p:spPr>
      </p:sp>
      <p:sp>
        <p:nvSpPr>
          <p:cNvPr id="13" name="Text 11"/>
          <p:cNvSpPr txBox="1"/>
          <p:nvPr/>
        </p:nvSpPr>
        <p:spPr>
          <a:xfrm>
            <a:off x="822960" y="2743200"/>
            <a:ext cx="2965704" cy="365760"/>
          </a:xfrm>
          <a:prstGeom prst="rect">
            <a:avLst/>
          </a:prstGeom>
          <a:noFill/>
          <a:ln/>
        </p:spPr>
        <p:txBody>
          <a:bodyPr wrap="square" lIns="0" tIns="0" rIns="0" bIns="0" rtlCol="0" anchor="t"/>
          <a:lstStyle/>
          <a:p>
            <a:pPr algn="ctr" indent="0" marL="0">
              <a:buNone/>
            </a:pPr>
            <a:r>
              <a:rPr lang="en-US" sz="1600" b="1" dirty="0">
                <a:solidFill>
                  <a:schemeClr val="accent4"/>
                </a:solidFill>
              </a:rPr>
              <a:t>Grafico da inserire</a:t>
            </a:r>
            <a:endParaRPr lang="en-US" sz="1600" dirty="0"/>
          </a:p>
        </p:txBody>
      </p:sp>
      <p:sp>
        <p:nvSpPr>
          <p:cNvPr id="14" name="Text 12"/>
          <p:cNvSpPr txBox="1"/>
          <p:nvPr/>
        </p:nvSpPr>
        <p:spPr>
          <a:xfrm>
            <a:off x="822960" y="3154680"/>
            <a:ext cx="2965704" cy="320040"/>
          </a:xfrm>
          <a:prstGeom prst="rect">
            <a:avLst/>
          </a:prstGeom>
          <a:noFill/>
          <a:ln/>
        </p:spPr>
        <p:txBody>
          <a:bodyPr wrap="square" lIns="0" tIns="0" rIns="0" bIns="0" rtlCol="0" anchor="t"/>
          <a:lstStyle/>
          <a:p>
            <a:pPr algn="ctr" indent="0" marL="0">
              <a:buNone/>
            </a:pPr>
            <a:r>
              <a:rPr lang="en-US" sz="1100" dirty="0">
                <a:solidFill>
                  <a:schemeClr val="accent4"/>
                </a:solidFill>
              </a:rPr>
              <a:t>benchmark_runs/suite_pid_mpc/equilibrio/plots/coppie_ruote.png</a:t>
            </a:r>
            <a:endParaRPr lang="en-US" sz="1100" dirty="0"/>
          </a:p>
        </p:txBody>
      </p:sp>
      <p:sp>
        <p:nvSpPr>
          <p:cNvPr id="15" name="Text 13"/>
          <p:cNvSpPr txBox="1"/>
          <p:nvPr/>
        </p:nvSpPr>
        <p:spPr>
          <a:xfrm>
            <a:off x="822960" y="3520440"/>
            <a:ext cx="2965704" cy="548640"/>
          </a:xfrm>
          <a:prstGeom prst="rect">
            <a:avLst/>
          </a:prstGeom>
          <a:noFill/>
          <a:ln/>
        </p:spPr>
        <p:txBody>
          <a:bodyPr wrap="square" lIns="0" tIns="0" rIns="0" bIns="0" rtlCol="0" anchor="t"/>
          <a:lstStyle/>
          <a:p>
            <a:pPr algn="ctr" indent="0" marL="0">
              <a:buNone/>
            </a:pPr>
            <a:r>
              <a:rPr lang="en-US" sz="1200" dirty="0">
                <a:solidFill>
                  <a:schemeClr val="tx1"/>
                </a:solidFill>
              </a:rPr>
              <a:t>Metriche: beccheggio rms a regime, coppia ruote rms</a:t>
            </a:r>
            <a:endParaRPr lang="en-US" sz="1200" dirty="0"/>
          </a:p>
        </p:txBody>
      </p:sp>
      <p:sp>
        <p:nvSpPr>
          <p:cNvPr id="16" name="Shape 14"/>
          <p:cNvSpPr/>
          <p:nvPr/>
        </p:nvSpPr>
        <p:spPr>
          <a:xfrm>
            <a:off x="4337304" y="1828800"/>
            <a:ext cx="3514344" cy="3200400"/>
          </a:xfrm>
          <a:prstGeom prst="roundRect">
            <a:avLst>
              <a:gd name="adj" fmla="val 1714"/>
            </a:avLst>
          </a:prstGeom>
          <a:solidFill>
            <a:schemeClr val="bg2"/>
          </a:solidFill>
          <a:ln w="15875">
            <a:solidFill>
              <a:schemeClr val="accent5"/>
            </a:solidFill>
            <a:prstDash val="dash"/>
          </a:ln>
        </p:spPr>
      </p:sp>
      <p:sp>
        <p:nvSpPr>
          <p:cNvPr id="17" name="Text 15"/>
          <p:cNvSpPr txBox="1"/>
          <p:nvPr/>
        </p:nvSpPr>
        <p:spPr>
          <a:xfrm>
            <a:off x="4611624" y="2743200"/>
            <a:ext cx="2965704" cy="365760"/>
          </a:xfrm>
          <a:prstGeom prst="rect">
            <a:avLst/>
          </a:prstGeom>
          <a:noFill/>
          <a:ln/>
        </p:spPr>
        <p:txBody>
          <a:bodyPr wrap="square" lIns="0" tIns="0" rIns="0" bIns="0" rtlCol="0" anchor="t"/>
          <a:lstStyle/>
          <a:p>
            <a:pPr algn="ctr" indent="0" marL="0">
              <a:buNone/>
            </a:pPr>
            <a:r>
              <a:rPr lang="en-US" sz="1600" b="1" dirty="0">
                <a:solidFill>
                  <a:schemeClr val="accent4"/>
                </a:solidFill>
              </a:rPr>
              <a:t>Grafico da inserire</a:t>
            </a:r>
            <a:endParaRPr lang="en-US" sz="1600" dirty="0"/>
          </a:p>
        </p:txBody>
      </p:sp>
      <p:sp>
        <p:nvSpPr>
          <p:cNvPr id="18" name="Text 16"/>
          <p:cNvSpPr txBox="1"/>
          <p:nvPr/>
        </p:nvSpPr>
        <p:spPr>
          <a:xfrm>
            <a:off x="4611624" y="3154680"/>
            <a:ext cx="2965704" cy="320040"/>
          </a:xfrm>
          <a:prstGeom prst="rect">
            <a:avLst/>
          </a:prstGeom>
          <a:noFill/>
          <a:ln/>
        </p:spPr>
        <p:txBody>
          <a:bodyPr wrap="square" lIns="0" tIns="0" rIns="0" bIns="0" rtlCol="0" anchor="t"/>
          <a:lstStyle/>
          <a:p>
            <a:pPr algn="ctr" indent="0" marL="0">
              <a:buNone/>
            </a:pPr>
            <a:r>
              <a:rPr lang="en-US" sz="1100" dirty="0">
                <a:solidFill>
                  <a:schemeClr val="accent4"/>
                </a:solidFill>
              </a:rPr>
              <a:t>benchmark_runs/suite_pid_mpc/altezza/plots/assetto.png</a:t>
            </a:r>
            <a:endParaRPr lang="en-US" sz="1100" dirty="0"/>
          </a:p>
        </p:txBody>
      </p:sp>
      <p:sp>
        <p:nvSpPr>
          <p:cNvPr id="19" name="Text 17"/>
          <p:cNvSpPr txBox="1"/>
          <p:nvPr/>
        </p:nvSpPr>
        <p:spPr>
          <a:xfrm>
            <a:off x="4611624" y="3520440"/>
            <a:ext cx="2965704" cy="548640"/>
          </a:xfrm>
          <a:prstGeom prst="rect">
            <a:avLst/>
          </a:prstGeom>
          <a:noFill/>
          <a:ln/>
        </p:spPr>
        <p:txBody>
          <a:bodyPr wrap="square" lIns="0" tIns="0" rIns="0" bIns="0" rtlCol="0" anchor="t"/>
          <a:lstStyle/>
          <a:p>
            <a:pPr algn="ctr" indent="0" marL="0">
              <a:buNone/>
            </a:pPr>
            <a:r>
              <a:rPr lang="en-US" sz="1200" dirty="0">
                <a:solidFill>
                  <a:schemeClr val="tx1"/>
                </a:solidFill>
              </a:rPr>
              <a:t>Metriche: oscillazione di quota rms, beccheggio rms</a:t>
            </a:r>
            <a:endParaRPr lang="en-US" sz="1200" dirty="0"/>
          </a:p>
        </p:txBody>
      </p:sp>
      <p:sp>
        <p:nvSpPr>
          <p:cNvPr id="20" name="Shape 18"/>
          <p:cNvSpPr/>
          <p:nvPr/>
        </p:nvSpPr>
        <p:spPr>
          <a:xfrm>
            <a:off x="8125968" y="1828800"/>
            <a:ext cx="3514344" cy="3200400"/>
          </a:xfrm>
          <a:prstGeom prst="roundRect">
            <a:avLst>
              <a:gd name="adj" fmla="val 1714"/>
            </a:avLst>
          </a:prstGeom>
          <a:solidFill>
            <a:schemeClr val="bg2"/>
          </a:solidFill>
          <a:ln w="15875">
            <a:solidFill>
              <a:schemeClr val="accent5"/>
            </a:solidFill>
            <a:prstDash val="dash"/>
          </a:ln>
        </p:spPr>
      </p:sp>
      <p:sp>
        <p:nvSpPr>
          <p:cNvPr id="21" name="Text 19"/>
          <p:cNvSpPr txBox="1"/>
          <p:nvPr/>
        </p:nvSpPr>
        <p:spPr>
          <a:xfrm>
            <a:off x="8400288" y="2743200"/>
            <a:ext cx="2965704" cy="365760"/>
          </a:xfrm>
          <a:prstGeom prst="rect">
            <a:avLst/>
          </a:prstGeom>
          <a:noFill/>
          <a:ln/>
        </p:spPr>
        <p:txBody>
          <a:bodyPr wrap="square" lIns="0" tIns="0" rIns="0" bIns="0" rtlCol="0" anchor="t"/>
          <a:lstStyle/>
          <a:p>
            <a:pPr algn="ctr" indent="0" marL="0">
              <a:buNone/>
            </a:pPr>
            <a:r>
              <a:rPr lang="en-US" sz="1600" b="1" dirty="0">
                <a:solidFill>
                  <a:schemeClr val="accent4"/>
                </a:solidFill>
              </a:rPr>
              <a:t>Grafico da inserire</a:t>
            </a:r>
            <a:endParaRPr lang="en-US" sz="1600" dirty="0"/>
          </a:p>
        </p:txBody>
      </p:sp>
      <p:sp>
        <p:nvSpPr>
          <p:cNvPr id="22" name="Text 20"/>
          <p:cNvSpPr txBox="1"/>
          <p:nvPr/>
        </p:nvSpPr>
        <p:spPr>
          <a:xfrm>
            <a:off x="8400288" y="3154680"/>
            <a:ext cx="2965704" cy="320040"/>
          </a:xfrm>
          <a:prstGeom prst="rect">
            <a:avLst/>
          </a:prstGeom>
          <a:noFill/>
          <a:ln/>
        </p:spPr>
        <p:txBody>
          <a:bodyPr wrap="square" lIns="0" tIns="0" rIns="0" bIns="0" rtlCol="0" anchor="t"/>
          <a:lstStyle/>
          <a:p>
            <a:pPr algn="ctr" indent="0" marL="0">
              <a:buNone/>
            </a:pPr>
            <a:r>
              <a:rPr lang="en-US" sz="1100" dirty="0">
                <a:solidFill>
                  <a:schemeClr val="accent4"/>
                </a:solidFill>
              </a:rPr>
              <a:t>benchmark_runs/suite_pid_mpc/riepilogo.png</a:t>
            </a:r>
            <a:endParaRPr lang="en-US" sz="1100" dirty="0"/>
          </a:p>
        </p:txBody>
      </p:sp>
      <p:sp>
        <p:nvSpPr>
          <p:cNvPr id="23" name="Text 21"/>
          <p:cNvSpPr txBox="1"/>
          <p:nvPr/>
        </p:nvSpPr>
        <p:spPr>
          <a:xfrm>
            <a:off x="8400288" y="3520440"/>
            <a:ext cx="2965704" cy="548640"/>
          </a:xfrm>
          <a:prstGeom prst="rect">
            <a:avLst/>
          </a:prstGeom>
          <a:noFill/>
          <a:ln/>
        </p:spPr>
        <p:txBody>
          <a:bodyPr wrap="square" lIns="0" tIns="0" rIns="0" bIns="0" rtlCol="0" anchor="t"/>
          <a:lstStyle/>
          <a:p>
            <a:pPr algn="ctr" indent="0" marL="0">
              <a:buNone/>
            </a:pPr>
            <a:r>
              <a:rPr lang="en-US" sz="1200" dirty="0">
                <a:solidFill>
                  <a:schemeClr val="tx1"/>
                </a:solidFill>
              </a:rPr>
              <a:t>Metriche: bilancio sulle 31 metriche chiave</a:t>
            </a:r>
            <a:endParaRPr lang="en-US" sz="1200" dirty="0"/>
          </a:p>
        </p:txBody>
      </p:sp>
      <p:sp>
        <p:nvSpPr>
          <p:cNvPr id="24" name="Shape 22"/>
          <p:cNvSpPr/>
          <p:nvPr/>
        </p:nvSpPr>
        <p:spPr>
          <a:xfrm>
            <a:off x="548640" y="5257800"/>
            <a:ext cx="11091672" cy="685800"/>
          </a:xfrm>
          <a:prstGeom prst="roundRect">
            <a:avLst>
              <a:gd name="adj" fmla="val 10667"/>
            </a:avLst>
          </a:prstGeom>
          <a:solidFill>
            <a:schemeClr val="bg2"/>
          </a:solidFill>
          <a:ln w="12700">
            <a:solidFill>
              <a:schemeClr val="bg2"/>
            </a:solidFill>
            <a:prstDash val="solid"/>
          </a:ln>
        </p:spPr>
      </p:sp>
      <p:sp>
        <p:nvSpPr>
          <p:cNvPr id="25" name="Shape 23"/>
          <p:cNvSpPr/>
          <p:nvPr/>
        </p:nvSpPr>
        <p:spPr>
          <a:xfrm>
            <a:off x="731520" y="5408676"/>
            <a:ext cx="384048" cy="384048"/>
          </a:xfrm>
          <a:prstGeom prst="ellipse">
            <a:avLst/>
          </a:prstGeom>
          <a:solidFill>
            <a:schemeClr val="tx2"/>
          </a:solidFill>
          <a:ln w="12700">
            <a:solidFill>
              <a:schemeClr val="tx2"/>
            </a:solidFill>
            <a:prstDash val="solid"/>
          </a:ln>
        </p:spPr>
      </p:sp>
      <p:sp>
        <p:nvSpPr>
          <p:cNvPr id="26" name="Text 24"/>
          <p:cNvSpPr txBox="1"/>
          <p:nvPr/>
        </p:nvSpPr>
        <p:spPr>
          <a:xfrm>
            <a:off x="731520" y="54086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7" name="Text 25"/>
          <p:cNvSpPr txBox="1"/>
          <p:nvPr/>
        </p:nvSpPr>
        <p:spPr>
          <a:xfrm>
            <a:off x="1280160" y="5257800"/>
            <a:ext cx="10177272" cy="685800"/>
          </a:xfrm>
          <a:prstGeom prst="rect">
            <a:avLst/>
          </a:prstGeom>
          <a:noFill/>
          <a:ln/>
        </p:spPr>
        <p:txBody>
          <a:bodyPr wrap="square" lIns="0" tIns="0" rIns="0" bIns="0" rtlCol="0" anchor="ctr"/>
          <a:lstStyle/>
          <a:p>
            <a:pPr algn="l" indent="0" marL="0">
              <a:buNone/>
            </a:pPr>
            <a:r>
              <a:rPr lang="en-US" sz="1400" b="1" i="1" dirty="0">
                <a:solidFill>
                  <a:schemeClr val="accent4"/>
                </a:solidFill>
              </a:rPr>
              <a:t>Messaggio chiave:</a:t>
            </a:r>
            <a:r>
              <a:rPr lang="en-US" sz="1400" i="1" dirty="0">
                <a:solidFill>
                  <a:schemeClr val="accent4"/>
                </a:solidFill>
              </a:rPr>
              <a:t> da scrivere dopo aver inserito i grafici.</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theme/theme1.xml><?xml version="1.0" encoding="utf-8"?>
<a:theme xmlns:a="http://schemas.openxmlformats.org/drawingml/2006/main" name="RoTino">
  <a:themeElements>
    <a:clrScheme name="RoTino">
      <a:dk1>
        <a:srgbClr val="1B2329"/>
      </a:dk1>
      <a:lt1>
        <a:srgbClr val="FFFFFF"/>
      </a:lt1>
      <a:dk2>
        <a:srgbClr val="263238"/>
      </a:dk2>
      <a:lt2>
        <a:srgbClr val="EEF2F4"/>
      </a:lt2>
      <a:accent1>
        <a:srgbClr val="C0392B"/>
      </a:accent1>
      <a:accent2>
        <a:srgbClr val="1F6F78"/>
      </a:accent2>
      <a:accent3>
        <a:srgbClr val="B9770E"/>
      </a:accent3>
      <a:accent4>
        <a:srgbClr val="4A6274"/>
      </a:accent4>
      <a:accent5>
        <a:srgbClr val="7B8A97"/>
      </a:accent5>
      <a:accent6>
        <a:srgbClr val="2E86AB"/>
      </a:accent6>
      <a:hlink>
        <a:srgbClr val="1F6F78"/>
      </a:hlink>
      <a:folHlink>
        <a:srgbClr val="4A6274"/>
      </a:folHlink>
    </a:clrScheme>
    <a:fontScheme name="RoTin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RoTino: modellazione e controllo</dc:title>
  <dc:subject>PptxGenJS Presentation</dc:subject>
  <dc:creator>Alessando Prisco</dc:creator>
  <cp:lastModifiedBy>Alessando Prisco</cp:lastModifiedBy>
  <cp:revision>1</cp:revision>
  <dcterms:created xsi:type="dcterms:W3CDTF">2026-10-02T08:47:24Z</dcterms:created>
  <dcterms:modified xsi:type="dcterms:W3CDTF">2026-10-02T08:47:24Z</dcterms:modified>
</cp:coreProperties>
</file>